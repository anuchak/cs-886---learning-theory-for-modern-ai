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puzzle: CoT often helps even when the task is simple enough to be representable.,The talk is about why learning can change when the data exposes sparse sequential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headline. The paper isolates a learnability gap, not merely an expressivity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audience care before giving any definitions.,The useful question is not “does CoT help?” but “what changes in the learning problem when we expose intermediate computation?”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spine. Every later slide should support one part of this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theorem deliberately puts us in a representation-sufficient regime.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separate theorem-level claims from broader interpretations.,This is the first place to prevent the audience from overgeneralizing.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parity intuitive. The hard part is not XOR once the secret variables are known; it is identifying the hidden subset.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modeling move. CoT is treated as a representation of intermediate computation, not as extra labels on a different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get lost in the random-matrix proof. The role of Theorem 1 is conceptual: it removes expressivity as the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critical-reading slide. The proof depends materially on the initialization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slide the audience should be able to redraw after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imply this schematic is the exact figure. The paper reports the curve qualitatively and provides raw reproduction code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mechanism, then the qualification: powerful mechanism-level theory, not yet a theory of modern LLM reasoning in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8890">
            <a:solidFill>
              <a:srgbClr val="D7DC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74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 et al. · ICLR 2025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543800" y="657453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Sparse Dependence to Sparse Attention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6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FROM SPARSE DEPENDENCE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TO SPARSE ATTENTION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5"/>
                </a:solidFill>
              </a:rPr>
              <a:t>Unveiling how Chain-of-Thought enhances Transformer sample efficiency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</a:rPr>
              <a:t>Kaiyue Wen · Huaqing Zhang · Hongzhou Lin · Jingzhao Zhang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4622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942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ICLR 2025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0E8"/>
                </a:solidFill>
              </a:rPr>
              <a:t>Presentation structure: importance → formal result → mechanism → evidence → limits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result in one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9164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2A"/>
                </a:solidFill>
              </a:rPr>
              <a:t>CoT changes the learning problem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7202A"/>
                </a:solidFill>
              </a:rPr>
              <a:t>more than it changes the function.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703320"/>
            <a:ext cx="64008" cy="141732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849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Without CoT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4206240"/>
            <a:ext cx="4480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Sample complexity: exponential in 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under constant-pass, bounded-memory SGD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3703320"/>
            <a:ext cx="5669280" cy="1417320"/>
          </a:xfrm>
          <a:prstGeom prst="roundRect">
            <a:avLst>
              <a:gd name="adj" fmla="val 4516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3703320"/>
            <a:ext cx="64008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38496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With CoT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61888" y="4206240"/>
            <a:ext cx="5303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Sample complexity: ~linear in n under the theorem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plus one-hot, interpretable attention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5321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875"/>
                </a:solidFill>
              </a:rPr>
              <a:t>THEORETICAL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554126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65C"/>
                </a:solidFill>
              </a:rPr>
              <a:t>2^{Ω(k)}  →  Õ(n)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Source: Wen et al., ICLR 2025 / arXiv:2410.05459, Theorems 2–3.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should we care?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</a:rPr>
              <a:t>We already know that “think step by step” often helps.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311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More computation?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86200" y="2240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43400" y="22219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Maybe.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35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More expressive power?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3044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30266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Sometimes—but not enough here.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4048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Better optimization?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38496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43400" y="38313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This paper says yes.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2960" y="456285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451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Better statistical structure?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465429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43400" y="4636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7A75"/>
                </a:solidFill>
              </a:rPr>
              <a:t>This is the central claim.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Framing based on the paper’s motivation and contribution statement.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paper’s thesis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10561320" cy="2606040"/>
          </a:xfrm>
          <a:prstGeom prst="rect">
            <a:avLst/>
          </a:prstGeom>
          <a:solidFill>
            <a:srgbClr val="E8F8F7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737360"/>
            <a:ext cx="9738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2A"/>
                </a:solidFill>
              </a:rPr>
              <a:t>CoT can turn a hard learning problem with dense-looking dependencies into a sparse learning problem that SGD can discover efficiently.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2423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343400"/>
            <a:ext cx="64008" cy="11430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4489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CoT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4846320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sparse sequential dependency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36392" y="4919472"/>
            <a:ext cx="292608" cy="0"/>
          </a:xfrm>
          <a:prstGeom prst="line">
            <a:avLst/>
          </a:prstGeom>
          <a:noFill/>
          <a:ln w="2032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4343400"/>
            <a:ext cx="2423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4343400"/>
            <a:ext cx="64008" cy="11430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4489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Gradient signal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4846320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local + identifiable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25312" y="4919472"/>
            <a:ext cx="292608" cy="0"/>
          </a:xfrm>
          <a:prstGeom prst="line">
            <a:avLst/>
          </a:prstGeom>
          <a:noFill/>
          <a:ln w="2032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3640" y="4343400"/>
            <a:ext cx="2423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4343400"/>
            <a:ext cx="64008" cy="114300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4489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Attention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4808" y="4846320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becomes sparse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14232" y="4919472"/>
            <a:ext cx="292608" cy="0"/>
          </a:xfrm>
          <a:prstGeom prst="line">
            <a:avLst/>
          </a:prstGeom>
          <a:noFill/>
          <a:ln w="2032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4343400"/>
            <a:ext cx="2423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4343400"/>
            <a:ext cx="64008" cy="11430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3728" y="4489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Learning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3728" y="4846320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sample-efficient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Paper abstract and Theorem 3 proof sketch.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actually surprising?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3375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64008" cy="31546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09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Representable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965960"/>
            <a:ext cx="29718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Yes, even without CoT.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Representation ≠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34840" y="1463040"/>
            <a:ext cx="3337560" cy="3154680"/>
          </a:xfrm>
          <a:prstGeom prst="roundRect">
            <a:avLst>
              <a:gd name="adj" fmla="val 2029"/>
            </a:avLst>
          </a:prstGeom>
          <a:solidFill>
            <a:srgbClr val="FFF2E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463040"/>
            <a:ext cx="64008" cy="315468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609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Learnable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008" y="1965960"/>
            <a:ext cx="29718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Not efficiently under the no-CoT theorem.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Optimization/sample complexity is the bottleneck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3375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463040"/>
            <a:ext cx="64008" cy="315468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609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9328" y="1965960"/>
            <a:ext cx="29718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Changes the statistical structure of the sequence.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Makes local dependencies visible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65C"/>
                </a:solidFill>
              </a:rPr>
              <a:t>The central intellectual move: separate capacity from trainability.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paper does — and does not — claim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303520" cy="4114800"/>
          </a:xfrm>
          <a:prstGeom prst="roundRect">
            <a:avLst>
              <a:gd name="adj" fmla="val 1556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64008" cy="4114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72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The paper does establish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828800"/>
            <a:ext cx="49377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Parity is representable without CoT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A no-CoT sample lower bound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A CoT sample upper bound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A learned sparse-attention mechanism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Supporting synthetic + GSM8K evidence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325880"/>
            <a:ext cx="5257800" cy="4114800"/>
          </a:xfrm>
          <a:prstGeom prst="roundRect">
            <a:avLst>
              <a:gd name="adj" fmla="val 1556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325880"/>
            <a:ext cx="64008" cy="411480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472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The paper does not establish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3368" y="1828800"/>
            <a:ext cx="48920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CoT universally gives exponential → polynomial gains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Standard LLMs obey the theorem literally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Attention sparsity causally explains all reasoning gains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• Real-world sample complexity is reduced by the same asymptotic law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Toy problem: hidden parity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</a:rPr>
              <a:t>Given n bits, only k “secret” bits matter.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b1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5740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8B2C"/>
                </a:solidFill>
              </a:rPr>
              <a:t>b2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b3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b4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8B2C"/>
                </a:solidFill>
              </a:rPr>
              <a:t>b5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9516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b6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8B2C"/>
                </a:solidFill>
              </a:rPr>
              <a:t>b7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64040" y="21488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b8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8B2C"/>
                </a:solidFill>
              </a:rPr>
              <a:t>secret set S = {2, 5, 7}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828800" y="3474720"/>
            <a:ext cx="8138160" cy="0"/>
          </a:xfrm>
          <a:prstGeom prst="line">
            <a:avLst/>
          </a:prstGeom>
          <a:noFill/>
          <a:ln w="27940">
            <a:solidFill>
              <a:srgbClr val="1F365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1268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0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XOR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108960" y="4343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65C"/>
                </a:solidFill>
              </a:rPr>
              <a:t>f(b) = b₂ ⊕ b₅ ⊕ b₇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920240" y="5074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k controls difficulty: the model must discover which subset matters.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Parity setup as defined in Section 2.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parity is a useful adversary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0424160" cy="1645920"/>
          </a:xfrm>
          <a:prstGeom prst="rect">
            <a:avLst/>
          </a:prstGeom>
          <a:solidFill>
            <a:srgbClr val="FFF2E3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691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</a:rPr>
              <a:t>The function is simple.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</a:rPr>
              <a:t>The dependency is hidden.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875"/>
                </a:solidFill>
              </a:rPr>
              <a:t>What the model sees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32461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n candidate variables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875"/>
                </a:solidFill>
              </a:rPr>
              <a:t>What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38679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k unknown variables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4489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875"/>
                </a:solidFill>
              </a:rPr>
              <a:t>What the answer reveals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448970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a single XOR bit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111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875"/>
                </a:solidFill>
              </a:rPr>
              <a:t>Learning challenge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51114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2A"/>
                </a:solidFill>
              </a:rPr>
              <a:t>recover a k-way dependency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Paper motivation: parity as a clean sparse-dependency learning problem.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CoT: the dependency is hidden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02536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48256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27832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53128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78424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4144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9016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54312" y="1417320"/>
            <a:ext cx="84124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4996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2788920"/>
            <a:ext cx="2971800" cy="804672"/>
          </a:xfrm>
          <a:prstGeom prst="roundRect">
            <a:avLst>
              <a:gd name="adj" fmla="val 9091"/>
            </a:avLst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0358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final answer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423160" y="1847088"/>
            <a:ext cx="3566160" cy="923544"/>
          </a:xfrm>
          <a:prstGeom prst="line">
            <a:avLst/>
          </a:prstGeom>
          <a:noFill/>
          <a:ln w="27940">
            <a:solidFill>
              <a:srgbClr val="E58B2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99048" y="1847088"/>
            <a:ext cx="-109728" cy="923544"/>
          </a:xfrm>
          <a:prstGeom prst="line">
            <a:avLst/>
          </a:prstGeom>
          <a:noFill/>
          <a:ln w="27940">
            <a:solidFill>
              <a:srgbClr val="E58B2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49640" y="1847088"/>
            <a:ext cx="-2560320" cy="923544"/>
          </a:xfrm>
          <a:prstGeom prst="line">
            <a:avLst/>
          </a:prstGeom>
          <a:noFill/>
          <a:ln w="27940">
            <a:solidFill>
              <a:srgbClr val="E58B2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97864" y="1847088"/>
            <a:ext cx="4791456" cy="923544"/>
          </a:xfrm>
          <a:prstGeom prst="line">
            <a:avLst/>
          </a:prstGeom>
          <a:noFill/>
          <a:ln w="10160">
            <a:solidFill>
              <a:srgbClr val="D8DDE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48456" y="1847088"/>
            <a:ext cx="2340864" cy="923544"/>
          </a:xfrm>
          <a:prstGeom prst="line">
            <a:avLst/>
          </a:prstGeom>
          <a:noFill/>
          <a:ln w="10160">
            <a:solidFill>
              <a:srgbClr val="D8DDE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73752" y="1847088"/>
            <a:ext cx="1115568" cy="923544"/>
          </a:xfrm>
          <a:prstGeom prst="line">
            <a:avLst/>
          </a:prstGeom>
          <a:noFill/>
          <a:ln w="10160">
            <a:solidFill>
              <a:srgbClr val="D8DDE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24344" y="1847088"/>
            <a:ext cx="-1335024" cy="923544"/>
          </a:xfrm>
          <a:prstGeom prst="line">
            <a:avLst/>
          </a:prstGeom>
          <a:noFill/>
          <a:ln w="10160">
            <a:solidFill>
              <a:srgbClr val="D8DDE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74936" y="1847088"/>
            <a:ext cx="-3785616" cy="923544"/>
          </a:xfrm>
          <a:prstGeom prst="line">
            <a:avLst/>
          </a:prstGeom>
          <a:noFill/>
          <a:ln w="10160">
            <a:solidFill>
              <a:srgbClr val="D8DDE5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2A"/>
                </a:solidFill>
              </a:rPr>
              <a:t>The optimizer must infer the relevant subset from a global signal.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828800" y="4736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No intermediate state tells you which token matters next.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No-CoT sequence definition.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CoT: the dependency is exposed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5389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137160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145389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45389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169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83464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91693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b₂ ⊕ b₅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28346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9169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b₂ ⊕ b₅ ⊕ b₇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36192" y="1600200"/>
            <a:ext cx="521208" cy="1188720"/>
          </a:xfrm>
          <a:prstGeom prst="line">
            <a:avLst/>
          </a:prstGeom>
          <a:noFill/>
          <a:ln w="25400">
            <a:solidFill>
              <a:srgbClr val="E58B2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44952" y="1600200"/>
            <a:ext cx="-301752" cy="1188720"/>
          </a:xfrm>
          <a:prstGeom prst="line">
            <a:avLst/>
          </a:prstGeom>
          <a:noFill/>
          <a:ln w="25400">
            <a:solidFill>
              <a:srgbClr val="E58B2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53712" y="1600200"/>
            <a:ext cx="429768" cy="1188720"/>
          </a:xfrm>
          <a:prstGeom prst="line">
            <a:avLst/>
          </a:prstGeom>
          <a:noFill/>
          <a:ln w="25400">
            <a:solidFill>
              <a:srgbClr val="E58B2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03120" y="3072384"/>
            <a:ext cx="-45720" cy="0"/>
          </a:xfrm>
          <a:prstGeom prst="line">
            <a:avLst/>
          </a:prstGeom>
          <a:noFill/>
          <a:ln w="127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4720" y="3072384"/>
            <a:ext cx="685800" cy="0"/>
          </a:xfrm>
          <a:prstGeom prst="line">
            <a:avLst/>
          </a:prstGeom>
          <a:noFill/>
          <a:ln w="2667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02A"/>
                </a:solidFill>
              </a:rPr>
              <a:t>Each reasoning step depends on one new secret variable.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2926080" y="4892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A75"/>
                </a:solidFill>
              </a:rPr>
              <a:t>Same function · different sequence structure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CoT data construction: sequentially add one secret variable per step.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Formal data-generating process: no CoT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664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65C"/>
                </a:solidFill>
              </a:rPr>
              <a:t>DATA DISTRIBUTION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</a:rPr>
              <a:t>b₁,…,bₙ  ∼  Uniform({0,1})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58B2C"/>
                </a:solidFill>
              </a:rPr>
              <a:t>Secret set S = {i₁,…,iₖ}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65C"/>
                </a:solidFill>
              </a:rPr>
              <a:t>bₙ₊₁ = 0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365C"/>
                </a:solidFill>
              </a:rPr>
              <a:t>bₙ₊₂ = bᵢ₁ ⊕ … ⊕ bᵢₖ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406640" y="1417320"/>
            <a:ext cx="3886200" cy="347472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417320"/>
            <a:ext cx="64008" cy="347472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07808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What is missing?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07808" y="1920240"/>
            <a:ext cx="35204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E6875"/>
                </a:solidFill>
              </a:rPr>
              <a:t>There is no intermediate computation in the training sequence.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E6875"/>
                </a:solidFill>
              </a:rPr>
              <a:t>The final bit is the only supervision about the full k-way dependency.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Formal no-CoT setup, Section 3.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Formal data-generating process: CoT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664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75"/>
                </a:solidFill>
              </a:rPr>
              <a:t>DATA DISTRIBUTION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65C"/>
                </a:solidFill>
              </a:rPr>
              <a:t>bₙ₊₁ = 0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65C"/>
                </a:solidFill>
              </a:rPr>
              <a:t>bₙ₊₂ = bᵢ₁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7A75"/>
                </a:solidFill>
              </a:rPr>
              <a:t>bₙ₊₃ = bᵢ₁ ⊕ bᵢ₂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7A75"/>
                </a:solidFill>
              </a:rPr>
              <a:t>…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7A75"/>
                </a:solidFill>
              </a:rPr>
              <a:t>bₙ₊ₖ₊₁ = bᵢ₁ ⊕ … ⊕ bᵢₖ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492240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30998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state 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3236976"/>
            <a:ext cx="64008" cy="0"/>
          </a:xfrm>
          <a:prstGeom prst="line">
            <a:avLst/>
          </a:prstGeom>
          <a:noFill/>
          <a:ln w="2286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61504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7224" y="30998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+ secret 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30184" y="3236976"/>
            <a:ext cx="64008" cy="0"/>
          </a:xfrm>
          <a:prstGeom prst="line">
            <a:avLst/>
          </a:prstGeom>
          <a:noFill/>
          <a:ln w="2286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30768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30998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+ secret 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99448" y="3236976"/>
            <a:ext cx="64008" cy="0"/>
          </a:xfrm>
          <a:prstGeom prst="line">
            <a:avLst/>
          </a:prstGeom>
          <a:noFill/>
          <a:ln w="2286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00032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30998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+ 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268712" y="3236976"/>
            <a:ext cx="64008" cy="0"/>
          </a:xfrm>
          <a:prstGeom prst="line">
            <a:avLst/>
          </a:prstGeom>
          <a:noFill/>
          <a:ln w="2286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69296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15016" y="309981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final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434340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2A"/>
                </a:solidFill>
              </a:rPr>
              <a:t>The target computation is unchanged; the path to it is now local.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Formal CoT setup and sequential dependency construction.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“sample complexity” means here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10515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737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</a:rPr>
              <a:t># training examples seen before the model first reaches 100% validation accuracy.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34290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429000"/>
            <a:ext cx="64008" cy="91440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575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Not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3931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wall-clock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34290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3429000"/>
            <a:ext cx="64008" cy="91440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3575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Not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3931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FLOPs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5720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72000"/>
            <a:ext cx="64008" cy="91440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718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Not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" y="5074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number of optimization steps alone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45720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572000"/>
            <a:ext cx="64008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4718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Yes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5074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examples consumed until perfect validation accuracy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Experimental definition in Section 2; same convention used in Figures 1–3.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theoretical Transformer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55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Embedding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boolean tokens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+ position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82112" y="2423160"/>
            <a:ext cx="256032" cy="0"/>
          </a:xfrm>
          <a:prstGeom prst="line">
            <a:avLst/>
          </a:prstGeom>
          <a:noFill/>
          <a:ln w="2286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93008" y="150876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3008" y="1508760"/>
            <a:ext cx="64008" cy="182880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1655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Attention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4176" y="2011680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interaction matrix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35040" y="2423160"/>
            <a:ext cx="256032" cy="0"/>
          </a:xfrm>
          <a:prstGeom prst="line">
            <a:avLst/>
          </a:prstGeom>
          <a:noFill/>
          <a:ln w="2286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45936" y="150876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5936" y="1508760"/>
            <a:ext cx="64008" cy="182880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655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FFN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47104" y="2011680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ReLU mapping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+ output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87968" y="2423160"/>
            <a:ext cx="256032" cy="0"/>
          </a:xfrm>
          <a:prstGeom prst="line">
            <a:avLst/>
          </a:prstGeom>
          <a:noFill/>
          <a:ln w="2286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98864" y="150876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98864" y="1508760"/>
            <a:ext cx="64008" cy="1828800"/>
          </a:xfrm>
          <a:prstGeom prst="rect">
            <a:avLst/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1655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Prediction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00032" y="2011680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next token / answer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Simplified for proof: no LayerNorm / BatchNorm, simplified positional encoding, dense-style residual concatenation.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4892040"/>
            <a:ext cx="9784080" cy="822960"/>
          </a:xfrm>
          <a:prstGeom prst="roundRect">
            <a:avLst>
              <a:gd name="adj" fmla="val 7778"/>
            </a:avLst>
          </a:prstGeom>
          <a:solidFill>
            <a:srgbClr val="EAF0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892040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503834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Why simplify?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44168" y="5394960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To make finite-sample training dynamics analytically tractable without removing the core attention interaction.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Section 3: Transformer Architecture.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is where structure becomes visible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05840" y="1417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65C"/>
                </a:solidFill>
              </a:rPr>
              <a:t>A(X) = X · softmax(C + XᵀAX)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20240" y="274320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274320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2743200"/>
            <a:ext cx="475488" cy="475488"/>
          </a:xfrm>
          <a:prstGeom prst="rect">
            <a:avLst/>
          </a:prstGeom>
          <a:solidFill>
            <a:srgbClr val="12A8B1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274320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324612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3246120"/>
            <a:ext cx="475488" cy="475488"/>
          </a:xfrm>
          <a:prstGeom prst="rect">
            <a:avLst/>
          </a:prstGeom>
          <a:solidFill>
            <a:srgbClr val="12A8B1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324612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324612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74904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374904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749040"/>
            <a:ext cx="475488" cy="475488"/>
          </a:xfrm>
          <a:prstGeom prst="rect">
            <a:avLst/>
          </a:prstGeom>
          <a:solidFill>
            <a:srgbClr val="12A8B1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374904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425196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425196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4251960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4251960"/>
            <a:ext cx="475488" cy="475488"/>
          </a:xfrm>
          <a:prstGeom prst="rect">
            <a:avLst/>
          </a:prstGeom>
          <a:solidFill>
            <a:srgbClr val="12A8B1"/>
          </a:solidFill>
          <a:ln w="6350">
            <a:solidFill>
              <a:srgbClr val="D7D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788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rows = current reasoning steps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columns = candidate source tokens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7A75"/>
                </a:solidFill>
              </a:rPr>
              <a:t>The theorem’s strongest structural claim: attention becomes approximately one-hot on the secret predecessor.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38328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65C"/>
                </a:solidFill>
              </a:rPr>
              <a:t>Sparse dependency → sparse attention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Attention definition and Theorem 3 attention guarantee.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FFN, loss, and training rule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64008" cy="192024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721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FFN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828800"/>
            <a:ext cx="3154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FFN(X) = hᵀ ReLU(WX)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24612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325880"/>
            <a:ext cx="64008" cy="192024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47218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Loss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0288" y="1828800"/>
            <a:ext cx="2880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margin-style next-token loss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used for gradient updates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0" y="1325880"/>
            <a:ext cx="3657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325880"/>
            <a:ext cx="64008" cy="192024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3568" y="1472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Training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73568" y="1828800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mini-batch SGD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constant number of steps in the theorem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02A"/>
                </a:solidFill>
              </a:rPr>
              <a:t>The important distinction is not the loss.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325880" y="4480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A75"/>
                </a:solidFill>
              </a:rPr>
              <a:t>It is what gradient information the data representation makes available.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Section 3 model and optimization definitions.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criterion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5166360" cy="347472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64008" cy="34747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721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Functional correctness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48006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For every reasoning position i: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sgn(T(b)[i]) = b[i+1]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→ perfect next-step prediction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080760" y="1325880"/>
            <a:ext cx="5394960" cy="347472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325880"/>
            <a:ext cx="64008" cy="347472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1928" y="1472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Structural correctness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81928" y="1828800"/>
            <a:ext cx="50292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For every reasoning position i: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attention(i,·) ≈ one-hot at S[i]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→ the model recovers the sparse dependency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25880" y="52120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65C"/>
                </a:solidFill>
              </a:rPr>
              <a:t>The paper proves behavior + structure—not just task accuracy.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3 statement; attention error &lt; 1/n⁸ in the theorem.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664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65C"/>
                </a:solidFill>
              </a:rPr>
              <a:t>Representation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17520" y="1271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875"/>
                </a:solidFill>
              </a:rPr>
              <a:t>Theorem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2527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Parity can be represented without CoT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CEAEA"/>
          </a:solidFill>
          <a:ln w="12700">
            <a:solidFill>
              <a:srgbClr val="FC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351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14F4F"/>
                </a:solidFill>
              </a:rPr>
              <a:t>Learnability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875"/>
                </a:solidFill>
              </a:rPr>
              <a:t>Theorem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1214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No-CoT constant-pass SGD needs exponential samples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038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</a:rPr>
              <a:t>Optimization / trainability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30083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875"/>
                </a:solidFill>
              </a:rPr>
              <a:t>Theorem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9900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CoT admits an Õ(n)-sample SGD trajectory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724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75"/>
                </a:solidFill>
              </a:rPr>
              <a:t>Interpretability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38770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875"/>
                </a:solidFill>
              </a:rPr>
              <a:t>Attention guarantee + Fig.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38587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Learned attention is sparse and meaningful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0EBFA"/>
          </a:solidFill>
          <a:ln w="12700">
            <a:solidFill>
              <a:srgbClr val="F0E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411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553C8"/>
                </a:solidFill>
              </a:rPr>
              <a:t>Empirical support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47457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6875"/>
                </a:solidFill>
              </a:rPr>
              <a:t>Figures 2–7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47274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</a:rPr>
              <a:t>Synthetic scaling + GSM8K entropy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65C"/>
                </a:solidFill>
              </a:rPr>
              <a:t>Central contribution → learnability / optimization, not raw expressivity.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Theorem 1: the model already has enough capacity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3063240" cy="914400"/>
          </a:xfrm>
          <a:prstGeom prst="rect">
            <a:avLst/>
          </a:prstGeom>
          <a:solidFill>
            <a:srgbClr val="EAF0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</a:rPr>
              <a:t>Easy to represent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60520" y="129844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2A"/>
                </a:solidFill>
              </a:rPr>
              <a:t>For sufficiently large n and δ &lt; 0.1, a simplified Transformer with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60520" y="19933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65C"/>
                </a:solidFill>
              </a:rPr>
              <a:t>d = Õ(k)   and   width 2m = Ω(k)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160520" y="2743200"/>
            <a:ext cx="6812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has, with high probability over random embeddings, a weight configuration that achieves perfect accuracy on parity without CoT.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10607040" cy="1234440"/>
          </a:xfrm>
          <a:prstGeom prst="roundRect">
            <a:avLst>
              <a:gd name="adj" fmla="val 5185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160520"/>
            <a:ext cx="64008" cy="1234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430682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4663440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If the model fails to learn parity efficiently, “not enough capacity” cannot be the explanation.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1; exact asymptotic statement in Section 3.1.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Theorem 1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200400" cy="1828800"/>
          </a:xfrm>
          <a:prstGeom prst="roundRect">
            <a:avLst>
              <a:gd name="adj" fmla="val 3500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6400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700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Capacity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2057400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sufficient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69080" y="2468880"/>
            <a:ext cx="301752" cy="0"/>
          </a:xfrm>
          <a:prstGeom prst="line">
            <a:avLst/>
          </a:prstGeom>
          <a:noFill/>
          <a:ln w="2540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26280" y="1554480"/>
            <a:ext cx="3200400" cy="1828800"/>
          </a:xfrm>
          <a:prstGeom prst="roundRect">
            <a:avLst>
              <a:gd name="adj" fmla="val 3500"/>
            </a:avLst>
          </a:prstGeom>
          <a:solidFill>
            <a:srgbClr val="FFF2E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64008" cy="182880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700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Optimization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2057400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still difficult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0" y="2468880"/>
            <a:ext cx="301752" cy="0"/>
          </a:xfrm>
          <a:prstGeom prst="line">
            <a:avLst/>
          </a:prstGeom>
          <a:noFill/>
          <a:ln w="2540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1554480"/>
            <a:ext cx="3200400" cy="1828800"/>
          </a:xfrm>
          <a:prstGeom prst="roundRect">
            <a:avLst>
              <a:gd name="adj" fmla="val 3500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554480"/>
            <a:ext cx="64008" cy="182880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700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Sample efficiency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30768" y="2057400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can differ by exponential factors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6875"/>
                </a:solidFill>
              </a:rPr>
              <a:t>The question becomes: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43708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65C"/>
                </a:solidFill>
              </a:rPr>
              <a:t>Why can SGD fail to discover a perfectly representable parity rule?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Logic connecting Theorem 1 to Theorem 2.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Theorem 2: without CoT, learning is exponentially hard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4389120" cy="1097280"/>
          </a:xfrm>
          <a:prstGeom prst="rect">
            <a:avLst/>
          </a:prstGeom>
          <a:solidFill>
            <a:srgbClr val="FCEAEA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D14F4F"/>
                </a:solidFill>
              </a:rPr>
              <a:t>2^{Ω(k)} samples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532120" y="1325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Under the theorem’s simplified Transformer regime: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32120" y="17830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50" dirty="0">
                <a:solidFill>
                  <a:srgbClr val="17202A"/>
                </a:solidFill>
              </a:rPr>
              <a:t>• constant number of layers / passes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• parameter regime d² + dm = o(nk / log n)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• bounded optimization memory O((d²+dm) log n)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• any nontrivial accuracy &gt; 50% with nontrivial probability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389120" cy="1920240"/>
          </a:xfrm>
          <a:prstGeom prst="roundRect">
            <a:avLst>
              <a:gd name="adj" fmla="val 3333"/>
            </a:avLst>
          </a:prstGeom>
          <a:solidFill>
            <a:srgbClr val="FFF2E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34640"/>
            <a:ext cx="64008" cy="192024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What is hard?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3337560"/>
            <a:ext cx="4023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The optimizer cannot identify enough of the hidden secret set from one-pass data.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532120" y="4343400"/>
            <a:ext cx="5486400" cy="1143000"/>
          </a:xfrm>
          <a:prstGeom prst="roundRect">
            <a:avLst>
              <a:gd name="adj" fmla="val 5600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4343400"/>
            <a:ext cx="64008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What is not hard?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33288" y="4846320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E6875"/>
                </a:solidFill>
              </a:rPr>
              <a:t>Representing the parity function.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2; lower bound is for constant-pass stochastic gradient descent.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drives the lower bound?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2A"/>
                </a:solidFill>
              </a:rPr>
              <a:t>Think of training as a bounded-memory online learner.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64008" cy="214884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49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Samples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reveal partial correlations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17520" y="3154680"/>
            <a:ext cx="274320" cy="0"/>
          </a:xfrm>
          <a:prstGeom prst="line">
            <a:avLst/>
          </a:prstGeom>
          <a:noFill/>
          <a:ln w="2286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2103120"/>
            <a:ext cx="2468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03120"/>
            <a:ext cx="64008" cy="214884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249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Parameter state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84448" y="2606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stores only bounded information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852160" y="3154680"/>
            <a:ext cx="274320" cy="0"/>
          </a:xfrm>
          <a:prstGeom prst="line">
            <a:avLst/>
          </a:prstGeom>
          <a:noFill/>
          <a:ln w="2286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103120"/>
            <a:ext cx="2468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03120"/>
            <a:ext cx="64008" cy="214884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249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Secret set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2606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has nk-sized structure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686800" y="3154680"/>
            <a:ext cx="274320" cy="0"/>
          </a:xfrm>
          <a:prstGeom prst="line">
            <a:avLst/>
          </a:prstGeom>
          <a:noFill/>
          <a:ln w="2286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103120"/>
            <a:ext cx="24688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103120"/>
            <a:ext cx="64008" cy="214884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249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53728" y="2606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too little state to identify enough of 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" y="48920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14F4F"/>
                </a:solidFill>
              </a:rPr>
              <a:t>The proof is fundamentally an information / memory argument.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Lower-bound proof sketch: online-learning / bounded-memory argument.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Theorem 3: CoT changes the answer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3657600" cy="1097280"/>
          </a:xfrm>
          <a:prstGeom prst="rect">
            <a:avLst/>
          </a:prstGeom>
          <a:solidFill>
            <a:srgbClr val="E7F5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E8B57"/>
                </a:solidFill>
              </a:rPr>
              <a:t>Õ(n) samples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663440" y="1261872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</a:rPr>
              <a:t>For constant δ and k in [ n / log⁵(n/δ), n / log⁴(n/δ) ], a 1-layer simplified Transformer with o(nk) parameters can, under the paper’s initialization + hyperparameters, reach perfect CoT accuracy with mini-batch SGD using Õ(n) samples.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291840"/>
            <a:ext cx="64008" cy="15087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3438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Functional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3794760"/>
            <a:ext cx="3063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Perfect next-token prediction on CoT data.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26280" y="329184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291840"/>
            <a:ext cx="64008" cy="150876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3438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Structural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3794760"/>
            <a:ext cx="3063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Attention becomes approximately one-hot on S[i].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3291840"/>
            <a:ext cx="32004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91840"/>
            <a:ext cx="64008" cy="150876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3438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Precision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0768" y="3794760"/>
            <a:ext cx="2834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Still holds at Θ(log n) precision.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00400" y="52578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65C"/>
                </a:solidFill>
              </a:rPr>
              <a:t>This is the main theorem.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3; main result in Section 3.3.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Theorem 3 carefully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3520440" cy="4114800"/>
          </a:xfrm>
          <a:prstGeom prst="roundRect">
            <a:avLst>
              <a:gd name="adj" fmla="val 1818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64008" cy="4114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264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The headline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31546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5E6875"/>
                </a:solidFill>
              </a:rPr>
              <a:t>2^{Ω(k)} → Õ(n)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5E6875"/>
                </a:solidFill>
              </a:rPr>
              <a:t>CoT turns a sample-hard parity problem into a polynomial / nearly-linear one.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434840" y="1280160"/>
            <a:ext cx="3429000" cy="4114800"/>
          </a:xfrm>
          <a:prstGeom prst="roundRect">
            <a:avLst>
              <a:gd name="adj" fmla="val 1867"/>
            </a:avLst>
          </a:prstGeom>
          <a:solidFill>
            <a:srgbClr val="FFF2E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280160"/>
            <a:ext cx="64008" cy="411480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426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The assumptions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008" y="1783080"/>
            <a:ext cx="30632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• restricted k regime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• 1-layer simplified Transformer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• special initialization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• carefully chosen hyperparameters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• constant training steps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92440" y="1280160"/>
            <a:ext cx="3429000" cy="4114800"/>
          </a:xfrm>
          <a:prstGeom prst="roundRect">
            <a:avLst>
              <a:gd name="adj" fmla="val 1867"/>
            </a:avLst>
          </a:prstGeom>
          <a:solidFill>
            <a:srgbClr val="E8F8F7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280160"/>
            <a:ext cx="64008" cy="411480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426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What it buys 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3608" y="1783080"/>
            <a:ext cx="30632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A mechanistic theorem connecting: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CoT sequence structure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sparse attention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finite-sample SGD learning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3 and Assumptions 1–2.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assumption that carries the result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14F4F"/>
                </a:solidFill>
              </a:rPr>
              <a:t>The theorem is not “generic Transformer + generic initialization”.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892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" cy="86868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21122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Attention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2468880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initialized at 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4892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965960"/>
            <a:ext cx="64008" cy="86868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1122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Attention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468880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initialized at 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044952"/>
            <a:ext cx="4892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44952"/>
            <a:ext cx="64008" cy="86868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191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FFN / embeddings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547872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structured from position–value embeddings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044952"/>
            <a:ext cx="4892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044952"/>
            <a:ext cx="64008" cy="86868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191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h vector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3547872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fixed initialization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123944"/>
            <a:ext cx="4892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123944"/>
            <a:ext cx="64008" cy="8686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2702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Word embeddings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5568" y="4626864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875"/>
                </a:solidFill>
              </a:rPr>
              <a:t>fixed during training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5440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65C"/>
                </a:solidFill>
              </a:rPr>
              <a:t>This engineered starting point makes the desired gradient signal appear.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Assumption 1 (Initialization) and surrounding discussion.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proof in one slide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517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2A"/>
                </a:solidFill>
              </a:rPr>
              <a:t>FFN configuration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154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" cy="219456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Mechanism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560320"/>
            <a:ext cx="2788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FFN weights correlate with embeddings of secret indices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13632" y="3154680"/>
            <a:ext cx="475488" cy="0"/>
          </a:xfrm>
          <a:prstGeom prst="line">
            <a:avLst/>
          </a:prstGeom>
          <a:noFill/>
          <a:ln w="2540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502920" cy="502920"/>
          </a:xfrm>
          <a:prstGeom prst="ellipse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517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2A"/>
                </a:solidFill>
              </a:rPr>
              <a:t>Attention sparsification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154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57400"/>
            <a:ext cx="64008" cy="219456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Mechanism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36008" y="2560320"/>
            <a:ext cx="2788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gradients push attention toward the correct predecessor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16952" y="3154680"/>
            <a:ext cx="475488" cy="0"/>
          </a:xfrm>
          <a:prstGeom prst="line">
            <a:avLst/>
          </a:prstGeom>
          <a:noFill/>
          <a:ln w="2540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38160" y="141732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517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2A"/>
                </a:solidFill>
              </a:rPr>
              <a:t>Output mapping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138160" y="2057400"/>
            <a:ext cx="3154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057400"/>
            <a:ext cx="64008" cy="2194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Mechanism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39328" y="2560320"/>
            <a:ext cx="2788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once the right token is retrieved, the local computation is easy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1560" y="4892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65C"/>
                </a:solidFill>
              </a:rPr>
              <a:t>The proof is a dynamical story, not just a static existence argument.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3 proof sketch; three phases described by the authors.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— FFN discovers a local signal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7202A"/>
                </a:solidFill>
              </a:rPr>
              <a:t>At CoT step i, the target depends on: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0253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current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178308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200253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one secret token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32304" y="19842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875"/>
                </a:solidFill>
              </a:rPr>
              <a:t>⊕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1097280" cy="0"/>
          </a:xfrm>
          <a:prstGeom prst="line">
            <a:avLst/>
          </a:prstGeom>
          <a:noFill/>
          <a:ln w="25400">
            <a:solidFill>
              <a:srgbClr val="1F365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17830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002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FFN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0" y="2148840"/>
            <a:ext cx="1051560" cy="0"/>
          </a:xfrm>
          <a:prstGeom prst="line">
            <a:avLst/>
          </a:prstGeom>
          <a:noFill/>
          <a:ln w="25400">
            <a:solidFill>
              <a:srgbClr val="1F365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887968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75"/>
                </a:solidFill>
              </a:rPr>
              <a:t>gradient signal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10424160" cy="1463040"/>
          </a:xfrm>
          <a:prstGeom prst="roundRect">
            <a:avLst>
              <a:gd name="adj" fmla="val 4375"/>
            </a:avLst>
          </a:prstGeom>
          <a:solidFill>
            <a:srgbClr val="E8F8F7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91840"/>
            <a:ext cx="64008" cy="146304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4381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Key insight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3794760"/>
            <a:ext cx="10058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The CoT format creates a first-order statistical cue about which position matters next. Without that intermediate target, the same cue is buried inside the final XOR.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Phase 1 of the proof sketch; finite-sample gradient analysis.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— attention becomes sparse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99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candidate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71800" y="14173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499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candidate 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0" y="14173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499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target S[i]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14173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499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candidate 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0" y="14173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AD1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14996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candidate 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43000" y="2743200"/>
            <a:ext cx="1234440" cy="2194560"/>
          </a:xfrm>
          <a:prstGeom prst="roundRect">
            <a:avLst>
              <a:gd name="adj" fmla="val 2963"/>
            </a:avLst>
          </a:prstGeom>
          <a:solidFill>
            <a:srgbClr val="DCE2EA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732934"/>
            <a:ext cx="1234440" cy="204826"/>
          </a:xfrm>
          <a:prstGeom prst="roundRect">
            <a:avLst>
              <a:gd name="adj" fmla="val 17857"/>
            </a:avLst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743200"/>
            <a:ext cx="1234440" cy="2194560"/>
          </a:xfrm>
          <a:prstGeom prst="roundRect">
            <a:avLst>
              <a:gd name="adj" fmla="val 2963"/>
            </a:avLst>
          </a:prstGeom>
          <a:solidFill>
            <a:srgbClr val="DCE2EA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4784141"/>
            <a:ext cx="1234440" cy="153619"/>
          </a:xfrm>
          <a:prstGeom prst="roundRect">
            <a:avLst>
              <a:gd name="adj" fmla="val 23810"/>
            </a:avLst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2743200"/>
            <a:ext cx="1234440" cy="2194560"/>
          </a:xfrm>
          <a:prstGeom prst="roundRect">
            <a:avLst>
              <a:gd name="adj" fmla="val 2963"/>
            </a:avLst>
          </a:prstGeom>
          <a:solidFill>
            <a:srgbClr val="DCE2EA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2991917"/>
            <a:ext cx="1234440" cy="1945843"/>
          </a:xfrm>
          <a:prstGeom prst="roundRect">
            <a:avLst>
              <a:gd name="adj" fmla="val 2963"/>
            </a:avLst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743200"/>
            <a:ext cx="1234440" cy="2194560"/>
          </a:xfrm>
          <a:prstGeom prst="roundRect">
            <a:avLst>
              <a:gd name="adj" fmla="val 2963"/>
            </a:avLst>
          </a:prstGeom>
          <a:solidFill>
            <a:srgbClr val="DCE2EA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4809744"/>
            <a:ext cx="1234440" cy="128016"/>
          </a:xfrm>
          <a:prstGeom prst="roundRect">
            <a:avLst>
              <a:gd name="adj" fmla="val 28571"/>
            </a:avLst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743200"/>
            <a:ext cx="1234440" cy="2194560"/>
          </a:xfrm>
          <a:prstGeom prst="roundRect">
            <a:avLst>
              <a:gd name="adj" fmla="val 2963"/>
            </a:avLst>
          </a:prstGeom>
          <a:solidFill>
            <a:srgbClr val="DCE2EA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4809744"/>
            <a:ext cx="1234440" cy="128016"/>
          </a:xfrm>
          <a:prstGeom prst="roundRect">
            <a:avLst>
              <a:gd name="adj" fmla="val 28571"/>
            </a:avLst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537667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65C"/>
                </a:solidFill>
              </a:rPr>
              <a:t>softmax amplifies a growing score gap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1143000" y="58064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7A75"/>
                </a:solidFill>
              </a:rPr>
              <a:t>gradient advantage → attention concentration → effective one-hot selection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Phase 2 of Theorem 3 proof; one-hot attention guarantee.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— the remaining computation is easy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E8F8F7"/>
          </a:solidFill>
          <a:ln w="15240">
            <a:solidFill>
              <a:srgbClr val="12A8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367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current 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1554480"/>
            <a:ext cx="1965960" cy="438912"/>
          </a:xfrm>
          <a:prstGeom prst="roundRect">
            <a:avLst>
              <a:gd name="adj" fmla="val 12500"/>
            </a:avLst>
          </a:prstGeom>
          <a:solidFill>
            <a:srgbClr val="FFF2E3"/>
          </a:solidFill>
          <a:ln w="15240">
            <a:solidFill>
              <a:srgbClr val="E58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163677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retrieved secret token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783080"/>
            <a:ext cx="1143000" cy="0"/>
          </a:xfrm>
          <a:prstGeom prst="line">
            <a:avLst/>
          </a:prstGeom>
          <a:noFill/>
          <a:ln w="2540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13258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4496" y="14904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computation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26680" y="1783080"/>
            <a:ext cx="822960" cy="0"/>
          </a:xfrm>
          <a:prstGeom prst="line">
            <a:avLst/>
          </a:prstGeom>
          <a:noFill/>
          <a:ln w="25400">
            <a:solidFill>
              <a:srgbClr val="5E687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32520" y="155448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7F5EE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63677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next state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10378440" cy="1554480"/>
          </a:xfrm>
          <a:prstGeom prst="roundRect">
            <a:avLst>
              <a:gd name="adj" fmla="val 4118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246120"/>
            <a:ext cx="64008" cy="1554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392424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The optimization problem has changed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3749040"/>
            <a:ext cx="10012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E6875"/>
                </a:solidFill>
              </a:rPr>
              <a:t>Instead of learning a k-way interaction over n candidates, the model now learns a local update after selecting the correct predecessor.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965960" y="5257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65C"/>
                </a:solidFill>
              </a:rPr>
              <a:t>That is why the sample complexity can collapse.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Phase 3 of the proof sketch and Theorem 3 interpretation.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does softmax make the attention effectively one-hot?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02A"/>
                </a:solidFill>
              </a:rPr>
              <a:t>If the target score exceeds every distractor by Θ(log n), then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926080" y="18745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7A75"/>
                </a:solidFill>
              </a:rPr>
              <a:t>softmax(target)  ≈  1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971800"/>
            <a:ext cx="64008" cy="14173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score gap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3474720"/>
            <a:ext cx="205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Ω(log n)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29718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971800"/>
            <a:ext cx="64008" cy="141732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exponentiation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3474720"/>
            <a:ext cx="205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e^{Ω(log n)}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971800"/>
            <a:ext cx="64008" cy="141732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normalization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4808" y="3474720"/>
            <a:ext cx="205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target dominates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52560" y="297180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971800"/>
            <a:ext cx="64008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result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53728" y="3474720"/>
            <a:ext cx="205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attention error &lt; 1/n⁸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728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65C"/>
                </a:solidFill>
              </a:rPr>
              <a:t>This is the mathematical bridge from “sparse dependency” to “sparse attention”.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Theorem 3 / proof lemmas: score separation implies near one-hot softmax.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entire theorem story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5440680" cy="4069080"/>
          </a:xfrm>
          <a:prstGeom prst="roundRect">
            <a:avLst>
              <a:gd name="adj" fmla="val 1573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64008" cy="406908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721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WITHOUT CoT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1828800"/>
            <a:ext cx="507492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Representable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hidden global dependency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bounded-memory SGD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secret set remains hard to identify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2^{Ω(k)} samples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440680" cy="4069080"/>
          </a:xfrm>
          <a:prstGeom prst="roundRect">
            <a:avLst>
              <a:gd name="adj" fmla="val 1573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325880"/>
            <a:ext cx="64008" cy="4069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4721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WITH CoT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4808" y="1828800"/>
            <a:ext cx="507492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Same computation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sparse sequential dependency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FFN sees local signal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attention becomes one-hot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local update is easy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E6875"/>
                </a:solidFill>
              </a:rPr>
              <a:t>Õ(n) samples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Synthesis of Theorems 1–3 and proof sketch.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1 — does the gap appear in standard Transformers?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280160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280160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426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8408" y="17830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GPT-2-style Transformer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304288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04288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8072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30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328416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28416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" y="3831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1, 2, 3, 4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1280160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280160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426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Depth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0488" y="17830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1–4 layers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9320" y="2304288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2304288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Heads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90488" y="28072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1–4 heads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89320" y="3328416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3328416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Training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90488" y="3831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fresh batch each step; up to 10⁷ samples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1680" y="48920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E6875"/>
                </a:solidFill>
              </a:rPr>
              <a:t>Best learning rate among 6×10⁻⁵, 8×10⁻⁵, 10⁻⁴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3931920" y="5440680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54726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65C"/>
                </a:solidFill>
              </a:rPr>
              <a:t>EMPIRICAL SAMPLE COMPLEXITY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Figure 2 and experiment protocol; also reproduced in the authors’ GitHub repository.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1 — result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2A"/>
                </a:solidFill>
              </a:rPr>
              <a:t>Reported pattern: no-CoT grows rapidly with k; CoT stays much flatter.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80160" y="5166360"/>
            <a:ext cx="9052560" cy="0"/>
          </a:xfrm>
          <a:prstGeom prst="line">
            <a:avLst/>
          </a:prstGeom>
          <a:noFill/>
          <a:ln w="17780">
            <a:solidFill>
              <a:srgbClr val="9A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5166360"/>
            <a:ext cx="0" cy="-3017520"/>
          </a:xfrm>
          <a:prstGeom prst="line">
            <a:avLst/>
          </a:prstGeom>
          <a:noFill/>
          <a:ln w="17780">
            <a:solidFill>
              <a:srgbClr val="9A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9928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5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67328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5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24728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5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82128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5"/>
                </a:solidFill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39528" y="5257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5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4617720"/>
            <a:ext cx="2011680" cy="-45720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4160520"/>
            <a:ext cx="2011680" cy="-45720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3703320"/>
            <a:ext cx="2011680" cy="-64008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63840" y="3063240"/>
            <a:ext cx="2011680" cy="-54864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773936" y="4562856"/>
            <a:ext cx="109728" cy="109728"/>
          </a:xfrm>
          <a:prstGeom prst="ellipse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4105656"/>
            <a:ext cx="109728" cy="109728"/>
          </a:xfrm>
          <a:prstGeom prst="ellipse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7296" y="3648456"/>
            <a:ext cx="109728" cy="109728"/>
          </a:xfrm>
          <a:prstGeom prst="ellipse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8976" y="3008376"/>
            <a:ext cx="109728" cy="109728"/>
          </a:xfrm>
          <a:prstGeom prst="ellipse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0656" y="2459736"/>
            <a:ext cx="109728" cy="109728"/>
          </a:xfrm>
          <a:prstGeom prst="ellipse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4670298"/>
            <a:ext cx="2011680" cy="-496062"/>
          </a:xfrm>
          <a:prstGeom prst="line">
            <a:avLst/>
          </a:prstGeom>
          <a:noFill/>
          <a:ln w="38100">
            <a:solidFill>
              <a:srgbClr val="D14F4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40480" y="4174236"/>
            <a:ext cx="2011680" cy="-779526"/>
          </a:xfrm>
          <a:prstGeom prst="line">
            <a:avLst/>
          </a:prstGeom>
          <a:noFill/>
          <a:ln w="38100">
            <a:solidFill>
              <a:srgbClr val="D14F4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3394710"/>
            <a:ext cx="2011680" cy="-1133856"/>
          </a:xfrm>
          <a:prstGeom prst="line">
            <a:avLst/>
          </a:prstGeom>
          <a:noFill/>
          <a:ln w="38100">
            <a:solidFill>
              <a:srgbClr val="D14F4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63840" y="2260854"/>
            <a:ext cx="2011680" cy="-1346454"/>
          </a:xfrm>
          <a:prstGeom prst="line">
            <a:avLst/>
          </a:prstGeom>
          <a:noFill/>
          <a:ln w="38100">
            <a:solidFill>
              <a:srgbClr val="D14F4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73936" y="4615434"/>
            <a:ext cx="109728" cy="109728"/>
          </a:xfrm>
          <a:prstGeom prst="ellipse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85616" y="4119372"/>
            <a:ext cx="109728" cy="109728"/>
          </a:xfrm>
          <a:prstGeom prst="ellipse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3339846"/>
            <a:ext cx="109728" cy="109728"/>
          </a:xfrm>
          <a:prstGeom prst="ellipse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08976" y="2205990"/>
            <a:ext cx="109728" cy="109728"/>
          </a:xfrm>
          <a:prstGeom prst="ellipse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0656" y="859536"/>
            <a:ext cx="109728" cy="109728"/>
          </a:xfrm>
          <a:prstGeom prst="ellipse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5285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875"/>
                </a:solidFill>
              </a:rPr>
              <a:t>k 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 rot="16200000">
            <a:off x="7772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875"/>
                </a:solidFill>
              </a:rPr>
              <a:t>sample complexity (schematic)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43800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1808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75"/>
                </a:solidFill>
              </a:rPr>
              <a:t>CoT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41080" y="21488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CEAEA"/>
          </a:solidFill>
          <a:ln w="12700">
            <a:solidFill>
              <a:srgbClr val="FCEA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21808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14F4F"/>
                </a:solidFill>
              </a:rPr>
              <a:t>No CoT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1560" y="59893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7A828E"/>
                </a:solidFill>
              </a:rPr>
              <a:t>Important: this is a qualitative reconstruction of the reported scaling, not the paper’s raw plotted values.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Paper Figure 2: one-pass standard GPT-2-style Transformers.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2 — the learned attention is interpretable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05456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44368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2192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50876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7632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6544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5456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4368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22192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1104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94767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6544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05456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4368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22192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61104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238658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27632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66544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05456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44368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22192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1104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282549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8720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66544" y="3264408"/>
            <a:ext cx="420624" cy="420624"/>
          </a:xfrm>
          <a:prstGeom prst="rect">
            <a:avLst/>
          </a:prstGeom>
          <a:solidFill>
            <a:srgbClr val="12A8B1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05456" y="3264408"/>
            <a:ext cx="420624" cy="420624"/>
          </a:xfrm>
          <a:prstGeom prst="rect">
            <a:avLst/>
          </a:prstGeom>
          <a:solidFill>
            <a:srgbClr val="12A8B1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44368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22192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0016" y="3264408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88720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27632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66544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05456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44368" y="3703320"/>
            <a:ext cx="420624" cy="420624"/>
          </a:xfrm>
          <a:prstGeom prst="rect">
            <a:avLst/>
          </a:prstGeom>
          <a:solidFill>
            <a:srgbClr val="12A8B1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3280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22192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61104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0016" y="3703320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8720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7632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66544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05456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44368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83280" y="4142232"/>
            <a:ext cx="420624" cy="420624"/>
          </a:xfrm>
          <a:prstGeom prst="rect">
            <a:avLst/>
          </a:prstGeom>
          <a:solidFill>
            <a:srgbClr val="12A8B1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22192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61104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4142232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88720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27632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66544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05456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44368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83280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22192" y="4581144"/>
            <a:ext cx="420624" cy="420624"/>
          </a:xfrm>
          <a:prstGeom prst="rect">
            <a:avLst/>
          </a:prstGeom>
          <a:solidFill>
            <a:srgbClr val="12A8B1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61104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4581144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88720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27632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66544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505456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44368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83280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22192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61104" y="5020056"/>
            <a:ext cx="420624" cy="420624"/>
          </a:xfrm>
          <a:prstGeom prst="rect">
            <a:avLst/>
          </a:prstGeom>
          <a:solidFill>
            <a:srgbClr val="12A8B1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0016" y="5020056"/>
            <a:ext cx="420624" cy="420624"/>
          </a:xfrm>
          <a:prstGeom prst="rect">
            <a:avLst/>
          </a:prstGeom>
          <a:solidFill>
            <a:srgbClr val="F4F5F7"/>
          </a:solidFill>
          <a:ln w="5080">
            <a:solidFill>
              <a:srgbClr val="D8DD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 rot="16200000">
            <a:off x="411480" y="292608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875"/>
                </a:solidFill>
              </a:rPr>
              <a:t>rows = CoT steps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828800" y="5623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875"/>
                </a:solidFill>
              </a:rPr>
              <a:t>source token index →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669280" y="1600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E8F8F7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669280" y="1600200"/>
            <a:ext cx="64008" cy="182880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70448" y="1746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Reported finding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5870448" y="2103120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For a 1-layer, 1-head Transformer on (n=40, k=20), the i-th reasoning token predominantly attends to the i-th secret variable in the ordered secret set.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5669280" y="3749040"/>
            <a:ext cx="5303520" cy="1508760"/>
          </a:xfrm>
          <a:prstGeom prst="roundRect">
            <a:avLst>
              <a:gd name="adj" fmla="val 4242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69280" y="3749040"/>
            <a:ext cx="64008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70448" y="3895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5870448" y="4251960"/>
            <a:ext cx="4937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The theorem is not merely “accuracy goes up.” The internal attention structure tracks the sparse computation.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Paper Figure 3(b), attention pattern; schematic recreation.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3 — multi-pass training eventually works without CoT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4F4F"/>
                </a:solidFill>
              </a:rPr>
              <a:t>The lower bound is explicitly about constant-pass training.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709160" cy="2103120"/>
          </a:xfrm>
          <a:prstGeom prst="roundRect">
            <a:avLst>
              <a:gd name="adj" fmla="val 3043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" cy="210312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208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One-pass / fresh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377440"/>
            <a:ext cx="4343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E6875"/>
                </a:solidFill>
              </a:rPr>
              <a:t>Hard to identify the hidden parity structure within the theorem’s sample budget.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4709160" cy="2103120"/>
          </a:xfrm>
          <a:prstGeom prst="roundRect">
            <a:avLst>
              <a:gd name="adj" fmla="val 3043"/>
            </a:avLst>
          </a:prstGeom>
          <a:solidFill>
            <a:srgbClr val="FFF2E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874520"/>
            <a:ext cx="64008" cy="210312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53328" y="20208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Multi-pass / repeated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53328" y="2377440"/>
            <a:ext cx="4343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E6875"/>
                </a:solidFill>
              </a:rPr>
              <a:t>Training can eventually succeed, but at substantially higher computational cost.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20240" y="4434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65C"/>
                </a:solidFill>
              </a:rPr>
              <a:t>This is a feature of the paper, not a contradiction.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34440" y="5074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875"/>
                </a:solidFill>
              </a:rPr>
              <a:t>The theorem separates sample efficiency from the ability to keep seeing the same data.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Section 4.2; Figure 4 multi-pass training without CoT.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deeper empirical clue: sparse attention tracks success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875"/>
                </a:solidFill>
              </a:rPr>
              <a:t>Accuracy 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875"/>
                </a:solidFill>
              </a:rPr>
              <a:t>Attention entropy 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5440680"/>
            <a:ext cx="8046720" cy="0"/>
          </a:xfrm>
          <a:prstGeom prst="line">
            <a:avLst/>
          </a:prstGeom>
          <a:noFill/>
          <a:ln w="16510">
            <a:solidFill>
              <a:srgbClr val="8D96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5440680"/>
            <a:ext cx="0" cy="-4023360"/>
          </a:xfrm>
          <a:prstGeom prst="line">
            <a:avLst/>
          </a:prstGeom>
          <a:noFill/>
          <a:ln w="16510">
            <a:solidFill>
              <a:srgbClr val="8D96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057400"/>
            <a:ext cx="1463040" cy="9144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2148840"/>
            <a:ext cx="1554480" cy="54864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2697480"/>
            <a:ext cx="1554480" cy="82296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09360" y="3520440"/>
            <a:ext cx="1645920" cy="100584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55280" y="4526280"/>
            <a:ext cx="1463040" cy="50292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37360" y="5166360"/>
            <a:ext cx="1554480" cy="-13716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5029200"/>
            <a:ext cx="1371600" cy="-27432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4754880"/>
            <a:ext cx="1645920" cy="-45720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4297680"/>
            <a:ext cx="1645920" cy="-82296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3474720"/>
            <a:ext cx="1463040" cy="-914400"/>
          </a:xfrm>
          <a:prstGeom prst="line">
            <a:avLst/>
          </a:prstGeom>
          <a:noFill/>
          <a:ln w="38100">
            <a:solidFill>
              <a:srgbClr val="12A8B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16916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7236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</a:rPr>
              <a:t>accuracy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23960" y="21488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1808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75"/>
                </a:solidFill>
              </a:rPr>
              <a:t>entropy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3154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880360"/>
            <a:ext cx="64008" cy="182880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3026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02168" y="3383280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When the model finally succeeds, attention has become markedly more concentrated.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57150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F365C"/>
                </a:solidFill>
              </a:rPr>
              <a:t>Sparsity appears to be part of the mechanism, not merely a post-hoc visualization.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Figure 5 and Section 4.2; curves shown schematically, not raw values.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check: GSM8K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Qwen2-7B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920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875"/>
                </a:solidFill>
              </a:rPr>
              <a:t>CoT 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1417320"/>
            <a:ext cx="7040880" cy="822960"/>
          </a:xfrm>
          <a:prstGeom prst="roundRect">
            <a:avLst>
              <a:gd name="adj" fmla="val 7778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417320"/>
            <a:ext cx="64008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5636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Observed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15968" y="192024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lower normalized attention entropy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468880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Qwen2-7B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29718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875"/>
                </a:solidFill>
              </a:rPr>
              <a:t>direct-answer inputs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0" y="2468880"/>
            <a:ext cx="7040880" cy="822960"/>
          </a:xfrm>
          <a:prstGeom prst="roundRect">
            <a:avLst>
              <a:gd name="adj" fmla="val 7778"/>
            </a:avLst>
          </a:prstGeom>
          <a:solidFill>
            <a:srgbClr val="E7F5EE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2468880"/>
            <a:ext cx="64008" cy="822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6151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Observed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15968" y="297180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higher entropy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520440"/>
            <a:ext cx="64008" cy="8229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Qwen2-Math-7B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" y="40233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875"/>
                </a:solidFill>
              </a:rPr>
              <a:t>CoT inputs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37490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875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114800" y="3520440"/>
            <a:ext cx="7040880" cy="822960"/>
          </a:xfrm>
          <a:prstGeom prst="roundRect">
            <a:avLst>
              <a:gd name="adj" fmla="val 7778"/>
            </a:avLst>
          </a:prstGeom>
          <a:solidFill>
            <a:srgbClr val="E8F8F7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3520440"/>
            <a:ext cx="64008" cy="82296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36667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Observed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15968" y="402336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875"/>
                </a:solidFill>
              </a:rPr>
              <a:t>sparsest of the compared conditions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EAF0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709160"/>
            <a:ext cx="64008" cy="8686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8554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What this supports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2688" y="521208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875"/>
                </a:solidFill>
              </a:rPr>
              <a:t>CoT correlates with sparser attention beyond the synthetic parity task.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56967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14F4F"/>
                </a:solidFill>
              </a:rPr>
              <a:t>What it does NOT show: the same asymptotic sample-complexity law on natural-language reasoning.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Section 4.3; Figures 6–7; Qwen2-7B and Qwen2-Math-7B on GSM8K.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does this sit relative to adjacent theory?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148840" cy="822960"/>
          </a:xfrm>
          <a:prstGeom prst="rect">
            <a:avLst/>
          </a:prstGeom>
          <a:solidFill>
            <a:srgbClr val="E8ECF2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624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E6875"/>
                </a:solidFill>
              </a:rPr>
              <a:t>Prior work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71800" y="1234440"/>
            <a:ext cx="3429000" cy="822960"/>
          </a:xfrm>
          <a:prstGeom prst="rect">
            <a:avLst/>
          </a:prstGeom>
          <a:solidFill>
            <a:srgbClr val="E8ECF2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3624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E6875"/>
                </a:solidFill>
              </a:rPr>
              <a:t>What it gives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29400" y="1234440"/>
            <a:ext cx="4892040" cy="822960"/>
          </a:xfrm>
          <a:prstGeom prst="rect">
            <a:avLst/>
          </a:prstGeom>
          <a:solidFill>
            <a:srgbClr val="E8ECF2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3624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E6875"/>
                </a:solidFill>
              </a:rPr>
              <a:t>This paper changes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21488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7802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Wies et 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971800" y="2350008"/>
            <a:ext cx="34290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4780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Subtask decomposition can make parity learnable in sequence models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29400" y="2350008"/>
            <a:ext cx="48920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4780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Moves toward Transformer / attention dynamics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21488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Kim &amp; Suzuki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71800" y="3465576"/>
            <a:ext cx="34290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5935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CoT can reduce gradient-step difficulty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3465576"/>
            <a:ext cx="48920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35935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Focuses on finite-sample SGD + sparse attention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581144"/>
            <a:ext cx="21488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09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Sparse token selection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971800" y="4581144"/>
            <a:ext cx="34290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4709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Transformers can learn sparse token selection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9400" y="4581144"/>
            <a:ext cx="48920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7D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709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2A"/>
                </a:solidFill>
              </a:rPr>
              <a:t>Connects sparsity specifically to CoT-induced dependencies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54864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F365C"/>
                </a:solidFill>
              </a:rPr>
              <a:t>The paper’s niche: a mechanistic bridge from sparse sequence structure → sparse attention → finite-sample learning.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Related-work positioning in Introduction and Section 5.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limitation I would put on the title slide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166360" cy="3611880"/>
          </a:xfrm>
          <a:prstGeom prst="roundRect">
            <a:avLst>
              <a:gd name="adj" fmla="val 1772"/>
            </a:avLst>
          </a:prstGeom>
          <a:solidFill>
            <a:srgbClr val="FCEAEA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64008" cy="3611880"/>
          </a:xfrm>
          <a:prstGeom prst="rect">
            <a:avLst/>
          </a:prstGeom>
          <a:solidFill>
            <a:srgbClr val="D14F4F"/>
          </a:solidFill>
          <a:ln w="12700">
            <a:solidFill>
              <a:srgbClr val="D14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721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Precise limitation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828800"/>
            <a:ext cx="48006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E6875"/>
                </a:solidFill>
              </a:rPr>
              <a:t>The core theorem depends on a substantially simplified learning setup: special initialization, frozen embeddings, 1-layer analysis, restricted k regime, and carefully chosen hyperparameters.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325880"/>
            <a:ext cx="5257800" cy="3611880"/>
          </a:xfrm>
          <a:prstGeom prst="roundRect">
            <a:avLst>
              <a:gd name="adj" fmla="val 1772"/>
            </a:avLst>
          </a:prstGeom>
          <a:solidFill>
            <a:srgbClr val="FFF2E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325880"/>
            <a:ext cx="64008" cy="361188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472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Concrete challenge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3368" y="1828800"/>
            <a:ext cx="4892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E6875"/>
                </a:solidFill>
              </a:rPr>
              <a:t>Repeat the parity comparison with standard multi-layer Transformers, generic random initialization, trainable embeddings + LayerNorm, and equal total compute/token budgets. Then test whether the exponential-vs-polynomial gap survives.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53492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65C"/>
                </a:solidFill>
              </a:rPr>
              <a:t>A stronger theorem would cover a standard Transformer + generic initialization.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66928" y="629107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7A828E"/>
                </a:solidFill>
              </a:rPr>
              <a:t>Critical assessment based on the theorem assumptions and experimental scope.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F36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65C"/>
          </a:solidFill>
          <a:ln w="12700">
            <a:solidFill>
              <a:srgbClr val="1F36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A8B1"/>
                </a:solidFill>
              </a:rPr>
              <a:t>TAKEAWAY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CoT does not need to make the function more expressive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for it to make learning much easier.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7E8"/>
                </a:solidFill>
              </a:rPr>
              <a:t>The paper’s strongest idea is the mechanism: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2450592" cy="1188720"/>
          </a:xfrm>
          <a:prstGeom prst="roundRect">
            <a:avLst>
              <a:gd name="adj" fmla="val 5385"/>
            </a:avLst>
          </a:prstGeom>
          <a:solidFill>
            <a:srgbClr val="213A61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794760"/>
            <a:ext cx="64008" cy="1188720"/>
          </a:xfrm>
          <a:prstGeom prst="rect">
            <a:avLst/>
          </a:prstGeom>
          <a:solidFill>
            <a:srgbClr val="E58B2C"/>
          </a:solidFill>
          <a:ln w="12700">
            <a:solidFill>
              <a:srgbClr val="E58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9410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CoT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429768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sparse sequential dependency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91256" y="4389120"/>
            <a:ext cx="228600" cy="0"/>
          </a:xfrm>
          <a:prstGeom prst="line">
            <a:avLst/>
          </a:prstGeom>
          <a:noFill/>
          <a:ln w="22860">
            <a:solidFill>
              <a:srgbClr val="8DA8C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93008" y="3794760"/>
            <a:ext cx="2450592" cy="1188720"/>
          </a:xfrm>
          <a:prstGeom prst="roundRect">
            <a:avLst>
              <a:gd name="adj" fmla="val 5385"/>
            </a:avLst>
          </a:prstGeom>
          <a:solidFill>
            <a:srgbClr val="213A61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3794760"/>
            <a:ext cx="64008" cy="1188720"/>
          </a:xfrm>
          <a:prstGeom prst="rect">
            <a:avLst/>
          </a:prstGeom>
          <a:solidFill>
            <a:srgbClr val="7553C8"/>
          </a:solidFill>
          <a:ln w="12700">
            <a:solidFill>
              <a:srgbClr val="755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39410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SGD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94176" y="429768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local gradient signal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52744" y="4389120"/>
            <a:ext cx="228600" cy="0"/>
          </a:xfrm>
          <a:prstGeom prst="line">
            <a:avLst/>
          </a:prstGeom>
          <a:noFill/>
          <a:ln w="22860">
            <a:solidFill>
              <a:srgbClr val="8DA8C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3794760"/>
            <a:ext cx="2450592" cy="1188720"/>
          </a:xfrm>
          <a:prstGeom prst="roundRect">
            <a:avLst>
              <a:gd name="adj" fmla="val 5385"/>
            </a:avLst>
          </a:prstGeom>
          <a:solidFill>
            <a:srgbClr val="213A61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3794760"/>
            <a:ext cx="64008" cy="1188720"/>
          </a:xfrm>
          <a:prstGeom prst="rect">
            <a:avLst/>
          </a:prstGeom>
          <a:solidFill>
            <a:srgbClr val="12A8B1"/>
          </a:solidFill>
          <a:ln w="12700">
            <a:solidFill>
              <a:srgbClr val="12A8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39410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Attention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429768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sparse / one-hot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714232" y="4389120"/>
            <a:ext cx="228600" cy="0"/>
          </a:xfrm>
          <a:prstGeom prst="line">
            <a:avLst/>
          </a:prstGeom>
          <a:noFill/>
          <a:ln w="22860">
            <a:solidFill>
              <a:srgbClr val="8DA8C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15984" y="3794760"/>
            <a:ext cx="2450592" cy="1188720"/>
          </a:xfrm>
          <a:prstGeom prst="roundRect">
            <a:avLst>
              <a:gd name="adj" fmla="val 5385"/>
            </a:avLst>
          </a:prstGeom>
          <a:solidFill>
            <a:srgbClr val="294D73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5984" y="3794760"/>
            <a:ext cx="64008" cy="11887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39410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Learning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429768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875"/>
                </a:solidFill>
              </a:rPr>
              <a:t>lower sample complexity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17320" y="565099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Representation is sufficient. The difference is learnability.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31520" y="623620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1D8"/>
                </a:solidFill>
              </a:rPr>
              <a:t>Wen et al., ICLR 2025 · arXiv:2410.05459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0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Sparse Dependence to Sparse Attention</dc:title>
  <dc:subject>40-slide research presentation</dc:subject>
  <dc:creator>OpenAI</dc:creator>
  <cp:lastModifiedBy>OpenAI</cp:lastModifiedBy>
  <cp:revision>1</cp:revision>
  <dcterms:created xsi:type="dcterms:W3CDTF">2026-10-08T02:48:34Z</dcterms:created>
  <dcterms:modified xsi:type="dcterms:W3CDTF">2026-10-08T02:48:34Z</dcterms:modified>
</cp:coreProperties>
</file>