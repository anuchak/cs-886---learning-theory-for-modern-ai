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Opening: do not begin with definitions. Begin by framing the central question: why can a Transformer represent hard reasoning tasks but still fail to learn them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paper’s contribution is best sold as a separation between expressivity and trainability. The paper introduces globality as a data-distribution measure and then shows a barrier theorem plus scratchpad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Use the syllogism example as the intuitive bridge. The target is composition, not memorization.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exact motivational example in the paper is richer, but this simplified chain is enough to make composition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cycle task is the paper’s central benchmark. It is designed to eliminate shortcut features such as degree and motif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actual paper figure uses GPT2-style 10M, 25M, and 85M parameter models with 512 fresh samples per iteration; the figure shows a strong increase in iterations with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Transition into the formal contribution. Globality is deliberately defined on the target distribution rather than on an abstract target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Do not read the mutual-information definition symbol-by-symbol. Explain it as a “smallest useful witness set” measure, conditioned on the token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conditioning is important: the cycle task has no useful low-complexity histogram-based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lemma is the bridge from the benchmark to the theory. High globality is not a vague intuition; it is certified by symmetry of marginals.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 is not making a claim about arbitrary black-box training. It fixes a clean T-regular model family and descent-based training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classification directly follows the requested presentation guideline: identify the theorem as a learnability barrier, not just an architecture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authors explicitly contrast globality with TC0/TC1 expressivity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distinction is crucial. The conjecture is broader than the theorem. Keep theorem-level claims and conjectural interpretation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Theorem 1 is the paper’s main formal barrier. The target is a carefully symmetrized variant of the cycle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slide where the audience should hear “what assumption makes the theorem possible?” The symmetry and training regime are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Keep proof details at mechanism level. The appendix formalizes the permutation-symmetry coupling between training on true labels and random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Do not overstate the random-label coupling: it is a proof device establishing that training distributions remain close under the permitted parameter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Important theorem-status distinction: the paper conjectures the general agnostic-scratchpad statement and then proves a cycle-task extension as Theorem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State the theorem-level takeaway, not the full appendix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paper’s central scratchpad principle. Break one hard global prediction into a sequence of locally predictable state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 writes parity in ±1 notation as cumulative products; the point is identical to XOR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For the cycle structure, DFS and BFS are equivalent. The paper uses DFS as an illustrative state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paper’s OOD experiment fixes 24 nodes/edges but doubles the reasoning-path length from 6 during training to 12 at test. The educated DFS scratchpad fits train quickly yet fails 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Definition 5: an inductive task has a transition g so each state s[i+1] = g(Q,s[i]).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practical message: if a task has a reusable state transition, expose that transition in the scratchpad.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 encodes each DFS state as an iterative state representation with a current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Figure 4b: same 24-node graph size, but reasoning-path length doubles from 6 to 12 at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Paper reports Transformer trained on inputs up to 30 bits and generalization to 50/55 bits depending on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Table 1 reports the paper’s methods: random-space 10→18 and shift 4→26, with the latter using less natural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slide abstracts the paper’s Figure 4b into the causal message: in-distribution success is insufficient; OOD behavior depends on scratchpad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bridge from theorem to practical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The paper itself points out that causal masking or positional encodings that isolate active bits can change learnability. This is the right place to state the limitation, not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paper’s most important practical design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Position the paper against expressivity, gradient-learnability measures, and scratchpad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slide directly satisfies the requirement to separate theorem-level claims from experiments and conjectures.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practical interpretation: use globality as a benchmark diagnostic and inductive scratchpads as a reasoning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Do not oversell the paper. The paper itself highlights assumptions such as positional encoding and causal masking that could change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This is the concrete challenge/strengthening experiment requested: same phenomenon, but under a more modern and less symmetry-friendly model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Abbe, Bengio, Lotfi, Sandon, Saremi, “How Far Can Transformers Reason? The Globality Barrier and Inductive Scratchpad,” NeurIPS 2024 / arXiv:2406.06467. Jennifer Widom talk guidance used for organization: motivate, sell major results, keep slides sparse, use simple examples. End on the distinction between computation and learning, then give the audience the reusable design heuristic: localize the intermediate state and reuse the same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02920" y="6473952"/>
            <a:ext cx="11183112" cy="0"/>
          </a:xfrm>
          <a:prstGeom prst="line">
            <a:avLst/>
          </a:prstGeom>
          <a:noFill/>
          <a:ln w="12700">
            <a:solidFill>
              <a:srgbClr val="D9E1EA"/>
            </a:solidFill>
            <a:prstDash val="solid"/>
          </a:ln>
        </p:spPr>
      </p:sp>
      <p:sp>
        <p:nvSpPr>
          <p:cNvPr id="3" name="Text 1"/>
          <p:cNvSpPr/>
          <p:nvPr/>
        </p:nvSpPr>
        <p:spPr>
          <a:xfrm>
            <a:off x="502920" y="6510528"/>
            <a:ext cx="5486400" cy="201168"/>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Abbe et al., NeurIPS 2024 · arXiv:2406.06467</a:t>
            </a:r>
            <a:endParaRPr lang="en-US" sz="800" dirty="0"/>
          </a:p>
        </p:txBody>
      </p:sp>
      <p:sp>
        <p:nvSpPr>
          <p:cNvPr id="4" name="Text 2"/>
          <p:cNvSpPr/>
          <p:nvPr/>
        </p:nvSpPr>
        <p:spPr>
          <a:xfrm>
            <a:off x="7589520" y="6510528"/>
            <a:ext cx="4096512" cy="201168"/>
          </a:xfrm>
          <a:prstGeom prst="rect">
            <a:avLst/>
          </a:prstGeom>
          <a:noFill/>
          <a:ln/>
        </p:spPr>
        <p:txBody>
          <a:bodyPr wrap="square" lIns="0" tIns="0" rIns="0" bIns="0" rtlCol="0" anchor="ctr"/>
          <a:lstStyle/>
          <a:p>
            <a:pPr algn="r" indent="0" marL="0">
              <a:buNone/>
            </a:pPr>
            <a:r>
              <a:rPr lang="en-US" sz="800" dirty="0">
                <a:solidFill>
                  <a:srgbClr val="64748B"/>
                </a:solidFill>
                <a:latin typeface="Aptos" pitchFamily="34" charset="0"/>
                <a:ea typeface="Aptos" pitchFamily="34" charset="-122"/>
                <a:cs typeface="Aptos" pitchFamily="34" charset="-120"/>
              </a:rPr>
              <a:t>How Far Can Transformers Reason?</a:t>
            </a:r>
            <a:endParaRPr lang="en-US" sz="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Text 1"/>
          <p:cNvSpPr/>
          <p:nvPr/>
        </p:nvSpPr>
        <p:spPr>
          <a:xfrm>
            <a:off x="713232" y="822960"/>
            <a:ext cx="6583680" cy="658368"/>
          </a:xfrm>
          <a:prstGeom prst="rect">
            <a:avLst/>
          </a:prstGeom>
          <a:noFill/>
          <a:ln/>
        </p:spPr>
        <p:txBody>
          <a:bodyPr wrap="square" lIns="635" tIns="635" rIns="635" bIns="635" rtlCol="0" anchor="ctr">
            <a:normAutofit/>
          </a:bodyPr>
          <a:lstStyle/>
          <a:p>
            <a:pPr algn="l" indent="0" marL="0">
              <a:buNone/>
            </a:pPr>
            <a:r>
              <a:rPr lang="en-US" sz="2500" b="1" dirty="0">
                <a:solidFill>
                  <a:srgbClr val="93C5FD"/>
                </a:solidFill>
                <a:latin typeface="Aptos" pitchFamily="34" charset="0"/>
                <a:ea typeface="Aptos" pitchFamily="34" charset="-122"/>
                <a:cs typeface="Aptos" pitchFamily="34" charset="-120"/>
              </a:rPr>
              <a:t>HOW FAR CAN</a:t>
            </a:r>
            <a:endParaRPr lang="en-US" sz="2500" dirty="0"/>
          </a:p>
        </p:txBody>
      </p:sp>
      <p:sp>
        <p:nvSpPr>
          <p:cNvPr id="4" name="Text 2"/>
          <p:cNvSpPr/>
          <p:nvPr/>
        </p:nvSpPr>
        <p:spPr>
          <a:xfrm>
            <a:off x="713232" y="1444752"/>
            <a:ext cx="9966960" cy="868680"/>
          </a:xfrm>
          <a:prstGeom prst="rect">
            <a:avLst/>
          </a:prstGeom>
          <a:noFill/>
          <a:ln/>
        </p:spPr>
        <p:txBody>
          <a:bodyPr wrap="square" lIns="635" tIns="635" rIns="635" bIns="635" rtlCol="0" anchor="ctr">
            <a:normAutofit/>
          </a:bodyPr>
          <a:lstStyle/>
          <a:p>
            <a:pPr algn="l" indent="0" marL="0">
              <a:buNone/>
            </a:pPr>
            <a:r>
              <a:rPr lang="en-US" sz="3800" b="1" dirty="0">
                <a:solidFill>
                  <a:srgbClr val="FFFFFF"/>
                </a:solidFill>
                <a:latin typeface="Aptos" pitchFamily="34" charset="0"/>
                <a:ea typeface="Aptos" pitchFamily="34" charset="-122"/>
                <a:cs typeface="Aptos" pitchFamily="34" charset="-120"/>
              </a:rPr>
              <a:t>TRANSFORMERS REASON?</a:t>
            </a:r>
            <a:endParaRPr lang="en-US" sz="3800" dirty="0"/>
          </a:p>
        </p:txBody>
      </p:sp>
      <p:sp>
        <p:nvSpPr>
          <p:cNvPr id="5" name="Text 3"/>
          <p:cNvSpPr/>
          <p:nvPr/>
        </p:nvSpPr>
        <p:spPr>
          <a:xfrm>
            <a:off x="749808" y="2359152"/>
            <a:ext cx="9326880" cy="502920"/>
          </a:xfrm>
          <a:prstGeom prst="rect">
            <a:avLst/>
          </a:prstGeom>
          <a:noFill/>
          <a:ln/>
        </p:spPr>
        <p:txBody>
          <a:bodyPr wrap="square" lIns="635" tIns="635" rIns="635" bIns="635" rtlCol="0" anchor="ctr">
            <a:normAutofit/>
          </a:bodyPr>
          <a:lstStyle/>
          <a:p>
            <a:pPr algn="l" indent="0" marL="0">
              <a:buNone/>
            </a:pPr>
            <a:r>
              <a:rPr lang="en-US" sz="2200" dirty="0">
                <a:solidFill>
                  <a:srgbClr val="E2E8F0"/>
                </a:solidFill>
                <a:latin typeface="Aptos" pitchFamily="34" charset="0"/>
                <a:ea typeface="Aptos" pitchFamily="34" charset="-122"/>
                <a:cs typeface="Aptos" pitchFamily="34" charset="-120"/>
              </a:rPr>
              <a:t>The Globality Barrier and Inductive Scratchpad</a:t>
            </a:r>
            <a:endParaRPr lang="en-US" sz="2200" dirty="0"/>
          </a:p>
        </p:txBody>
      </p:sp>
      <p:sp>
        <p:nvSpPr>
          <p:cNvPr id="6" name="Shape 4"/>
          <p:cNvSpPr/>
          <p:nvPr/>
        </p:nvSpPr>
        <p:spPr>
          <a:xfrm>
            <a:off x="758952" y="3063240"/>
            <a:ext cx="2057400" cy="347472"/>
          </a:xfrm>
          <a:prstGeom prst="roundRect">
            <a:avLst>
              <a:gd name="adj" fmla="val 31579"/>
            </a:avLst>
          </a:prstGeom>
          <a:solidFill>
            <a:srgbClr val="F97316"/>
          </a:solidFill>
          <a:ln w="12700">
            <a:solidFill>
              <a:srgbClr val="F97316">
                <a:alpha val="0"/>
              </a:srgbClr>
            </a:solidFill>
            <a:prstDash val="solid"/>
          </a:ln>
        </p:spPr>
      </p:sp>
      <p:sp>
        <p:nvSpPr>
          <p:cNvPr id="7" name="Text 5"/>
          <p:cNvSpPr/>
          <p:nvPr/>
        </p:nvSpPr>
        <p:spPr>
          <a:xfrm>
            <a:off x="758952" y="3072384"/>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RESULT-LED RESEARCH TALK</a:t>
            </a:r>
            <a:endParaRPr lang="en-US" sz="1000" dirty="0"/>
          </a:p>
        </p:txBody>
      </p:sp>
      <p:sp>
        <p:nvSpPr>
          <p:cNvPr id="8" name="Text 6"/>
          <p:cNvSpPr/>
          <p:nvPr/>
        </p:nvSpPr>
        <p:spPr>
          <a:xfrm>
            <a:off x="758952" y="3675888"/>
            <a:ext cx="9875520" cy="640080"/>
          </a:xfrm>
          <a:prstGeom prst="rect">
            <a:avLst/>
          </a:prstGeom>
          <a:noFill/>
          <a:ln/>
        </p:spPr>
        <p:txBody>
          <a:bodyPr wrap="square" lIns="635" tIns="635" rIns="635" bIns="635" rtlCol="0" anchor="ctr">
            <a:normAutofit/>
          </a:bodyPr>
          <a:lstStyle/>
          <a:p>
            <a:pPr algn="l" indent="0" marL="0">
              <a:buNone/>
            </a:pPr>
            <a:r>
              <a:rPr lang="en-US" sz="1900" dirty="0">
                <a:solidFill>
                  <a:srgbClr val="CBD5E1"/>
                </a:solidFill>
                <a:latin typeface="Aptos" pitchFamily="34" charset="0"/>
                <a:ea typeface="Aptos" pitchFamily="34" charset="-122"/>
                <a:cs typeface="Aptos" pitchFamily="34" charset="-120"/>
              </a:rPr>
              <a:t>From “Transformers are expressive” to “Transformers can actually learn this from scratch.”</a:t>
            </a:r>
            <a:endParaRPr lang="en-US" sz="1900" dirty="0"/>
          </a:p>
        </p:txBody>
      </p:sp>
      <p:sp>
        <p:nvSpPr>
          <p:cNvPr id="9" name="Text 7"/>
          <p:cNvSpPr/>
          <p:nvPr/>
        </p:nvSpPr>
        <p:spPr>
          <a:xfrm>
            <a:off x="758952" y="5010912"/>
            <a:ext cx="9875520" cy="320040"/>
          </a:xfrm>
          <a:prstGeom prst="rect">
            <a:avLst/>
          </a:prstGeom>
          <a:noFill/>
          <a:ln/>
        </p:spPr>
        <p:txBody>
          <a:bodyPr wrap="square" lIns="635" tIns="635" rIns="635" bIns="635" rtlCol="0" anchor="ctr">
            <a:normAutofit/>
          </a:bodyPr>
          <a:lstStyle/>
          <a:p>
            <a:pPr algn="l" indent="0" marL="0">
              <a:buNone/>
            </a:pPr>
            <a:r>
              <a:rPr lang="en-US" sz="1200" dirty="0">
                <a:solidFill>
                  <a:srgbClr val="94A3B8"/>
                </a:solidFill>
                <a:latin typeface="Aptos" pitchFamily="34" charset="0"/>
                <a:ea typeface="Aptos" pitchFamily="34" charset="-122"/>
                <a:cs typeface="Aptos" pitchFamily="34" charset="-120"/>
              </a:rPr>
              <a:t>Emmanuel Abbe · Samy Bengio · Aryo Lotfi · Colin Sandon · Omid Saremi</a:t>
            </a:r>
            <a:endParaRPr lang="en-US" sz="1200" dirty="0"/>
          </a:p>
        </p:txBody>
      </p:sp>
      <p:sp>
        <p:nvSpPr>
          <p:cNvPr id="10" name="Text 8"/>
          <p:cNvSpPr/>
          <p:nvPr/>
        </p:nvSpPr>
        <p:spPr>
          <a:xfrm>
            <a:off x="758952" y="5376672"/>
            <a:ext cx="1828800" cy="274320"/>
          </a:xfrm>
          <a:prstGeom prst="rect">
            <a:avLst/>
          </a:prstGeom>
          <a:noFill/>
          <a:ln/>
        </p:spPr>
        <p:txBody>
          <a:bodyPr wrap="square" lIns="635" tIns="635" rIns="635" bIns="635" rtlCol="0" anchor="ctr">
            <a:normAutofit/>
          </a:bodyPr>
          <a:lstStyle/>
          <a:p>
            <a:pPr algn="l" indent="0" marL="0">
              <a:buNone/>
            </a:pPr>
            <a:r>
              <a:rPr lang="en-US" sz="1100" b="1" dirty="0">
                <a:solidFill>
                  <a:srgbClr val="93C5FD"/>
                </a:solidFill>
                <a:latin typeface="Aptos" pitchFamily="34" charset="0"/>
                <a:ea typeface="Aptos" pitchFamily="34" charset="-122"/>
                <a:cs typeface="Aptos" pitchFamily="34" charset="-120"/>
              </a:rPr>
              <a:t>NeurIPS 2024</a:t>
            </a:r>
            <a:endParaRPr lang="en-US" sz="11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headline result</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interesting object is learnability, not expressivity.</a:t>
            </a:r>
            <a:endParaRPr lang="en-US" sz="1200" dirty="0"/>
          </a:p>
        </p:txBody>
      </p:sp>
      <p:sp>
        <p:nvSpPr>
          <p:cNvPr id="4" name="Text 2"/>
          <p:cNvSpPr/>
          <p:nvPr/>
        </p:nvSpPr>
        <p:spPr>
          <a:xfrm>
            <a:off x="685800" y="1280160"/>
            <a:ext cx="2926080" cy="822960"/>
          </a:xfrm>
          <a:prstGeom prst="rect">
            <a:avLst/>
          </a:prstGeom>
          <a:noFill/>
          <a:ln/>
        </p:spPr>
        <p:txBody>
          <a:bodyPr wrap="square" lIns="635" tIns="635" rIns="635" bIns="635" rtlCol="0" anchor="ctr">
            <a:normAutofit/>
          </a:bodyPr>
          <a:lstStyle/>
          <a:p>
            <a:pPr algn="ctr" indent="0" marL="0">
              <a:buNone/>
            </a:pPr>
            <a:r>
              <a:rPr lang="en-US" sz="3400" b="1" dirty="0">
                <a:solidFill>
                  <a:srgbClr val="DC2626"/>
                </a:solidFill>
                <a:latin typeface="Aptos" pitchFamily="34" charset="0"/>
                <a:ea typeface="Aptos" pitchFamily="34" charset="-122"/>
                <a:cs typeface="Aptos" pitchFamily="34" charset="-120"/>
              </a:rPr>
              <a:t>HIGH</a:t>
            </a:r>
            <a:endParaRPr lang="en-US" sz="3400" dirty="0"/>
          </a:p>
        </p:txBody>
      </p:sp>
      <p:sp>
        <p:nvSpPr>
          <p:cNvPr id="5" name="Text 3"/>
          <p:cNvSpPr/>
          <p:nvPr/>
        </p:nvSpPr>
        <p:spPr>
          <a:xfrm>
            <a:off x="685800" y="2084832"/>
            <a:ext cx="2926080" cy="530352"/>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globality → hard to learn</a:t>
            </a:r>
            <a:endParaRPr lang="en-US" sz="1300" dirty="0"/>
          </a:p>
        </p:txBody>
      </p:sp>
      <p:sp>
        <p:nvSpPr>
          <p:cNvPr id="6" name="Text 4"/>
          <p:cNvSpPr/>
          <p:nvPr/>
        </p:nvSpPr>
        <p:spPr>
          <a:xfrm>
            <a:off x="4480560" y="1280160"/>
            <a:ext cx="2926080" cy="822960"/>
          </a:xfrm>
          <a:prstGeom prst="rect">
            <a:avLst/>
          </a:prstGeom>
          <a:noFill/>
          <a:ln/>
        </p:spPr>
        <p:txBody>
          <a:bodyPr wrap="square" lIns="635" tIns="635" rIns="635" bIns="635" rtlCol="0" anchor="ctr">
            <a:normAutofit/>
          </a:bodyPr>
          <a:lstStyle/>
          <a:p>
            <a:pPr algn="ctr" indent="0" marL="0">
              <a:buNone/>
            </a:pPr>
            <a:r>
              <a:rPr lang="en-US" sz="3400" b="1" dirty="0">
                <a:solidFill>
                  <a:srgbClr val="15803D"/>
                </a:solidFill>
                <a:latin typeface="Aptos" pitchFamily="34" charset="0"/>
                <a:ea typeface="Aptos" pitchFamily="34" charset="-122"/>
                <a:cs typeface="Aptos" pitchFamily="34" charset="-120"/>
              </a:rPr>
              <a:t>LOW</a:t>
            </a:r>
            <a:endParaRPr lang="en-US" sz="3400" dirty="0"/>
          </a:p>
        </p:txBody>
      </p:sp>
      <p:sp>
        <p:nvSpPr>
          <p:cNvPr id="7" name="Text 5"/>
          <p:cNvSpPr/>
          <p:nvPr/>
        </p:nvSpPr>
        <p:spPr>
          <a:xfrm>
            <a:off x="4480560" y="2084832"/>
            <a:ext cx="2926080" cy="530352"/>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globality → locally learnable</a:t>
            </a:r>
            <a:endParaRPr lang="en-US" sz="1300" dirty="0"/>
          </a:p>
        </p:txBody>
      </p:sp>
      <p:sp>
        <p:nvSpPr>
          <p:cNvPr id="8" name="Text 6"/>
          <p:cNvSpPr/>
          <p:nvPr/>
        </p:nvSpPr>
        <p:spPr>
          <a:xfrm>
            <a:off x="8275320" y="1280160"/>
            <a:ext cx="2926080" cy="822960"/>
          </a:xfrm>
          <a:prstGeom prst="rect">
            <a:avLst/>
          </a:prstGeom>
          <a:noFill/>
          <a:ln/>
        </p:spPr>
        <p:txBody>
          <a:bodyPr wrap="square" lIns="635" tIns="635" rIns="635" bIns="635" rtlCol="0" anchor="ctr">
            <a:normAutofit/>
          </a:bodyPr>
          <a:lstStyle/>
          <a:p>
            <a:pPr algn="ctr" indent="0" marL="0">
              <a:buNone/>
            </a:pPr>
            <a:r>
              <a:rPr lang="en-US" sz="3400" b="1" dirty="0">
                <a:solidFill>
                  <a:srgbClr val="F97316"/>
                </a:solidFill>
                <a:latin typeface="Aptos" pitchFamily="34" charset="0"/>
                <a:ea typeface="Aptos" pitchFamily="34" charset="-122"/>
                <a:cs typeface="Aptos" pitchFamily="34" charset="-120"/>
              </a:rPr>
              <a:t>INDUCTIVE</a:t>
            </a:r>
            <a:endParaRPr lang="en-US" sz="3400" dirty="0"/>
          </a:p>
        </p:txBody>
      </p:sp>
      <p:sp>
        <p:nvSpPr>
          <p:cNvPr id="9" name="Text 7"/>
          <p:cNvSpPr/>
          <p:nvPr/>
        </p:nvSpPr>
        <p:spPr>
          <a:xfrm>
            <a:off x="8275320" y="2084832"/>
            <a:ext cx="2926080" cy="530352"/>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scratchpad → low globality + OOD</a:t>
            </a:r>
            <a:endParaRPr lang="en-US" sz="1300" dirty="0"/>
          </a:p>
        </p:txBody>
      </p:sp>
      <p:sp>
        <p:nvSpPr>
          <p:cNvPr id="10" name="Shape 8"/>
          <p:cNvSpPr/>
          <p:nvPr/>
        </p:nvSpPr>
        <p:spPr>
          <a:xfrm>
            <a:off x="1645920" y="3154680"/>
            <a:ext cx="3566160" cy="0"/>
          </a:xfrm>
          <a:prstGeom prst="line">
            <a:avLst/>
          </a:prstGeom>
          <a:noFill/>
          <a:ln w="38100">
            <a:solidFill>
              <a:srgbClr val="DC2626"/>
            </a:solidFill>
            <a:prstDash val="solid"/>
            <a:headEnd type="none"/>
            <a:tailEnd type="triangle"/>
          </a:ln>
        </p:spPr>
      </p:sp>
      <p:sp>
        <p:nvSpPr>
          <p:cNvPr id="11" name="Shape 9"/>
          <p:cNvSpPr/>
          <p:nvPr/>
        </p:nvSpPr>
        <p:spPr>
          <a:xfrm>
            <a:off x="5486400" y="3154680"/>
            <a:ext cx="3657600" cy="0"/>
          </a:xfrm>
          <a:prstGeom prst="line">
            <a:avLst/>
          </a:prstGeom>
          <a:noFill/>
          <a:ln w="38100">
            <a:solidFill>
              <a:srgbClr val="F97316"/>
            </a:solidFill>
            <a:prstDash val="solid"/>
            <a:headEnd type="none"/>
            <a:tailEnd type="triangle"/>
          </a:ln>
        </p:spPr>
      </p:sp>
      <p:sp>
        <p:nvSpPr>
          <p:cNvPr id="12" name="Text 10"/>
          <p:cNvSpPr/>
          <p:nvPr/>
        </p:nvSpPr>
        <p:spPr>
          <a:xfrm>
            <a:off x="777240" y="3657600"/>
            <a:ext cx="10424160" cy="640080"/>
          </a:xfrm>
          <a:prstGeom prst="rect">
            <a:avLst/>
          </a:prstGeom>
          <a:noFill/>
          <a:ln/>
        </p:spPr>
        <p:txBody>
          <a:bodyPr wrap="square" lIns="635" tIns="635" rIns="635" bIns="635" rtlCol="0" anchor="ctr">
            <a:normAutofit/>
          </a:bodyPr>
          <a:lstStyle/>
          <a:p>
            <a:pPr algn="ctr" indent="0" marL="0">
              <a:buNone/>
            </a:pPr>
            <a:r>
              <a:rPr lang="en-US" sz="2200" b="1" dirty="0">
                <a:solidFill>
                  <a:srgbClr val="102A43"/>
                </a:solidFill>
                <a:latin typeface="Aptos" pitchFamily="34" charset="0"/>
                <a:ea typeface="Aptos" pitchFamily="34" charset="-122"/>
                <a:cs typeface="Aptos" pitchFamily="34" charset="-120"/>
              </a:rPr>
              <a:t>A global target can be hard even when the same target is computationally representable by a Transformer.</a:t>
            </a:r>
            <a:endParaRPr lang="en-US" sz="2200" dirty="0"/>
          </a:p>
        </p:txBody>
      </p:sp>
      <p:sp>
        <p:nvSpPr>
          <p:cNvPr id="13" name="Text 11"/>
          <p:cNvSpPr/>
          <p:nvPr/>
        </p:nvSpPr>
        <p:spPr>
          <a:xfrm>
            <a:off x="1051560" y="4617720"/>
            <a:ext cx="9875520" cy="45720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Paper thesis: distribution structure predicts whether gradient-based training can find the computation.</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Why this matters in practice</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“reasoning failure” may be a learning-geometry failure.</a:t>
            </a:r>
            <a:endParaRPr lang="en-US" sz="1200" dirty="0"/>
          </a:p>
        </p:txBody>
      </p:sp>
      <p:sp>
        <p:nvSpPr>
          <p:cNvPr id="4" name="Text 2"/>
          <p:cNvSpPr/>
          <p:nvPr/>
        </p:nvSpPr>
        <p:spPr>
          <a:xfrm>
            <a:off x="731520" y="1234440"/>
            <a:ext cx="10698480" cy="594360"/>
          </a:xfrm>
          <a:prstGeom prst="rect">
            <a:avLst/>
          </a:prstGeom>
          <a:noFill/>
          <a:ln/>
        </p:spPr>
        <p:txBody>
          <a:bodyPr wrap="square" lIns="635" tIns="635" rIns="635" bIns="635" rtlCol="0" anchor="ctr">
            <a:normAutofit/>
          </a:bodyPr>
          <a:lstStyle/>
          <a:p>
            <a:pPr algn="ctr" indent="0" marL="0">
              <a:buNone/>
            </a:pPr>
            <a:r>
              <a:rPr lang="en-US" sz="2500" b="1" dirty="0">
                <a:solidFill>
                  <a:srgbClr val="102A43"/>
                </a:solidFill>
                <a:latin typeface="Aptos" pitchFamily="34" charset="0"/>
                <a:ea typeface="Aptos" pitchFamily="34" charset="-122"/>
                <a:cs typeface="Aptos" pitchFamily="34" charset="-120"/>
              </a:rPr>
              <a:t>A model can know the primitives and still fail to compose them.</a:t>
            </a:r>
            <a:endParaRPr lang="en-US" sz="2500" dirty="0"/>
          </a:p>
        </p:txBody>
      </p:sp>
      <p:sp>
        <p:nvSpPr>
          <p:cNvPr id="5" name="Shape 3"/>
          <p:cNvSpPr/>
          <p:nvPr/>
        </p:nvSpPr>
        <p:spPr>
          <a:xfrm>
            <a:off x="777240" y="2148840"/>
            <a:ext cx="2971800" cy="1920240"/>
          </a:xfrm>
          <a:prstGeom prst="roundRect">
            <a:avLst>
              <a:gd name="adj" fmla="val 2857"/>
            </a:avLst>
          </a:prstGeom>
          <a:solidFill>
            <a:srgbClr val="EEF2FF"/>
          </a:solidFill>
          <a:ln w="12700">
            <a:solidFill>
              <a:srgbClr val="C7D2FE"/>
            </a:solidFill>
            <a:prstDash val="solid"/>
          </a:ln>
        </p:spPr>
      </p:sp>
      <p:sp>
        <p:nvSpPr>
          <p:cNvPr id="6" name="Text 4"/>
          <p:cNvSpPr/>
          <p:nvPr/>
        </p:nvSpPr>
        <p:spPr>
          <a:xfrm>
            <a:off x="960120" y="2377440"/>
            <a:ext cx="2560320" cy="320040"/>
          </a:xfrm>
          <a:prstGeom prst="rect">
            <a:avLst/>
          </a:prstGeom>
          <a:noFill/>
          <a:ln/>
        </p:spPr>
        <p:txBody>
          <a:bodyPr wrap="square" lIns="635" tIns="635" rIns="635" bIns="635" rtlCol="0" anchor="ctr">
            <a:normAutofit/>
          </a:bodyPr>
          <a:lstStyle/>
          <a:p>
            <a:pPr algn="ctr" indent="0" marL="0">
              <a:buNone/>
            </a:pPr>
            <a:r>
              <a:rPr lang="en-US" sz="1200" b="1" dirty="0">
                <a:solidFill>
                  <a:srgbClr val="7C3AED"/>
                </a:solidFill>
                <a:latin typeface="Aptos" pitchFamily="34" charset="0"/>
                <a:ea typeface="Aptos" pitchFamily="34" charset="-122"/>
                <a:cs typeface="Aptos" pitchFamily="34" charset="-120"/>
              </a:rPr>
              <a:t>KNOWN</a:t>
            </a:r>
            <a:endParaRPr lang="en-US" sz="1200" dirty="0"/>
          </a:p>
        </p:txBody>
      </p:sp>
      <p:sp>
        <p:nvSpPr>
          <p:cNvPr id="7" name="Shape 5"/>
          <p:cNvSpPr/>
          <p:nvPr/>
        </p:nvSpPr>
        <p:spPr>
          <a:xfrm>
            <a:off x="1353312" y="2880360"/>
            <a:ext cx="822960" cy="384048"/>
          </a:xfrm>
          <a:prstGeom prst="roundRect">
            <a:avLst>
              <a:gd name="adj" fmla="val 19048"/>
            </a:avLst>
          </a:prstGeom>
          <a:solidFill>
            <a:srgbClr val="FFFFFF"/>
          </a:solidFill>
          <a:ln w="12700">
            <a:solidFill>
              <a:srgbClr val="CBD5E1"/>
            </a:solidFill>
            <a:prstDash val="solid"/>
          </a:ln>
        </p:spPr>
      </p:sp>
      <p:sp>
        <p:nvSpPr>
          <p:cNvPr id="8" name="Text 6"/>
          <p:cNvSpPr/>
          <p:nvPr/>
        </p:nvSpPr>
        <p:spPr>
          <a:xfrm>
            <a:off x="1353312" y="2898648"/>
            <a:ext cx="8229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 → b</a:t>
            </a:r>
            <a:endParaRPr lang="en-US" sz="1300" dirty="0"/>
          </a:p>
        </p:txBody>
      </p:sp>
      <p:sp>
        <p:nvSpPr>
          <p:cNvPr id="9" name="Shape 7"/>
          <p:cNvSpPr/>
          <p:nvPr/>
        </p:nvSpPr>
        <p:spPr>
          <a:xfrm>
            <a:off x="2176272" y="2880360"/>
            <a:ext cx="822960" cy="384048"/>
          </a:xfrm>
          <a:prstGeom prst="roundRect">
            <a:avLst>
              <a:gd name="adj" fmla="val 19048"/>
            </a:avLst>
          </a:prstGeom>
          <a:solidFill>
            <a:srgbClr val="FFFFFF"/>
          </a:solidFill>
          <a:ln w="12700">
            <a:solidFill>
              <a:srgbClr val="CBD5E1"/>
            </a:solidFill>
            <a:prstDash val="solid"/>
          </a:ln>
        </p:spPr>
      </p:sp>
      <p:sp>
        <p:nvSpPr>
          <p:cNvPr id="10" name="Text 8"/>
          <p:cNvSpPr/>
          <p:nvPr/>
        </p:nvSpPr>
        <p:spPr>
          <a:xfrm>
            <a:off x="2176272" y="2898648"/>
            <a:ext cx="8229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 → c</a:t>
            </a:r>
            <a:endParaRPr lang="en-US" sz="1300" dirty="0"/>
          </a:p>
        </p:txBody>
      </p:sp>
      <p:sp>
        <p:nvSpPr>
          <p:cNvPr id="11" name="Text 9"/>
          <p:cNvSpPr/>
          <p:nvPr/>
        </p:nvSpPr>
        <p:spPr>
          <a:xfrm>
            <a:off x="1024128" y="3364992"/>
            <a:ext cx="2514600" cy="384048"/>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Local rules are easy to fit.</a:t>
            </a:r>
            <a:endParaRPr lang="en-US" sz="1400" dirty="0"/>
          </a:p>
        </p:txBody>
      </p:sp>
      <p:sp>
        <p:nvSpPr>
          <p:cNvPr id="12" name="Shape 10"/>
          <p:cNvSpPr/>
          <p:nvPr/>
        </p:nvSpPr>
        <p:spPr>
          <a:xfrm>
            <a:off x="3931920" y="3108960"/>
            <a:ext cx="960120" cy="0"/>
          </a:xfrm>
          <a:prstGeom prst="line">
            <a:avLst/>
          </a:prstGeom>
          <a:noFill/>
          <a:ln w="38100">
            <a:solidFill>
              <a:srgbClr val="F97316"/>
            </a:solidFill>
            <a:prstDash val="solid"/>
            <a:headEnd type="none"/>
            <a:tailEnd type="triangle"/>
          </a:ln>
        </p:spPr>
      </p:sp>
      <p:sp>
        <p:nvSpPr>
          <p:cNvPr id="13" name="Shape 11"/>
          <p:cNvSpPr/>
          <p:nvPr/>
        </p:nvSpPr>
        <p:spPr>
          <a:xfrm>
            <a:off x="4937760" y="2148840"/>
            <a:ext cx="2971800" cy="1920240"/>
          </a:xfrm>
          <a:prstGeom prst="roundRect">
            <a:avLst>
              <a:gd name="adj" fmla="val 2857"/>
            </a:avLst>
          </a:prstGeom>
          <a:solidFill>
            <a:srgbClr val="FFF7ED"/>
          </a:solidFill>
          <a:ln w="12700">
            <a:solidFill>
              <a:srgbClr val="FED7AA"/>
            </a:solidFill>
            <a:prstDash val="solid"/>
          </a:ln>
        </p:spPr>
      </p:sp>
      <p:sp>
        <p:nvSpPr>
          <p:cNvPr id="14" name="Text 12"/>
          <p:cNvSpPr/>
          <p:nvPr/>
        </p:nvSpPr>
        <p:spPr>
          <a:xfrm>
            <a:off x="5138928" y="2377440"/>
            <a:ext cx="2560320" cy="320040"/>
          </a:xfrm>
          <a:prstGeom prst="rect">
            <a:avLst/>
          </a:prstGeom>
          <a:noFill/>
          <a:ln/>
        </p:spPr>
        <p:txBody>
          <a:bodyPr wrap="square" lIns="635" tIns="635" rIns="635" bIns="635" rtlCol="0" anchor="ctr">
            <a:normAutofit/>
          </a:bodyPr>
          <a:lstStyle/>
          <a:p>
            <a:pPr algn="ctr" indent="0" marL="0">
              <a:buNone/>
            </a:pPr>
            <a:r>
              <a:rPr lang="en-US" sz="1200" b="1" dirty="0">
                <a:solidFill>
                  <a:srgbClr val="F97316"/>
                </a:solidFill>
                <a:latin typeface="Aptos" pitchFamily="34" charset="0"/>
                <a:ea typeface="Aptos" pitchFamily="34" charset="-122"/>
                <a:cs typeface="Aptos" pitchFamily="34" charset="-120"/>
              </a:rPr>
              <a:t>COMPOSE</a:t>
            </a:r>
            <a:endParaRPr lang="en-US" sz="1200" dirty="0"/>
          </a:p>
        </p:txBody>
      </p:sp>
      <p:sp>
        <p:nvSpPr>
          <p:cNvPr id="15" name="Shape 13"/>
          <p:cNvSpPr/>
          <p:nvPr/>
        </p:nvSpPr>
        <p:spPr>
          <a:xfrm>
            <a:off x="6016752" y="2880360"/>
            <a:ext cx="868680" cy="384048"/>
          </a:xfrm>
          <a:prstGeom prst="roundRect">
            <a:avLst>
              <a:gd name="adj" fmla="val 19048"/>
            </a:avLst>
          </a:prstGeom>
          <a:solidFill>
            <a:srgbClr val="FFFFFF"/>
          </a:solidFill>
          <a:ln w="12700">
            <a:solidFill>
              <a:srgbClr val="FDBA74"/>
            </a:solidFill>
            <a:prstDash val="solid"/>
          </a:ln>
        </p:spPr>
      </p:sp>
      <p:sp>
        <p:nvSpPr>
          <p:cNvPr id="16" name="Text 14"/>
          <p:cNvSpPr/>
          <p:nvPr/>
        </p:nvSpPr>
        <p:spPr>
          <a:xfrm>
            <a:off x="6016752" y="2898648"/>
            <a:ext cx="8686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a → c</a:t>
            </a:r>
            <a:endParaRPr lang="en-US" sz="1300" dirty="0"/>
          </a:p>
        </p:txBody>
      </p:sp>
      <p:sp>
        <p:nvSpPr>
          <p:cNvPr id="17" name="Text 15"/>
          <p:cNvSpPr/>
          <p:nvPr/>
        </p:nvSpPr>
        <p:spPr>
          <a:xfrm>
            <a:off x="5193792" y="3364992"/>
            <a:ext cx="2468880" cy="384048"/>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Requires integrating many pieces.</a:t>
            </a:r>
            <a:endParaRPr lang="en-US" sz="1400" dirty="0"/>
          </a:p>
        </p:txBody>
      </p:sp>
      <p:sp>
        <p:nvSpPr>
          <p:cNvPr id="18" name="Shape 16"/>
          <p:cNvSpPr/>
          <p:nvPr/>
        </p:nvSpPr>
        <p:spPr>
          <a:xfrm>
            <a:off x="8092440" y="3108960"/>
            <a:ext cx="960120" cy="0"/>
          </a:xfrm>
          <a:prstGeom prst="line">
            <a:avLst/>
          </a:prstGeom>
          <a:noFill/>
          <a:ln w="38100">
            <a:solidFill>
              <a:srgbClr val="DC2626"/>
            </a:solidFill>
            <a:prstDash val="solid"/>
            <a:headEnd type="none"/>
            <a:tailEnd type="triangle"/>
          </a:ln>
        </p:spPr>
      </p:sp>
      <p:sp>
        <p:nvSpPr>
          <p:cNvPr id="19" name="Shape 17"/>
          <p:cNvSpPr/>
          <p:nvPr/>
        </p:nvSpPr>
        <p:spPr>
          <a:xfrm>
            <a:off x="9098280" y="2148840"/>
            <a:ext cx="2148840" cy="1920240"/>
          </a:xfrm>
          <a:prstGeom prst="roundRect">
            <a:avLst>
              <a:gd name="adj" fmla="val 2857"/>
            </a:avLst>
          </a:prstGeom>
          <a:solidFill>
            <a:srgbClr val="FEF2F2"/>
          </a:solidFill>
          <a:ln w="12700">
            <a:solidFill>
              <a:srgbClr val="FECACA"/>
            </a:solidFill>
            <a:prstDash val="solid"/>
          </a:ln>
        </p:spPr>
      </p:sp>
      <p:sp>
        <p:nvSpPr>
          <p:cNvPr id="20" name="Text 18"/>
          <p:cNvSpPr/>
          <p:nvPr/>
        </p:nvSpPr>
        <p:spPr>
          <a:xfrm>
            <a:off x="9281160" y="2377440"/>
            <a:ext cx="1783080" cy="320040"/>
          </a:xfrm>
          <a:prstGeom prst="rect">
            <a:avLst/>
          </a:prstGeom>
          <a:noFill/>
          <a:ln/>
        </p:spPr>
        <p:txBody>
          <a:bodyPr wrap="square" lIns="635" tIns="635" rIns="635" bIns="635" rtlCol="0" anchor="ctr">
            <a:normAutofit/>
          </a:bodyPr>
          <a:lstStyle/>
          <a:p>
            <a:pPr algn="ctr" indent="0" marL="0">
              <a:buNone/>
            </a:pPr>
            <a:r>
              <a:rPr lang="en-US" sz="1200" b="1" dirty="0">
                <a:solidFill>
                  <a:srgbClr val="DC2626"/>
                </a:solidFill>
                <a:latin typeface="Aptos" pitchFamily="34" charset="0"/>
                <a:ea typeface="Aptos" pitchFamily="34" charset="-122"/>
                <a:cs typeface="Aptos" pitchFamily="34" charset="-120"/>
              </a:rPr>
              <a:t>BARRIER</a:t>
            </a:r>
            <a:endParaRPr lang="en-US" sz="1200" dirty="0"/>
          </a:p>
        </p:txBody>
      </p:sp>
      <p:sp>
        <p:nvSpPr>
          <p:cNvPr id="21" name="Text 19"/>
          <p:cNvSpPr/>
          <p:nvPr/>
        </p:nvSpPr>
        <p:spPr>
          <a:xfrm>
            <a:off x="9345168" y="2907792"/>
            <a:ext cx="1645920" cy="502920"/>
          </a:xfrm>
          <a:prstGeom prst="rect">
            <a:avLst/>
          </a:prstGeom>
          <a:noFill/>
          <a:ln/>
        </p:spPr>
        <p:txBody>
          <a:bodyPr wrap="square" lIns="635" tIns="635" rIns="635" bIns="635" rtlCol="0" anchor="ctr">
            <a:normAutofit/>
          </a:bodyPr>
          <a:lstStyle/>
          <a:p>
            <a:pPr algn="ctr" indent="0" marL="0">
              <a:buNone/>
            </a:pPr>
            <a:r>
              <a:rPr lang="en-US" sz="1800" b="1" dirty="0">
                <a:solidFill>
                  <a:srgbClr val="DC2626"/>
                </a:solidFill>
                <a:latin typeface="Aptos" pitchFamily="34" charset="0"/>
                <a:ea typeface="Aptos" pitchFamily="34" charset="-122"/>
                <a:cs typeface="Aptos" pitchFamily="34" charset="-120"/>
              </a:rPr>
              <a:t>Global dependency</a:t>
            </a:r>
            <a:endParaRPr lang="en-US" sz="1800" dirty="0"/>
          </a:p>
        </p:txBody>
      </p:sp>
      <p:sp>
        <p:nvSpPr>
          <p:cNvPr id="22" name="Text 20"/>
          <p:cNvSpPr/>
          <p:nvPr/>
        </p:nvSpPr>
        <p:spPr>
          <a:xfrm>
            <a:off x="9299448" y="3429000"/>
            <a:ext cx="1737360" cy="384048"/>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training cannot find it</a:t>
            </a:r>
            <a:endParaRPr lang="en-US" sz="1200" dirty="0"/>
          </a:p>
        </p:txBody>
      </p:sp>
      <p:sp>
        <p:nvSpPr>
          <p:cNvPr id="23" name="Text 21"/>
          <p:cNvSpPr/>
          <p:nvPr/>
        </p:nvSpPr>
        <p:spPr>
          <a:xfrm>
            <a:off x="868680" y="4919472"/>
            <a:ext cx="10241280" cy="502920"/>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This is exactly the distinction between “can compute” and “can learn efficiently.”</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 motivating example: syllogism composition</a:t>
            </a:r>
            <a:endParaRPr lang="en-US" sz="2500" dirty="0"/>
          </a:p>
        </p:txBody>
      </p:sp>
      <p:sp>
        <p:nvSpPr>
          <p:cNvPr id="3" name="Text 1"/>
          <p:cNvSpPr/>
          <p:nvPr/>
        </p:nvSpPr>
        <p:spPr>
          <a:xfrm>
            <a:off x="731520" y="1207008"/>
            <a:ext cx="3108960" cy="320040"/>
          </a:xfrm>
          <a:prstGeom prst="rect">
            <a:avLst/>
          </a:prstGeom>
          <a:noFill/>
          <a:ln/>
        </p:spPr>
        <p:txBody>
          <a:bodyPr wrap="square" lIns="635" tIns="635" rIns="635" bIns="635" rtlCol="0" anchor="ctr">
            <a:normAutofit/>
          </a:bodyPr>
          <a:lstStyle/>
          <a:p>
            <a:pPr algn="l" indent="0" marL="0">
              <a:buNone/>
            </a:pPr>
            <a:r>
              <a:rPr lang="en-US" sz="1600" b="1" dirty="0">
                <a:solidFill>
                  <a:srgbClr val="52606D"/>
                </a:solidFill>
                <a:latin typeface="Aptos" pitchFamily="34" charset="0"/>
                <a:ea typeface="Aptos" pitchFamily="34" charset="-122"/>
                <a:cs typeface="Aptos" pitchFamily="34" charset="-120"/>
              </a:rPr>
              <a:t>Given established implications…</a:t>
            </a:r>
            <a:endParaRPr lang="en-US" sz="1600" dirty="0"/>
          </a:p>
        </p:txBody>
      </p:sp>
      <p:sp>
        <p:nvSpPr>
          <p:cNvPr id="4" name="Shape 2"/>
          <p:cNvSpPr/>
          <p:nvPr/>
        </p:nvSpPr>
        <p:spPr>
          <a:xfrm>
            <a:off x="868680" y="1828800"/>
            <a:ext cx="1097280" cy="384048"/>
          </a:xfrm>
          <a:prstGeom prst="roundRect">
            <a:avLst>
              <a:gd name="adj" fmla="val 19048"/>
            </a:avLst>
          </a:prstGeom>
          <a:solidFill>
            <a:srgbClr val="FFFFFF"/>
          </a:solidFill>
          <a:ln w="12700">
            <a:solidFill>
              <a:srgbClr val="CBD5E1"/>
            </a:solidFill>
            <a:prstDash val="solid"/>
          </a:ln>
        </p:spPr>
      </p:sp>
      <p:sp>
        <p:nvSpPr>
          <p:cNvPr id="5" name="Text 3"/>
          <p:cNvSpPr/>
          <p:nvPr/>
        </p:nvSpPr>
        <p:spPr>
          <a:xfrm>
            <a:off x="868680" y="1847088"/>
            <a:ext cx="10972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 → b</a:t>
            </a:r>
            <a:endParaRPr lang="en-US" sz="1300" dirty="0"/>
          </a:p>
        </p:txBody>
      </p:sp>
      <p:sp>
        <p:nvSpPr>
          <p:cNvPr id="6" name="Shape 4"/>
          <p:cNvSpPr/>
          <p:nvPr/>
        </p:nvSpPr>
        <p:spPr>
          <a:xfrm>
            <a:off x="2148840" y="1828800"/>
            <a:ext cx="1097280" cy="384048"/>
          </a:xfrm>
          <a:prstGeom prst="roundRect">
            <a:avLst>
              <a:gd name="adj" fmla="val 19048"/>
            </a:avLst>
          </a:prstGeom>
          <a:solidFill>
            <a:srgbClr val="FFFFFF"/>
          </a:solidFill>
          <a:ln w="12700">
            <a:solidFill>
              <a:srgbClr val="CBD5E1"/>
            </a:solidFill>
            <a:prstDash val="solid"/>
          </a:ln>
        </p:spPr>
      </p:sp>
      <p:sp>
        <p:nvSpPr>
          <p:cNvPr id="7" name="Text 5"/>
          <p:cNvSpPr/>
          <p:nvPr/>
        </p:nvSpPr>
        <p:spPr>
          <a:xfrm>
            <a:off x="2148840" y="1847088"/>
            <a:ext cx="10972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 → c</a:t>
            </a:r>
            <a:endParaRPr lang="en-US" sz="1300" dirty="0"/>
          </a:p>
        </p:txBody>
      </p:sp>
      <p:sp>
        <p:nvSpPr>
          <p:cNvPr id="8" name="Shape 6"/>
          <p:cNvSpPr/>
          <p:nvPr/>
        </p:nvSpPr>
        <p:spPr>
          <a:xfrm>
            <a:off x="3429000" y="1828800"/>
            <a:ext cx="1097280" cy="384048"/>
          </a:xfrm>
          <a:prstGeom prst="roundRect">
            <a:avLst>
              <a:gd name="adj" fmla="val 19048"/>
            </a:avLst>
          </a:prstGeom>
          <a:solidFill>
            <a:srgbClr val="FFFFFF"/>
          </a:solidFill>
          <a:ln w="12700">
            <a:solidFill>
              <a:srgbClr val="CBD5E1"/>
            </a:solidFill>
            <a:prstDash val="solid"/>
          </a:ln>
        </p:spPr>
      </p:sp>
      <p:sp>
        <p:nvSpPr>
          <p:cNvPr id="9" name="Text 7"/>
          <p:cNvSpPr/>
          <p:nvPr/>
        </p:nvSpPr>
        <p:spPr>
          <a:xfrm>
            <a:off x="3429000" y="1847088"/>
            <a:ext cx="10972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c → d</a:t>
            </a:r>
            <a:endParaRPr lang="en-US" sz="1300" dirty="0"/>
          </a:p>
        </p:txBody>
      </p:sp>
      <p:sp>
        <p:nvSpPr>
          <p:cNvPr id="10" name="Shape 8"/>
          <p:cNvSpPr/>
          <p:nvPr/>
        </p:nvSpPr>
        <p:spPr>
          <a:xfrm>
            <a:off x="4892040" y="2029968"/>
            <a:ext cx="868680" cy="0"/>
          </a:xfrm>
          <a:prstGeom prst="line">
            <a:avLst/>
          </a:prstGeom>
          <a:noFill/>
          <a:ln w="38100">
            <a:solidFill>
              <a:srgbClr val="2563EB"/>
            </a:solidFill>
            <a:prstDash val="solid"/>
            <a:headEnd type="none"/>
            <a:tailEnd type="triangle"/>
          </a:ln>
        </p:spPr>
      </p:sp>
      <p:sp>
        <p:nvSpPr>
          <p:cNvPr id="11" name="Shape 9"/>
          <p:cNvSpPr/>
          <p:nvPr/>
        </p:nvSpPr>
        <p:spPr>
          <a:xfrm>
            <a:off x="5897880" y="1417320"/>
            <a:ext cx="4983480" cy="1325880"/>
          </a:xfrm>
          <a:prstGeom prst="roundRect">
            <a:avLst>
              <a:gd name="adj" fmla="val 4138"/>
            </a:avLst>
          </a:prstGeom>
          <a:solidFill>
            <a:srgbClr val="EFF6FF"/>
          </a:solidFill>
          <a:ln w="12700">
            <a:solidFill>
              <a:srgbClr val="BFDBFE"/>
            </a:solidFill>
            <a:prstDash val="solid"/>
          </a:ln>
        </p:spPr>
      </p:sp>
      <p:sp>
        <p:nvSpPr>
          <p:cNvPr id="12" name="Text 10"/>
          <p:cNvSpPr/>
          <p:nvPr/>
        </p:nvSpPr>
        <p:spPr>
          <a:xfrm>
            <a:off x="6126480" y="1627632"/>
            <a:ext cx="914400" cy="256032"/>
          </a:xfrm>
          <a:prstGeom prst="rect">
            <a:avLst/>
          </a:prstGeom>
          <a:noFill/>
          <a:ln/>
        </p:spPr>
        <p:txBody>
          <a:bodyPr wrap="square" lIns="635" tIns="635" rIns="635" bIns="635" rtlCol="0" anchor="ctr">
            <a:normAutofit/>
          </a:bodyPr>
          <a:lstStyle/>
          <a:p>
            <a:pPr algn="l" indent="0" marL="0">
              <a:buNone/>
            </a:pPr>
            <a:r>
              <a:rPr lang="en-US" sz="1100" b="1" dirty="0">
                <a:solidFill>
                  <a:srgbClr val="2563EB"/>
                </a:solidFill>
                <a:latin typeface="Aptos" pitchFamily="34" charset="0"/>
                <a:ea typeface="Aptos" pitchFamily="34" charset="-122"/>
                <a:cs typeface="Aptos" pitchFamily="34" charset="-120"/>
              </a:rPr>
              <a:t>QUERY</a:t>
            </a:r>
            <a:endParaRPr lang="en-US" sz="1100" dirty="0"/>
          </a:p>
        </p:txBody>
      </p:sp>
      <p:sp>
        <p:nvSpPr>
          <p:cNvPr id="13" name="Text 11"/>
          <p:cNvSpPr/>
          <p:nvPr/>
        </p:nvSpPr>
        <p:spPr>
          <a:xfrm>
            <a:off x="6080760" y="1965960"/>
            <a:ext cx="4480560" cy="457200"/>
          </a:xfrm>
          <a:prstGeom prst="rect">
            <a:avLst/>
          </a:prstGeom>
          <a:noFill/>
          <a:ln/>
        </p:spPr>
        <p:txBody>
          <a:bodyPr wrap="square" lIns="635" tIns="635" rIns="635" bIns="635" rtlCol="0" anchor="ctr">
            <a:normAutofit/>
          </a:bodyPr>
          <a:lstStyle/>
          <a:p>
            <a:pPr algn="ctr" indent="0" marL="0">
              <a:buNone/>
            </a:pPr>
            <a:r>
              <a:rPr lang="en-US" sz="2400" b="1" dirty="0">
                <a:solidFill>
                  <a:srgbClr val="102A43"/>
                </a:solidFill>
                <a:latin typeface="Aptos" pitchFamily="34" charset="0"/>
                <a:ea typeface="Aptos" pitchFamily="34" charset="-122"/>
                <a:cs typeface="Aptos" pitchFamily="34" charset="-120"/>
              </a:rPr>
              <a:t>Can we infer a → d?</a:t>
            </a:r>
            <a:endParaRPr lang="en-US" sz="2400" dirty="0"/>
          </a:p>
        </p:txBody>
      </p:sp>
      <p:sp>
        <p:nvSpPr>
          <p:cNvPr id="14" name="Text 12"/>
          <p:cNvSpPr/>
          <p:nvPr/>
        </p:nvSpPr>
        <p:spPr>
          <a:xfrm>
            <a:off x="777240" y="3337560"/>
            <a:ext cx="10561320" cy="411480"/>
          </a:xfrm>
          <a:prstGeom prst="rect">
            <a:avLst/>
          </a:prstGeom>
          <a:noFill/>
          <a:ln/>
        </p:spPr>
        <p:txBody>
          <a:bodyPr wrap="square" lIns="635" tIns="635" rIns="635" bIns="635" rtlCol="0" anchor="ctr">
            <a:normAutofit/>
          </a:bodyPr>
          <a:lstStyle/>
          <a:p>
            <a:pPr algn="ctr" indent="0" marL="0">
              <a:buNone/>
            </a:pPr>
            <a:r>
              <a:rPr lang="en-US" sz="1800" dirty="0">
                <a:solidFill>
                  <a:srgbClr val="102A43"/>
                </a:solidFill>
                <a:latin typeface="Aptos" pitchFamily="34" charset="0"/>
                <a:ea typeface="Aptos" pitchFamily="34" charset="-122"/>
                <a:cs typeface="Aptos" pitchFamily="34" charset="-120"/>
              </a:rPr>
              <a:t>Long chains mean the answer depends on many composed facts.</a:t>
            </a:r>
            <a:endParaRPr lang="en-US" sz="1800" dirty="0"/>
          </a:p>
        </p:txBody>
      </p:sp>
      <p:sp>
        <p:nvSpPr>
          <p:cNvPr id="15" name="Text 13"/>
          <p:cNvSpPr/>
          <p:nvPr/>
        </p:nvSpPr>
        <p:spPr>
          <a:xfrm>
            <a:off x="1325880" y="4160520"/>
            <a:ext cx="9601200" cy="41148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The paper turns this intuition into a clean graph problem: path connectivity.</a:t>
            </a:r>
            <a:endParaRPr lang="en-US" sz="1600" dirty="0"/>
          </a:p>
        </p:txBody>
      </p:sp>
      <p:sp>
        <p:nvSpPr>
          <p:cNvPr id="16" name="Shape 14"/>
          <p:cNvSpPr/>
          <p:nvPr/>
        </p:nvSpPr>
        <p:spPr>
          <a:xfrm>
            <a:off x="1828800" y="4892040"/>
            <a:ext cx="457200" cy="457200"/>
          </a:xfrm>
          <a:prstGeom prst="ellipse">
            <a:avLst/>
          </a:prstGeom>
          <a:solidFill>
            <a:srgbClr val="2563EB"/>
          </a:solidFill>
          <a:ln w="12700">
            <a:solidFill>
              <a:srgbClr val="2563EB"/>
            </a:solidFill>
            <a:prstDash val="solid"/>
          </a:ln>
        </p:spPr>
      </p:sp>
      <p:sp>
        <p:nvSpPr>
          <p:cNvPr id="17" name="Text 15"/>
          <p:cNvSpPr/>
          <p:nvPr/>
        </p:nvSpPr>
        <p:spPr>
          <a:xfrm>
            <a:off x="1828800"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a:t>
            </a:r>
            <a:endParaRPr lang="en-US" sz="1200" dirty="0"/>
          </a:p>
        </p:txBody>
      </p:sp>
      <p:sp>
        <p:nvSpPr>
          <p:cNvPr id="18" name="Shape 16"/>
          <p:cNvSpPr/>
          <p:nvPr/>
        </p:nvSpPr>
        <p:spPr>
          <a:xfrm>
            <a:off x="2286000" y="5120640"/>
            <a:ext cx="804672" cy="0"/>
          </a:xfrm>
          <a:prstGeom prst="line">
            <a:avLst/>
          </a:prstGeom>
          <a:noFill/>
          <a:ln w="25400">
            <a:solidFill>
              <a:srgbClr val="2563EB"/>
            </a:solidFill>
            <a:prstDash val="solid"/>
            <a:headEnd type="none"/>
            <a:tailEnd type="triangle"/>
          </a:ln>
        </p:spPr>
      </p:sp>
      <p:sp>
        <p:nvSpPr>
          <p:cNvPr id="19" name="Shape 17"/>
          <p:cNvSpPr/>
          <p:nvPr/>
        </p:nvSpPr>
        <p:spPr>
          <a:xfrm>
            <a:off x="3090672" y="4892040"/>
            <a:ext cx="457200" cy="457200"/>
          </a:xfrm>
          <a:prstGeom prst="ellipse">
            <a:avLst/>
          </a:prstGeom>
          <a:solidFill>
            <a:srgbClr val="2563EB"/>
          </a:solidFill>
          <a:ln w="12700">
            <a:solidFill>
              <a:srgbClr val="2563EB"/>
            </a:solidFill>
            <a:prstDash val="solid"/>
          </a:ln>
        </p:spPr>
      </p:sp>
      <p:sp>
        <p:nvSpPr>
          <p:cNvPr id="20" name="Text 18"/>
          <p:cNvSpPr/>
          <p:nvPr/>
        </p:nvSpPr>
        <p:spPr>
          <a:xfrm>
            <a:off x="3090672"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b</a:t>
            </a:r>
            <a:endParaRPr lang="en-US" sz="1200" dirty="0"/>
          </a:p>
        </p:txBody>
      </p:sp>
      <p:sp>
        <p:nvSpPr>
          <p:cNvPr id="21" name="Shape 19"/>
          <p:cNvSpPr/>
          <p:nvPr/>
        </p:nvSpPr>
        <p:spPr>
          <a:xfrm>
            <a:off x="3547872" y="5120640"/>
            <a:ext cx="804672" cy="0"/>
          </a:xfrm>
          <a:prstGeom prst="line">
            <a:avLst/>
          </a:prstGeom>
          <a:noFill/>
          <a:ln w="25400">
            <a:solidFill>
              <a:srgbClr val="2563EB"/>
            </a:solidFill>
            <a:prstDash val="solid"/>
            <a:headEnd type="none"/>
            <a:tailEnd type="triangle"/>
          </a:ln>
        </p:spPr>
      </p:sp>
      <p:sp>
        <p:nvSpPr>
          <p:cNvPr id="22" name="Shape 20"/>
          <p:cNvSpPr/>
          <p:nvPr/>
        </p:nvSpPr>
        <p:spPr>
          <a:xfrm>
            <a:off x="4352544" y="4892040"/>
            <a:ext cx="457200" cy="457200"/>
          </a:xfrm>
          <a:prstGeom prst="ellipse">
            <a:avLst/>
          </a:prstGeom>
          <a:solidFill>
            <a:srgbClr val="2563EB"/>
          </a:solidFill>
          <a:ln w="12700">
            <a:solidFill>
              <a:srgbClr val="2563EB"/>
            </a:solidFill>
            <a:prstDash val="solid"/>
          </a:ln>
        </p:spPr>
      </p:sp>
      <p:sp>
        <p:nvSpPr>
          <p:cNvPr id="23" name="Text 21"/>
          <p:cNvSpPr/>
          <p:nvPr/>
        </p:nvSpPr>
        <p:spPr>
          <a:xfrm>
            <a:off x="4352544"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c</a:t>
            </a:r>
            <a:endParaRPr lang="en-US" sz="1200" dirty="0"/>
          </a:p>
        </p:txBody>
      </p:sp>
      <p:sp>
        <p:nvSpPr>
          <p:cNvPr id="24" name="Shape 22"/>
          <p:cNvSpPr/>
          <p:nvPr/>
        </p:nvSpPr>
        <p:spPr>
          <a:xfrm>
            <a:off x="4809744" y="5120640"/>
            <a:ext cx="804672" cy="0"/>
          </a:xfrm>
          <a:prstGeom prst="line">
            <a:avLst/>
          </a:prstGeom>
          <a:noFill/>
          <a:ln w="25400">
            <a:solidFill>
              <a:srgbClr val="2563EB"/>
            </a:solidFill>
            <a:prstDash val="solid"/>
            <a:headEnd type="none"/>
            <a:tailEnd type="triangle"/>
          </a:ln>
        </p:spPr>
      </p:sp>
      <p:sp>
        <p:nvSpPr>
          <p:cNvPr id="25" name="Shape 23"/>
          <p:cNvSpPr/>
          <p:nvPr/>
        </p:nvSpPr>
        <p:spPr>
          <a:xfrm>
            <a:off x="5614416" y="4892040"/>
            <a:ext cx="457200" cy="457200"/>
          </a:xfrm>
          <a:prstGeom prst="ellipse">
            <a:avLst/>
          </a:prstGeom>
          <a:solidFill>
            <a:srgbClr val="2563EB"/>
          </a:solidFill>
          <a:ln w="12700">
            <a:solidFill>
              <a:srgbClr val="2563EB"/>
            </a:solidFill>
            <a:prstDash val="solid"/>
          </a:ln>
        </p:spPr>
      </p:sp>
      <p:sp>
        <p:nvSpPr>
          <p:cNvPr id="26" name="Text 24"/>
          <p:cNvSpPr/>
          <p:nvPr/>
        </p:nvSpPr>
        <p:spPr>
          <a:xfrm>
            <a:off x="5614416"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d</a:t>
            </a:r>
            <a:endParaRPr lang="en-US" sz="1200" dirty="0"/>
          </a:p>
        </p:txBody>
      </p:sp>
      <p:sp>
        <p:nvSpPr>
          <p:cNvPr id="27" name="Shape 25"/>
          <p:cNvSpPr/>
          <p:nvPr/>
        </p:nvSpPr>
        <p:spPr>
          <a:xfrm>
            <a:off x="6071616" y="5120640"/>
            <a:ext cx="804672" cy="0"/>
          </a:xfrm>
          <a:prstGeom prst="line">
            <a:avLst/>
          </a:prstGeom>
          <a:noFill/>
          <a:ln w="25400">
            <a:solidFill>
              <a:srgbClr val="2563EB"/>
            </a:solidFill>
            <a:prstDash val="solid"/>
            <a:headEnd type="none"/>
            <a:tailEnd type="triangle"/>
          </a:ln>
        </p:spPr>
      </p:sp>
      <p:sp>
        <p:nvSpPr>
          <p:cNvPr id="28" name="Shape 26"/>
          <p:cNvSpPr/>
          <p:nvPr/>
        </p:nvSpPr>
        <p:spPr>
          <a:xfrm>
            <a:off x="6876288" y="4892040"/>
            <a:ext cx="457200" cy="457200"/>
          </a:xfrm>
          <a:prstGeom prst="ellipse">
            <a:avLst/>
          </a:prstGeom>
          <a:solidFill>
            <a:srgbClr val="2563EB"/>
          </a:solidFill>
          <a:ln w="12700">
            <a:solidFill>
              <a:srgbClr val="2563EB"/>
            </a:solidFill>
            <a:prstDash val="solid"/>
          </a:ln>
        </p:spPr>
      </p:sp>
      <p:sp>
        <p:nvSpPr>
          <p:cNvPr id="29" name="Text 27"/>
          <p:cNvSpPr/>
          <p:nvPr/>
        </p:nvSpPr>
        <p:spPr>
          <a:xfrm>
            <a:off x="6876288"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e</a:t>
            </a:r>
            <a:endParaRPr lang="en-US" sz="1200" dirty="0"/>
          </a:p>
        </p:txBody>
      </p:sp>
      <p:sp>
        <p:nvSpPr>
          <p:cNvPr id="30" name="Shape 28"/>
          <p:cNvSpPr/>
          <p:nvPr/>
        </p:nvSpPr>
        <p:spPr>
          <a:xfrm>
            <a:off x="7333488" y="5120640"/>
            <a:ext cx="804672" cy="0"/>
          </a:xfrm>
          <a:prstGeom prst="line">
            <a:avLst/>
          </a:prstGeom>
          <a:noFill/>
          <a:ln w="25400">
            <a:solidFill>
              <a:srgbClr val="2563EB"/>
            </a:solidFill>
            <a:prstDash val="solid"/>
            <a:headEnd type="none"/>
            <a:tailEnd type="triangle"/>
          </a:ln>
        </p:spPr>
      </p:sp>
      <p:sp>
        <p:nvSpPr>
          <p:cNvPr id="31" name="Shape 29"/>
          <p:cNvSpPr/>
          <p:nvPr/>
        </p:nvSpPr>
        <p:spPr>
          <a:xfrm>
            <a:off x="8138160" y="4892040"/>
            <a:ext cx="457200" cy="457200"/>
          </a:xfrm>
          <a:prstGeom prst="ellipse">
            <a:avLst/>
          </a:prstGeom>
          <a:solidFill>
            <a:srgbClr val="F97316"/>
          </a:solidFill>
          <a:ln w="12700">
            <a:solidFill>
              <a:srgbClr val="F97316"/>
            </a:solidFill>
            <a:prstDash val="solid"/>
          </a:ln>
        </p:spPr>
      </p:sp>
      <p:sp>
        <p:nvSpPr>
          <p:cNvPr id="32" name="Text 30"/>
          <p:cNvSpPr/>
          <p:nvPr/>
        </p:nvSpPr>
        <p:spPr>
          <a:xfrm>
            <a:off x="8138160" y="491032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f</a:t>
            </a:r>
            <a:endParaRPr lang="en-US" sz="12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Then the authors remove easy shortcuts</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cycle task isolates genuinely global reasoning.</a:t>
            </a:r>
            <a:endParaRPr lang="en-US" sz="1200" dirty="0"/>
          </a:p>
        </p:txBody>
      </p:sp>
      <p:sp>
        <p:nvSpPr>
          <p:cNvPr id="4" name="Text 2"/>
          <p:cNvSpPr/>
          <p:nvPr/>
        </p:nvSpPr>
        <p:spPr>
          <a:xfrm>
            <a:off x="914400" y="1234440"/>
            <a:ext cx="2011680" cy="320040"/>
          </a:xfrm>
          <a:prstGeom prst="rect">
            <a:avLst/>
          </a:prstGeom>
          <a:noFill/>
          <a:ln/>
        </p:spPr>
        <p:txBody>
          <a:bodyPr wrap="square" lIns="635" tIns="635" rIns="635" bIns="635" rtlCol="0" anchor="ctr">
            <a:normAutofit/>
          </a:bodyPr>
          <a:lstStyle/>
          <a:p>
            <a:pPr algn="ctr" indent="0" marL="0">
              <a:buNone/>
            </a:pPr>
            <a:r>
              <a:rPr lang="en-US" sz="1600" b="1" dirty="0">
                <a:solidFill>
                  <a:srgbClr val="2563EB"/>
                </a:solidFill>
                <a:latin typeface="Aptos" pitchFamily="34" charset="0"/>
                <a:ea typeface="Aptos" pitchFamily="34" charset="-122"/>
                <a:cs typeface="Aptos" pitchFamily="34" charset="-120"/>
              </a:rPr>
              <a:t>Class 1</a:t>
            </a:r>
            <a:endParaRPr lang="en-US" sz="1600" dirty="0"/>
          </a:p>
        </p:txBody>
      </p:sp>
      <p:sp>
        <p:nvSpPr>
          <p:cNvPr id="5" name="Text 3"/>
          <p:cNvSpPr/>
          <p:nvPr/>
        </p:nvSpPr>
        <p:spPr>
          <a:xfrm>
            <a:off x="822960" y="1572768"/>
            <a:ext cx="2194560" cy="32004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two disjoint cycles</a:t>
            </a:r>
            <a:endParaRPr lang="en-US" sz="1500" dirty="0"/>
          </a:p>
        </p:txBody>
      </p:sp>
      <p:sp>
        <p:nvSpPr>
          <p:cNvPr id="6" name="Shape 4"/>
          <p:cNvSpPr/>
          <p:nvPr/>
        </p:nvSpPr>
        <p:spPr>
          <a:xfrm>
            <a:off x="1005840" y="2286000"/>
            <a:ext cx="164592" cy="164592"/>
          </a:xfrm>
          <a:prstGeom prst="ellipse">
            <a:avLst/>
          </a:prstGeom>
          <a:solidFill>
            <a:srgbClr val="2563EB"/>
          </a:solidFill>
          <a:ln w="12700">
            <a:solidFill>
              <a:srgbClr val="2563EB"/>
            </a:solidFill>
            <a:prstDash val="solid"/>
          </a:ln>
        </p:spPr>
      </p:sp>
      <p:sp>
        <p:nvSpPr>
          <p:cNvPr id="7" name="Text 5"/>
          <p:cNvSpPr/>
          <p:nvPr/>
        </p:nvSpPr>
        <p:spPr>
          <a:xfrm>
            <a:off x="1005840" y="230428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8" name="Shape 6"/>
          <p:cNvSpPr/>
          <p:nvPr/>
        </p:nvSpPr>
        <p:spPr>
          <a:xfrm>
            <a:off x="1737360" y="1965960"/>
            <a:ext cx="164592" cy="164592"/>
          </a:xfrm>
          <a:prstGeom prst="ellipse">
            <a:avLst/>
          </a:prstGeom>
          <a:solidFill>
            <a:srgbClr val="2563EB"/>
          </a:solidFill>
          <a:ln w="12700">
            <a:solidFill>
              <a:srgbClr val="2563EB"/>
            </a:solidFill>
            <a:prstDash val="solid"/>
          </a:ln>
        </p:spPr>
      </p:sp>
      <p:sp>
        <p:nvSpPr>
          <p:cNvPr id="9" name="Text 7"/>
          <p:cNvSpPr/>
          <p:nvPr/>
        </p:nvSpPr>
        <p:spPr>
          <a:xfrm>
            <a:off x="1737360" y="198424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10" name="Shape 8"/>
          <p:cNvSpPr/>
          <p:nvPr/>
        </p:nvSpPr>
        <p:spPr>
          <a:xfrm>
            <a:off x="2468880" y="2286000"/>
            <a:ext cx="164592" cy="164592"/>
          </a:xfrm>
          <a:prstGeom prst="ellipse">
            <a:avLst/>
          </a:prstGeom>
          <a:solidFill>
            <a:srgbClr val="2563EB"/>
          </a:solidFill>
          <a:ln w="12700">
            <a:solidFill>
              <a:srgbClr val="2563EB"/>
            </a:solidFill>
            <a:prstDash val="solid"/>
          </a:ln>
        </p:spPr>
      </p:sp>
      <p:sp>
        <p:nvSpPr>
          <p:cNvPr id="11" name="Text 9"/>
          <p:cNvSpPr/>
          <p:nvPr/>
        </p:nvSpPr>
        <p:spPr>
          <a:xfrm>
            <a:off x="2468880" y="230428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12" name="Shape 10"/>
          <p:cNvSpPr/>
          <p:nvPr/>
        </p:nvSpPr>
        <p:spPr>
          <a:xfrm>
            <a:off x="2286000" y="2971800"/>
            <a:ext cx="164592" cy="164592"/>
          </a:xfrm>
          <a:prstGeom prst="ellipse">
            <a:avLst/>
          </a:prstGeom>
          <a:solidFill>
            <a:srgbClr val="2563EB"/>
          </a:solidFill>
          <a:ln w="12700">
            <a:solidFill>
              <a:srgbClr val="2563EB"/>
            </a:solidFill>
            <a:prstDash val="solid"/>
          </a:ln>
        </p:spPr>
      </p:sp>
      <p:sp>
        <p:nvSpPr>
          <p:cNvPr id="13" name="Text 11"/>
          <p:cNvSpPr/>
          <p:nvPr/>
        </p:nvSpPr>
        <p:spPr>
          <a:xfrm>
            <a:off x="2286000" y="299008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14" name="Shape 12"/>
          <p:cNvSpPr/>
          <p:nvPr/>
        </p:nvSpPr>
        <p:spPr>
          <a:xfrm>
            <a:off x="1554480" y="3154680"/>
            <a:ext cx="164592" cy="164592"/>
          </a:xfrm>
          <a:prstGeom prst="ellipse">
            <a:avLst/>
          </a:prstGeom>
          <a:solidFill>
            <a:srgbClr val="2563EB"/>
          </a:solidFill>
          <a:ln w="12700">
            <a:solidFill>
              <a:srgbClr val="2563EB"/>
            </a:solidFill>
            <a:prstDash val="solid"/>
          </a:ln>
        </p:spPr>
      </p:sp>
      <p:sp>
        <p:nvSpPr>
          <p:cNvPr id="15" name="Text 13"/>
          <p:cNvSpPr/>
          <p:nvPr/>
        </p:nvSpPr>
        <p:spPr>
          <a:xfrm>
            <a:off x="1554480" y="317296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16" name="Shape 14"/>
          <p:cNvSpPr/>
          <p:nvPr/>
        </p:nvSpPr>
        <p:spPr>
          <a:xfrm>
            <a:off x="914400" y="2880360"/>
            <a:ext cx="164592" cy="164592"/>
          </a:xfrm>
          <a:prstGeom prst="ellipse">
            <a:avLst/>
          </a:prstGeom>
          <a:solidFill>
            <a:srgbClr val="2563EB"/>
          </a:solidFill>
          <a:ln w="12700">
            <a:solidFill>
              <a:srgbClr val="2563EB"/>
            </a:solidFill>
            <a:prstDash val="solid"/>
          </a:ln>
        </p:spPr>
      </p:sp>
      <p:sp>
        <p:nvSpPr>
          <p:cNvPr id="17" name="Text 15"/>
          <p:cNvSpPr/>
          <p:nvPr/>
        </p:nvSpPr>
        <p:spPr>
          <a:xfrm>
            <a:off x="914400" y="289864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18" name="Shape 16"/>
          <p:cNvSpPr/>
          <p:nvPr/>
        </p:nvSpPr>
        <p:spPr>
          <a:xfrm>
            <a:off x="1170432" y="2359152"/>
            <a:ext cx="566928" cy="-320040"/>
          </a:xfrm>
          <a:prstGeom prst="line">
            <a:avLst/>
          </a:prstGeom>
          <a:noFill/>
          <a:ln w="19050">
            <a:solidFill>
              <a:srgbClr val="2563EB"/>
            </a:solidFill>
            <a:prstDash val="solid"/>
            <a:headEnd type="none"/>
            <a:tailEnd type="triangle"/>
          </a:ln>
        </p:spPr>
      </p:sp>
      <p:sp>
        <p:nvSpPr>
          <p:cNvPr id="19" name="Shape 17"/>
          <p:cNvSpPr/>
          <p:nvPr/>
        </p:nvSpPr>
        <p:spPr>
          <a:xfrm>
            <a:off x="1901952" y="2039112"/>
            <a:ext cx="566928" cy="320040"/>
          </a:xfrm>
          <a:prstGeom prst="line">
            <a:avLst/>
          </a:prstGeom>
          <a:noFill/>
          <a:ln w="19050">
            <a:solidFill>
              <a:srgbClr val="2563EB"/>
            </a:solidFill>
            <a:prstDash val="solid"/>
            <a:headEnd type="none"/>
            <a:tailEnd type="triangle"/>
          </a:ln>
        </p:spPr>
      </p:sp>
      <p:sp>
        <p:nvSpPr>
          <p:cNvPr id="20" name="Shape 18"/>
          <p:cNvSpPr/>
          <p:nvPr/>
        </p:nvSpPr>
        <p:spPr>
          <a:xfrm>
            <a:off x="2633472" y="2359152"/>
            <a:ext cx="-347472" cy="685800"/>
          </a:xfrm>
          <a:prstGeom prst="line">
            <a:avLst/>
          </a:prstGeom>
          <a:noFill/>
          <a:ln w="19050">
            <a:solidFill>
              <a:srgbClr val="2563EB"/>
            </a:solidFill>
            <a:prstDash val="solid"/>
            <a:headEnd type="none"/>
            <a:tailEnd type="triangle"/>
          </a:ln>
        </p:spPr>
      </p:sp>
      <p:sp>
        <p:nvSpPr>
          <p:cNvPr id="21" name="Shape 19"/>
          <p:cNvSpPr/>
          <p:nvPr/>
        </p:nvSpPr>
        <p:spPr>
          <a:xfrm>
            <a:off x="2450592" y="3044952"/>
            <a:ext cx="-896112" cy="182880"/>
          </a:xfrm>
          <a:prstGeom prst="line">
            <a:avLst/>
          </a:prstGeom>
          <a:noFill/>
          <a:ln w="19050">
            <a:solidFill>
              <a:srgbClr val="2563EB"/>
            </a:solidFill>
            <a:prstDash val="solid"/>
            <a:headEnd type="none"/>
            <a:tailEnd type="triangle"/>
          </a:ln>
        </p:spPr>
      </p:sp>
      <p:sp>
        <p:nvSpPr>
          <p:cNvPr id="22" name="Shape 20"/>
          <p:cNvSpPr/>
          <p:nvPr/>
        </p:nvSpPr>
        <p:spPr>
          <a:xfrm>
            <a:off x="1719072" y="3227832"/>
            <a:ext cx="-804672" cy="-274320"/>
          </a:xfrm>
          <a:prstGeom prst="line">
            <a:avLst/>
          </a:prstGeom>
          <a:noFill/>
          <a:ln w="19050">
            <a:solidFill>
              <a:srgbClr val="2563EB"/>
            </a:solidFill>
            <a:prstDash val="solid"/>
            <a:headEnd type="none"/>
            <a:tailEnd type="triangle"/>
          </a:ln>
        </p:spPr>
      </p:sp>
      <p:sp>
        <p:nvSpPr>
          <p:cNvPr id="23" name="Shape 21"/>
          <p:cNvSpPr/>
          <p:nvPr/>
        </p:nvSpPr>
        <p:spPr>
          <a:xfrm>
            <a:off x="1078992" y="2953512"/>
            <a:ext cx="-73152" cy="-594360"/>
          </a:xfrm>
          <a:prstGeom prst="line">
            <a:avLst/>
          </a:prstGeom>
          <a:noFill/>
          <a:ln w="19050">
            <a:solidFill>
              <a:srgbClr val="2563EB"/>
            </a:solidFill>
            <a:prstDash val="solid"/>
            <a:headEnd type="none"/>
            <a:tailEnd type="triangle"/>
          </a:ln>
        </p:spPr>
      </p:sp>
      <p:sp>
        <p:nvSpPr>
          <p:cNvPr id="24" name="Text 22"/>
          <p:cNvSpPr/>
          <p:nvPr/>
        </p:nvSpPr>
        <p:spPr>
          <a:xfrm>
            <a:off x="685800" y="3794760"/>
            <a:ext cx="2743200" cy="502920"/>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query nodes live in different cycles</a:t>
            </a:r>
            <a:endParaRPr lang="en-US" sz="1300" dirty="0"/>
          </a:p>
        </p:txBody>
      </p:sp>
      <p:sp>
        <p:nvSpPr>
          <p:cNvPr id="25" name="Text 23"/>
          <p:cNvSpPr/>
          <p:nvPr/>
        </p:nvSpPr>
        <p:spPr>
          <a:xfrm>
            <a:off x="5029200" y="1234440"/>
            <a:ext cx="2011680" cy="320040"/>
          </a:xfrm>
          <a:prstGeom prst="rect">
            <a:avLst/>
          </a:prstGeom>
          <a:noFill/>
          <a:ln/>
        </p:spPr>
        <p:txBody>
          <a:bodyPr wrap="square" lIns="635" tIns="635" rIns="635" bIns="635" rtlCol="0" anchor="ctr">
            <a:normAutofit/>
          </a:bodyPr>
          <a:lstStyle/>
          <a:p>
            <a:pPr algn="ctr" indent="0" marL="0">
              <a:buNone/>
            </a:pPr>
            <a:r>
              <a:rPr lang="en-US" sz="1600" b="1" dirty="0">
                <a:solidFill>
                  <a:srgbClr val="F97316"/>
                </a:solidFill>
                <a:latin typeface="Aptos" pitchFamily="34" charset="0"/>
                <a:ea typeface="Aptos" pitchFamily="34" charset="-122"/>
                <a:cs typeface="Aptos" pitchFamily="34" charset="-120"/>
              </a:rPr>
              <a:t>Class 2</a:t>
            </a:r>
            <a:endParaRPr lang="en-US" sz="1600" dirty="0"/>
          </a:p>
        </p:txBody>
      </p:sp>
      <p:sp>
        <p:nvSpPr>
          <p:cNvPr id="26" name="Text 24"/>
          <p:cNvSpPr/>
          <p:nvPr/>
        </p:nvSpPr>
        <p:spPr>
          <a:xfrm>
            <a:off x="4754880" y="1572768"/>
            <a:ext cx="2560320" cy="32004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one cycle of length 2n</a:t>
            </a:r>
            <a:endParaRPr lang="en-US" sz="1500" dirty="0"/>
          </a:p>
        </p:txBody>
      </p:sp>
      <p:sp>
        <p:nvSpPr>
          <p:cNvPr id="27" name="Shape 25"/>
          <p:cNvSpPr/>
          <p:nvPr/>
        </p:nvSpPr>
        <p:spPr>
          <a:xfrm>
            <a:off x="7315200" y="2743200"/>
            <a:ext cx="164592" cy="164592"/>
          </a:xfrm>
          <a:prstGeom prst="ellipse">
            <a:avLst/>
          </a:prstGeom>
          <a:solidFill>
            <a:srgbClr val="F97316"/>
          </a:solidFill>
          <a:ln w="12700">
            <a:solidFill>
              <a:srgbClr val="F97316"/>
            </a:solidFill>
            <a:prstDash val="solid"/>
          </a:ln>
        </p:spPr>
      </p:sp>
      <p:sp>
        <p:nvSpPr>
          <p:cNvPr id="28" name="Text 26"/>
          <p:cNvSpPr/>
          <p:nvPr/>
        </p:nvSpPr>
        <p:spPr>
          <a:xfrm>
            <a:off x="7315200" y="276148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29" name="Shape 27"/>
          <p:cNvSpPr/>
          <p:nvPr/>
        </p:nvSpPr>
        <p:spPr>
          <a:xfrm>
            <a:off x="7140565" y="3280671"/>
            <a:ext cx="164592" cy="164592"/>
          </a:xfrm>
          <a:prstGeom prst="ellipse">
            <a:avLst/>
          </a:prstGeom>
          <a:solidFill>
            <a:srgbClr val="F97316"/>
          </a:solidFill>
          <a:ln w="12700">
            <a:solidFill>
              <a:srgbClr val="F97316"/>
            </a:solidFill>
            <a:prstDash val="solid"/>
          </a:ln>
        </p:spPr>
      </p:sp>
      <p:sp>
        <p:nvSpPr>
          <p:cNvPr id="30" name="Text 28"/>
          <p:cNvSpPr/>
          <p:nvPr/>
        </p:nvSpPr>
        <p:spPr>
          <a:xfrm>
            <a:off x="7140565" y="3298959"/>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31" name="Shape 29"/>
          <p:cNvSpPr/>
          <p:nvPr/>
        </p:nvSpPr>
        <p:spPr>
          <a:xfrm>
            <a:off x="6683365" y="3612846"/>
            <a:ext cx="164592" cy="164592"/>
          </a:xfrm>
          <a:prstGeom prst="ellipse">
            <a:avLst/>
          </a:prstGeom>
          <a:solidFill>
            <a:srgbClr val="F97316"/>
          </a:solidFill>
          <a:ln w="12700">
            <a:solidFill>
              <a:srgbClr val="F97316"/>
            </a:solidFill>
            <a:prstDash val="solid"/>
          </a:ln>
        </p:spPr>
      </p:sp>
      <p:sp>
        <p:nvSpPr>
          <p:cNvPr id="32" name="Text 30"/>
          <p:cNvSpPr/>
          <p:nvPr/>
        </p:nvSpPr>
        <p:spPr>
          <a:xfrm>
            <a:off x="6683365" y="3631134"/>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33" name="Shape 31"/>
          <p:cNvSpPr/>
          <p:nvPr/>
        </p:nvSpPr>
        <p:spPr>
          <a:xfrm>
            <a:off x="6118235" y="3612846"/>
            <a:ext cx="164592" cy="164592"/>
          </a:xfrm>
          <a:prstGeom prst="ellipse">
            <a:avLst/>
          </a:prstGeom>
          <a:solidFill>
            <a:srgbClr val="F97316"/>
          </a:solidFill>
          <a:ln w="12700">
            <a:solidFill>
              <a:srgbClr val="F97316"/>
            </a:solidFill>
            <a:prstDash val="solid"/>
          </a:ln>
        </p:spPr>
      </p:sp>
      <p:sp>
        <p:nvSpPr>
          <p:cNvPr id="34" name="Text 32"/>
          <p:cNvSpPr/>
          <p:nvPr/>
        </p:nvSpPr>
        <p:spPr>
          <a:xfrm>
            <a:off x="6118235" y="3631134"/>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35" name="Shape 33"/>
          <p:cNvSpPr/>
          <p:nvPr/>
        </p:nvSpPr>
        <p:spPr>
          <a:xfrm>
            <a:off x="5661035" y="3280671"/>
            <a:ext cx="164592" cy="164592"/>
          </a:xfrm>
          <a:prstGeom prst="ellipse">
            <a:avLst/>
          </a:prstGeom>
          <a:solidFill>
            <a:srgbClr val="F97316"/>
          </a:solidFill>
          <a:ln w="12700">
            <a:solidFill>
              <a:srgbClr val="F97316"/>
            </a:solidFill>
            <a:prstDash val="solid"/>
          </a:ln>
        </p:spPr>
      </p:sp>
      <p:sp>
        <p:nvSpPr>
          <p:cNvPr id="36" name="Text 34"/>
          <p:cNvSpPr/>
          <p:nvPr/>
        </p:nvSpPr>
        <p:spPr>
          <a:xfrm>
            <a:off x="5661035" y="3298959"/>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37" name="Shape 35"/>
          <p:cNvSpPr/>
          <p:nvPr/>
        </p:nvSpPr>
        <p:spPr>
          <a:xfrm>
            <a:off x="5486400" y="2743200"/>
            <a:ext cx="164592" cy="164592"/>
          </a:xfrm>
          <a:prstGeom prst="ellipse">
            <a:avLst/>
          </a:prstGeom>
          <a:solidFill>
            <a:srgbClr val="F97316"/>
          </a:solidFill>
          <a:ln w="12700">
            <a:solidFill>
              <a:srgbClr val="F97316"/>
            </a:solidFill>
            <a:prstDash val="solid"/>
          </a:ln>
        </p:spPr>
      </p:sp>
      <p:sp>
        <p:nvSpPr>
          <p:cNvPr id="38" name="Text 36"/>
          <p:cNvSpPr/>
          <p:nvPr/>
        </p:nvSpPr>
        <p:spPr>
          <a:xfrm>
            <a:off x="5486400" y="2761488"/>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39" name="Shape 37"/>
          <p:cNvSpPr/>
          <p:nvPr/>
        </p:nvSpPr>
        <p:spPr>
          <a:xfrm>
            <a:off x="5661035" y="2205729"/>
            <a:ext cx="164592" cy="164592"/>
          </a:xfrm>
          <a:prstGeom prst="ellipse">
            <a:avLst/>
          </a:prstGeom>
          <a:solidFill>
            <a:srgbClr val="F97316"/>
          </a:solidFill>
          <a:ln w="12700">
            <a:solidFill>
              <a:srgbClr val="F97316"/>
            </a:solidFill>
            <a:prstDash val="solid"/>
          </a:ln>
        </p:spPr>
      </p:sp>
      <p:sp>
        <p:nvSpPr>
          <p:cNvPr id="40" name="Text 38"/>
          <p:cNvSpPr/>
          <p:nvPr/>
        </p:nvSpPr>
        <p:spPr>
          <a:xfrm>
            <a:off x="5661035" y="2224017"/>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41" name="Shape 39"/>
          <p:cNvSpPr/>
          <p:nvPr/>
        </p:nvSpPr>
        <p:spPr>
          <a:xfrm>
            <a:off x="6118235" y="1873554"/>
            <a:ext cx="164592" cy="164592"/>
          </a:xfrm>
          <a:prstGeom prst="ellipse">
            <a:avLst/>
          </a:prstGeom>
          <a:solidFill>
            <a:srgbClr val="F97316"/>
          </a:solidFill>
          <a:ln w="12700">
            <a:solidFill>
              <a:srgbClr val="F97316"/>
            </a:solidFill>
            <a:prstDash val="solid"/>
          </a:ln>
        </p:spPr>
      </p:sp>
      <p:sp>
        <p:nvSpPr>
          <p:cNvPr id="42" name="Text 40"/>
          <p:cNvSpPr/>
          <p:nvPr/>
        </p:nvSpPr>
        <p:spPr>
          <a:xfrm>
            <a:off x="6118235" y="1891842"/>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43" name="Shape 41"/>
          <p:cNvSpPr/>
          <p:nvPr/>
        </p:nvSpPr>
        <p:spPr>
          <a:xfrm>
            <a:off x="6683365" y="1873554"/>
            <a:ext cx="164592" cy="164592"/>
          </a:xfrm>
          <a:prstGeom prst="ellipse">
            <a:avLst/>
          </a:prstGeom>
          <a:solidFill>
            <a:srgbClr val="F97316"/>
          </a:solidFill>
          <a:ln w="12700">
            <a:solidFill>
              <a:srgbClr val="F97316"/>
            </a:solidFill>
            <a:prstDash val="solid"/>
          </a:ln>
        </p:spPr>
      </p:sp>
      <p:sp>
        <p:nvSpPr>
          <p:cNvPr id="44" name="Text 42"/>
          <p:cNvSpPr/>
          <p:nvPr/>
        </p:nvSpPr>
        <p:spPr>
          <a:xfrm>
            <a:off x="6683365" y="1891842"/>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45" name="Shape 43"/>
          <p:cNvSpPr/>
          <p:nvPr/>
        </p:nvSpPr>
        <p:spPr>
          <a:xfrm>
            <a:off x="7140565" y="2205729"/>
            <a:ext cx="164592" cy="164592"/>
          </a:xfrm>
          <a:prstGeom prst="ellipse">
            <a:avLst/>
          </a:prstGeom>
          <a:solidFill>
            <a:srgbClr val="F97316"/>
          </a:solidFill>
          <a:ln w="12700">
            <a:solidFill>
              <a:srgbClr val="F97316"/>
            </a:solidFill>
            <a:prstDash val="solid"/>
          </a:ln>
        </p:spPr>
      </p:sp>
      <p:sp>
        <p:nvSpPr>
          <p:cNvPr id="46" name="Text 44"/>
          <p:cNvSpPr/>
          <p:nvPr/>
        </p:nvSpPr>
        <p:spPr>
          <a:xfrm>
            <a:off x="7140565" y="2224017"/>
            <a:ext cx="164592" cy="128016"/>
          </a:xfrm>
          <a:prstGeom prst="rect">
            <a:avLst/>
          </a:prstGeom>
          <a:noFill/>
          <a:ln/>
        </p:spPr>
        <p:txBody>
          <a:bodyPr wrap="square" lIns="635" tIns="635" rIns="635" bIns="635" rtlCol="0" anchor="ctr">
            <a:normAutofit/>
          </a:bodyPr>
          <a:lstStyle/>
          <a:p>
            <a:pPr algn="ctr" indent="0" marL="0">
              <a:buNone/>
            </a:pPr>
            <a:endParaRPr lang="en-US" sz="1200" dirty="0"/>
          </a:p>
        </p:txBody>
      </p:sp>
      <p:sp>
        <p:nvSpPr>
          <p:cNvPr id="47" name="Shape 45"/>
          <p:cNvSpPr/>
          <p:nvPr/>
        </p:nvSpPr>
        <p:spPr>
          <a:xfrm>
            <a:off x="7479792" y="2816352"/>
            <a:ext cx="-339227" cy="537471"/>
          </a:xfrm>
          <a:prstGeom prst="line">
            <a:avLst/>
          </a:prstGeom>
          <a:noFill/>
          <a:ln w="16510">
            <a:solidFill>
              <a:srgbClr val="F97316"/>
            </a:solidFill>
            <a:prstDash val="solid"/>
            <a:headEnd type="none"/>
            <a:tailEnd type="triangle"/>
          </a:ln>
        </p:spPr>
      </p:sp>
      <p:sp>
        <p:nvSpPr>
          <p:cNvPr id="48" name="Shape 46"/>
          <p:cNvSpPr/>
          <p:nvPr/>
        </p:nvSpPr>
        <p:spPr>
          <a:xfrm>
            <a:off x="7305157" y="3353823"/>
            <a:ext cx="-621792" cy="332175"/>
          </a:xfrm>
          <a:prstGeom prst="line">
            <a:avLst/>
          </a:prstGeom>
          <a:noFill/>
          <a:ln w="16510">
            <a:solidFill>
              <a:srgbClr val="F97316"/>
            </a:solidFill>
            <a:prstDash val="solid"/>
            <a:headEnd type="none"/>
            <a:tailEnd type="triangle"/>
          </a:ln>
        </p:spPr>
      </p:sp>
      <p:sp>
        <p:nvSpPr>
          <p:cNvPr id="49" name="Shape 47"/>
          <p:cNvSpPr/>
          <p:nvPr/>
        </p:nvSpPr>
        <p:spPr>
          <a:xfrm>
            <a:off x="6847957" y="3685998"/>
            <a:ext cx="-729722" cy="0"/>
          </a:xfrm>
          <a:prstGeom prst="line">
            <a:avLst/>
          </a:prstGeom>
          <a:noFill/>
          <a:ln w="16510">
            <a:solidFill>
              <a:srgbClr val="F97316"/>
            </a:solidFill>
            <a:prstDash val="solid"/>
            <a:headEnd type="none"/>
            <a:tailEnd type="triangle"/>
          </a:ln>
        </p:spPr>
      </p:sp>
      <p:sp>
        <p:nvSpPr>
          <p:cNvPr id="50" name="Shape 48"/>
          <p:cNvSpPr/>
          <p:nvPr/>
        </p:nvSpPr>
        <p:spPr>
          <a:xfrm>
            <a:off x="6282827" y="3685998"/>
            <a:ext cx="-621792" cy="-332175"/>
          </a:xfrm>
          <a:prstGeom prst="line">
            <a:avLst/>
          </a:prstGeom>
          <a:noFill/>
          <a:ln w="16510">
            <a:solidFill>
              <a:srgbClr val="F97316"/>
            </a:solidFill>
            <a:prstDash val="solid"/>
            <a:headEnd type="none"/>
            <a:tailEnd type="triangle"/>
          </a:ln>
        </p:spPr>
      </p:sp>
      <p:sp>
        <p:nvSpPr>
          <p:cNvPr id="51" name="Shape 49"/>
          <p:cNvSpPr/>
          <p:nvPr/>
        </p:nvSpPr>
        <p:spPr>
          <a:xfrm>
            <a:off x="5825627" y="3353823"/>
            <a:ext cx="-339227" cy="-537471"/>
          </a:xfrm>
          <a:prstGeom prst="line">
            <a:avLst/>
          </a:prstGeom>
          <a:noFill/>
          <a:ln w="16510">
            <a:solidFill>
              <a:srgbClr val="F97316"/>
            </a:solidFill>
            <a:prstDash val="solid"/>
            <a:headEnd type="none"/>
            <a:tailEnd type="triangle"/>
          </a:ln>
        </p:spPr>
      </p:sp>
      <p:sp>
        <p:nvSpPr>
          <p:cNvPr id="52" name="Shape 50"/>
          <p:cNvSpPr/>
          <p:nvPr/>
        </p:nvSpPr>
        <p:spPr>
          <a:xfrm>
            <a:off x="5650992" y="2816352"/>
            <a:ext cx="10043" cy="-537471"/>
          </a:xfrm>
          <a:prstGeom prst="line">
            <a:avLst/>
          </a:prstGeom>
          <a:noFill/>
          <a:ln w="16510">
            <a:solidFill>
              <a:srgbClr val="F97316"/>
            </a:solidFill>
            <a:prstDash val="solid"/>
            <a:headEnd type="none"/>
            <a:tailEnd type="triangle"/>
          </a:ln>
        </p:spPr>
      </p:sp>
      <p:sp>
        <p:nvSpPr>
          <p:cNvPr id="53" name="Shape 51"/>
          <p:cNvSpPr/>
          <p:nvPr/>
        </p:nvSpPr>
        <p:spPr>
          <a:xfrm>
            <a:off x="5825627" y="2278881"/>
            <a:ext cx="292608" cy="-332175"/>
          </a:xfrm>
          <a:prstGeom prst="line">
            <a:avLst/>
          </a:prstGeom>
          <a:noFill/>
          <a:ln w="16510">
            <a:solidFill>
              <a:srgbClr val="F97316"/>
            </a:solidFill>
            <a:prstDash val="solid"/>
            <a:headEnd type="none"/>
            <a:tailEnd type="triangle"/>
          </a:ln>
        </p:spPr>
      </p:sp>
      <p:sp>
        <p:nvSpPr>
          <p:cNvPr id="54" name="Shape 52"/>
          <p:cNvSpPr/>
          <p:nvPr/>
        </p:nvSpPr>
        <p:spPr>
          <a:xfrm>
            <a:off x="6282827" y="1946706"/>
            <a:ext cx="400538" cy="0"/>
          </a:xfrm>
          <a:prstGeom prst="line">
            <a:avLst/>
          </a:prstGeom>
          <a:noFill/>
          <a:ln w="16510">
            <a:solidFill>
              <a:srgbClr val="F97316"/>
            </a:solidFill>
            <a:prstDash val="solid"/>
            <a:headEnd type="none"/>
            <a:tailEnd type="triangle"/>
          </a:ln>
        </p:spPr>
      </p:sp>
      <p:sp>
        <p:nvSpPr>
          <p:cNvPr id="55" name="Shape 53"/>
          <p:cNvSpPr/>
          <p:nvPr/>
        </p:nvSpPr>
        <p:spPr>
          <a:xfrm>
            <a:off x="6847957" y="1946706"/>
            <a:ext cx="292608" cy="332175"/>
          </a:xfrm>
          <a:prstGeom prst="line">
            <a:avLst/>
          </a:prstGeom>
          <a:noFill/>
          <a:ln w="16510">
            <a:solidFill>
              <a:srgbClr val="F97316"/>
            </a:solidFill>
            <a:prstDash val="solid"/>
            <a:headEnd type="none"/>
            <a:tailEnd type="triangle"/>
          </a:ln>
        </p:spPr>
      </p:sp>
      <p:sp>
        <p:nvSpPr>
          <p:cNvPr id="56" name="Shape 54"/>
          <p:cNvSpPr/>
          <p:nvPr/>
        </p:nvSpPr>
        <p:spPr>
          <a:xfrm>
            <a:off x="7305157" y="2278881"/>
            <a:ext cx="10043" cy="537471"/>
          </a:xfrm>
          <a:prstGeom prst="line">
            <a:avLst/>
          </a:prstGeom>
          <a:noFill/>
          <a:ln w="16510">
            <a:solidFill>
              <a:srgbClr val="F97316"/>
            </a:solidFill>
            <a:prstDash val="solid"/>
            <a:headEnd type="none"/>
            <a:tailEnd type="triangle"/>
          </a:ln>
        </p:spPr>
      </p:sp>
      <p:sp>
        <p:nvSpPr>
          <p:cNvPr id="57" name="Text 55"/>
          <p:cNvSpPr/>
          <p:nvPr/>
        </p:nvSpPr>
        <p:spPr>
          <a:xfrm>
            <a:off x="4892040" y="3794760"/>
            <a:ext cx="2743200" cy="502920"/>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query nodes are distance n apart</a:t>
            </a:r>
            <a:endParaRPr lang="en-US" sz="1300" dirty="0"/>
          </a:p>
        </p:txBody>
      </p:sp>
      <p:sp>
        <p:nvSpPr>
          <p:cNvPr id="58" name="Shape 56"/>
          <p:cNvSpPr/>
          <p:nvPr/>
        </p:nvSpPr>
        <p:spPr>
          <a:xfrm>
            <a:off x="8366760" y="1463040"/>
            <a:ext cx="2834640" cy="2606040"/>
          </a:xfrm>
          <a:prstGeom prst="roundRect">
            <a:avLst>
              <a:gd name="adj" fmla="val 2105"/>
            </a:avLst>
          </a:prstGeom>
          <a:solidFill>
            <a:srgbClr val="F8FAFC"/>
          </a:solidFill>
          <a:ln w="12700">
            <a:solidFill>
              <a:srgbClr val="CBD5E1"/>
            </a:solidFill>
            <a:prstDash val="solid"/>
          </a:ln>
        </p:spPr>
      </p:sp>
      <p:sp>
        <p:nvSpPr>
          <p:cNvPr id="59" name="Text 57"/>
          <p:cNvSpPr/>
          <p:nvPr/>
        </p:nvSpPr>
        <p:spPr>
          <a:xfrm>
            <a:off x="8613648" y="1691640"/>
            <a:ext cx="2331720" cy="27432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WHY HARD?</a:t>
            </a:r>
            <a:endParaRPr lang="en-US" sz="1300" dirty="0"/>
          </a:p>
        </p:txBody>
      </p:sp>
      <p:sp>
        <p:nvSpPr>
          <p:cNvPr id="60" name="Text 58"/>
          <p:cNvSpPr/>
          <p:nvPr/>
        </p:nvSpPr>
        <p:spPr>
          <a:xfrm>
            <a:off x="8613648" y="2240280"/>
            <a:ext cx="2331720" cy="1005840"/>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No small degree statistic</a:t>
            </a:r>
            <a:endParaRPr lang="en-US" sz="1800" dirty="0"/>
          </a:p>
          <a:p>
            <a:pPr algn="ctr" indent="0" marL="0">
              <a:buNone/>
            </a:pPr>
            <a:r>
              <a:rPr lang="en-US" sz="1800" b="1" dirty="0">
                <a:solidFill>
                  <a:srgbClr val="102A43"/>
                </a:solidFill>
                <a:latin typeface="Aptos" pitchFamily="34" charset="0"/>
                <a:ea typeface="Aptos" pitchFamily="34" charset="-122"/>
                <a:cs typeface="Aptos" pitchFamily="34" charset="-120"/>
              </a:rPr>
              <a:t>No small motif count</a:t>
            </a:r>
            <a:endParaRPr lang="en-US" sz="1800" dirty="0"/>
          </a:p>
          <a:p>
            <a:pPr algn="ctr" indent="0" marL="0">
              <a:buNone/>
            </a:pPr>
            <a:r>
              <a:rPr lang="en-US" sz="1800" b="1" dirty="0">
                <a:solidFill>
                  <a:srgbClr val="102A43"/>
                </a:solidFill>
                <a:latin typeface="Aptos" pitchFamily="34" charset="0"/>
                <a:ea typeface="Aptos" pitchFamily="34" charset="-122"/>
                <a:cs typeface="Aptos" pitchFamily="34" charset="-120"/>
              </a:rPr>
              <a:t>No short local witness</a:t>
            </a:r>
            <a:endParaRPr lang="en-US" sz="1800" dirty="0"/>
          </a:p>
        </p:txBody>
      </p:sp>
      <p:sp>
        <p:nvSpPr>
          <p:cNvPr id="61" name="Text 59"/>
          <p:cNvSpPr/>
          <p:nvPr/>
        </p:nvSpPr>
        <p:spPr>
          <a:xfrm>
            <a:off x="8458200" y="3456432"/>
            <a:ext cx="2651760" cy="5029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Any n−1 edges have the same marginal distribution across classes.</a:t>
            </a:r>
            <a:endParaRPr lang="en-US" sz="12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empirical warning sign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Learning iterations rise sharply with problem size—even as models get larger.</a:t>
            </a:r>
            <a:endParaRPr lang="en-US" sz="1200" dirty="0"/>
          </a:p>
        </p:txBody>
      </p:sp>
      <p:sp>
        <p:nvSpPr>
          <p:cNvPr id="4" name="Shape 2"/>
          <p:cNvSpPr/>
          <p:nvPr/>
        </p:nvSpPr>
        <p:spPr>
          <a:xfrm>
            <a:off x="914400" y="5212080"/>
            <a:ext cx="5943600" cy="0"/>
          </a:xfrm>
          <a:prstGeom prst="line">
            <a:avLst/>
          </a:prstGeom>
          <a:noFill/>
          <a:ln w="19050">
            <a:solidFill>
              <a:srgbClr val="94A3B8"/>
            </a:solidFill>
            <a:prstDash val="solid"/>
          </a:ln>
        </p:spPr>
      </p:sp>
      <p:sp>
        <p:nvSpPr>
          <p:cNvPr id="5" name="Shape 3"/>
          <p:cNvSpPr/>
          <p:nvPr/>
        </p:nvSpPr>
        <p:spPr>
          <a:xfrm>
            <a:off x="914400" y="5212080"/>
            <a:ext cx="0" cy="-3383280"/>
          </a:xfrm>
          <a:prstGeom prst="line">
            <a:avLst/>
          </a:prstGeom>
          <a:noFill/>
          <a:ln w="19050">
            <a:solidFill>
              <a:srgbClr val="94A3B8"/>
            </a:solidFill>
            <a:prstDash val="solid"/>
          </a:ln>
        </p:spPr>
      </p:sp>
      <p:sp>
        <p:nvSpPr>
          <p:cNvPr id="6" name="Shape 4"/>
          <p:cNvSpPr/>
          <p:nvPr/>
        </p:nvSpPr>
        <p:spPr>
          <a:xfrm>
            <a:off x="868680" y="4952646"/>
            <a:ext cx="91440" cy="91440"/>
          </a:xfrm>
          <a:prstGeom prst="ellipse">
            <a:avLst/>
          </a:prstGeom>
          <a:solidFill>
            <a:srgbClr val="2563EB"/>
          </a:solidFill>
          <a:ln w="12700">
            <a:solidFill>
              <a:srgbClr val="2563EB"/>
            </a:solidFill>
            <a:prstDash val="solid"/>
          </a:ln>
        </p:spPr>
      </p:sp>
      <p:sp>
        <p:nvSpPr>
          <p:cNvPr id="7" name="Shape 5"/>
          <p:cNvSpPr/>
          <p:nvPr/>
        </p:nvSpPr>
        <p:spPr>
          <a:xfrm>
            <a:off x="914400" y="4998366"/>
            <a:ext cx="1188720" cy="-213714"/>
          </a:xfrm>
          <a:prstGeom prst="line">
            <a:avLst/>
          </a:prstGeom>
          <a:noFill/>
          <a:ln w="22860">
            <a:solidFill>
              <a:srgbClr val="2563EB"/>
            </a:solidFill>
            <a:prstDash val="solid"/>
            <a:headEnd type="none"/>
            <a:tailEnd type="triangle"/>
          </a:ln>
        </p:spPr>
      </p:sp>
      <p:sp>
        <p:nvSpPr>
          <p:cNvPr id="8" name="Shape 6"/>
          <p:cNvSpPr/>
          <p:nvPr/>
        </p:nvSpPr>
        <p:spPr>
          <a:xfrm>
            <a:off x="2057400" y="4738931"/>
            <a:ext cx="91440" cy="91440"/>
          </a:xfrm>
          <a:prstGeom prst="ellipse">
            <a:avLst/>
          </a:prstGeom>
          <a:solidFill>
            <a:srgbClr val="2563EB"/>
          </a:solidFill>
          <a:ln w="12700">
            <a:solidFill>
              <a:srgbClr val="2563EB"/>
            </a:solidFill>
            <a:prstDash val="solid"/>
          </a:ln>
        </p:spPr>
      </p:sp>
      <p:sp>
        <p:nvSpPr>
          <p:cNvPr id="9" name="Shape 7"/>
          <p:cNvSpPr/>
          <p:nvPr/>
        </p:nvSpPr>
        <p:spPr>
          <a:xfrm>
            <a:off x="2103120" y="4784651"/>
            <a:ext cx="1188720" cy="-427429"/>
          </a:xfrm>
          <a:prstGeom prst="line">
            <a:avLst/>
          </a:prstGeom>
          <a:noFill/>
          <a:ln w="22860">
            <a:solidFill>
              <a:srgbClr val="2563EB"/>
            </a:solidFill>
            <a:prstDash val="solid"/>
            <a:headEnd type="none"/>
            <a:tailEnd type="triangle"/>
          </a:ln>
        </p:spPr>
      </p:sp>
      <p:sp>
        <p:nvSpPr>
          <p:cNvPr id="10" name="Shape 8"/>
          <p:cNvSpPr/>
          <p:nvPr/>
        </p:nvSpPr>
        <p:spPr>
          <a:xfrm>
            <a:off x="3246120" y="4311502"/>
            <a:ext cx="91440" cy="91440"/>
          </a:xfrm>
          <a:prstGeom prst="ellipse">
            <a:avLst/>
          </a:prstGeom>
          <a:solidFill>
            <a:srgbClr val="2563EB"/>
          </a:solidFill>
          <a:ln w="12700">
            <a:solidFill>
              <a:srgbClr val="2563EB"/>
            </a:solidFill>
            <a:prstDash val="solid"/>
          </a:ln>
        </p:spPr>
      </p:sp>
      <p:sp>
        <p:nvSpPr>
          <p:cNvPr id="11" name="Shape 9"/>
          <p:cNvSpPr/>
          <p:nvPr/>
        </p:nvSpPr>
        <p:spPr>
          <a:xfrm>
            <a:off x="3291840" y="4357222"/>
            <a:ext cx="1188720" cy="-641143"/>
          </a:xfrm>
          <a:prstGeom prst="line">
            <a:avLst/>
          </a:prstGeom>
          <a:noFill/>
          <a:ln w="22860">
            <a:solidFill>
              <a:srgbClr val="2563EB"/>
            </a:solidFill>
            <a:prstDash val="solid"/>
            <a:headEnd type="none"/>
            <a:tailEnd type="triangle"/>
          </a:ln>
        </p:spPr>
      </p:sp>
      <p:sp>
        <p:nvSpPr>
          <p:cNvPr id="12" name="Shape 10"/>
          <p:cNvSpPr/>
          <p:nvPr/>
        </p:nvSpPr>
        <p:spPr>
          <a:xfrm>
            <a:off x="4434840" y="3670359"/>
            <a:ext cx="91440" cy="91440"/>
          </a:xfrm>
          <a:prstGeom prst="ellipse">
            <a:avLst/>
          </a:prstGeom>
          <a:solidFill>
            <a:srgbClr val="2563EB"/>
          </a:solidFill>
          <a:ln w="12700">
            <a:solidFill>
              <a:srgbClr val="2563EB"/>
            </a:solidFill>
            <a:prstDash val="solid"/>
          </a:ln>
        </p:spPr>
      </p:sp>
      <p:sp>
        <p:nvSpPr>
          <p:cNvPr id="13" name="Shape 11"/>
          <p:cNvSpPr/>
          <p:nvPr/>
        </p:nvSpPr>
        <p:spPr>
          <a:xfrm>
            <a:off x="4480560" y="3716079"/>
            <a:ext cx="1188720" cy="-712381"/>
          </a:xfrm>
          <a:prstGeom prst="line">
            <a:avLst/>
          </a:prstGeom>
          <a:noFill/>
          <a:ln w="22860">
            <a:solidFill>
              <a:srgbClr val="2563EB"/>
            </a:solidFill>
            <a:prstDash val="solid"/>
            <a:headEnd type="none"/>
            <a:tailEnd type="triangle"/>
          </a:ln>
        </p:spPr>
      </p:sp>
      <p:sp>
        <p:nvSpPr>
          <p:cNvPr id="14" name="Shape 12"/>
          <p:cNvSpPr/>
          <p:nvPr/>
        </p:nvSpPr>
        <p:spPr>
          <a:xfrm>
            <a:off x="5623560" y="2957978"/>
            <a:ext cx="91440" cy="91440"/>
          </a:xfrm>
          <a:prstGeom prst="ellipse">
            <a:avLst/>
          </a:prstGeom>
          <a:solidFill>
            <a:srgbClr val="2563EB"/>
          </a:solidFill>
          <a:ln w="12700">
            <a:solidFill>
              <a:srgbClr val="2563EB"/>
            </a:solidFill>
            <a:prstDash val="solid"/>
          </a:ln>
        </p:spPr>
      </p:sp>
      <p:sp>
        <p:nvSpPr>
          <p:cNvPr id="15" name="Shape 13"/>
          <p:cNvSpPr/>
          <p:nvPr/>
        </p:nvSpPr>
        <p:spPr>
          <a:xfrm>
            <a:off x="5669280" y="3003698"/>
            <a:ext cx="1188720" cy="-641143"/>
          </a:xfrm>
          <a:prstGeom prst="line">
            <a:avLst/>
          </a:prstGeom>
          <a:noFill/>
          <a:ln w="22860">
            <a:solidFill>
              <a:srgbClr val="2563EB"/>
            </a:solidFill>
            <a:prstDash val="solid"/>
            <a:headEnd type="none"/>
            <a:tailEnd type="triangle"/>
          </a:ln>
        </p:spPr>
      </p:sp>
      <p:sp>
        <p:nvSpPr>
          <p:cNvPr id="16" name="Shape 14"/>
          <p:cNvSpPr/>
          <p:nvPr/>
        </p:nvSpPr>
        <p:spPr>
          <a:xfrm>
            <a:off x="6812280" y="2316834"/>
            <a:ext cx="91440" cy="91440"/>
          </a:xfrm>
          <a:prstGeom prst="ellipse">
            <a:avLst/>
          </a:prstGeom>
          <a:solidFill>
            <a:srgbClr val="2563EB"/>
          </a:solidFill>
          <a:ln w="12700">
            <a:solidFill>
              <a:srgbClr val="2563EB"/>
            </a:solidFill>
            <a:prstDash val="solid"/>
          </a:ln>
        </p:spPr>
      </p:sp>
      <p:sp>
        <p:nvSpPr>
          <p:cNvPr id="17" name="Shape 15"/>
          <p:cNvSpPr/>
          <p:nvPr/>
        </p:nvSpPr>
        <p:spPr>
          <a:xfrm>
            <a:off x="868680" y="4905628"/>
            <a:ext cx="91440" cy="91440"/>
          </a:xfrm>
          <a:prstGeom prst="ellipse">
            <a:avLst/>
          </a:prstGeom>
          <a:solidFill>
            <a:srgbClr val="F97316"/>
          </a:solidFill>
          <a:ln w="12700">
            <a:solidFill>
              <a:srgbClr val="F97316"/>
            </a:solidFill>
            <a:prstDash val="solid"/>
          </a:ln>
        </p:spPr>
      </p:sp>
      <p:sp>
        <p:nvSpPr>
          <p:cNvPr id="18" name="Shape 16"/>
          <p:cNvSpPr/>
          <p:nvPr/>
        </p:nvSpPr>
        <p:spPr>
          <a:xfrm>
            <a:off x="914400" y="4951348"/>
            <a:ext cx="1188720" cy="-260732"/>
          </a:xfrm>
          <a:prstGeom prst="line">
            <a:avLst/>
          </a:prstGeom>
          <a:noFill/>
          <a:ln w="22860">
            <a:solidFill>
              <a:srgbClr val="F97316"/>
            </a:solidFill>
            <a:prstDash val="solid"/>
            <a:headEnd type="none"/>
            <a:tailEnd type="triangle"/>
          </a:ln>
        </p:spPr>
      </p:sp>
      <p:sp>
        <p:nvSpPr>
          <p:cNvPr id="19" name="Shape 17"/>
          <p:cNvSpPr/>
          <p:nvPr/>
        </p:nvSpPr>
        <p:spPr>
          <a:xfrm>
            <a:off x="2057400" y="4644897"/>
            <a:ext cx="91440" cy="91440"/>
          </a:xfrm>
          <a:prstGeom prst="ellipse">
            <a:avLst/>
          </a:prstGeom>
          <a:solidFill>
            <a:srgbClr val="F97316"/>
          </a:solidFill>
          <a:ln w="12700">
            <a:solidFill>
              <a:srgbClr val="F97316"/>
            </a:solidFill>
            <a:prstDash val="solid"/>
          </a:ln>
        </p:spPr>
      </p:sp>
      <p:sp>
        <p:nvSpPr>
          <p:cNvPr id="20" name="Shape 18"/>
          <p:cNvSpPr/>
          <p:nvPr/>
        </p:nvSpPr>
        <p:spPr>
          <a:xfrm>
            <a:off x="2103120" y="4690617"/>
            <a:ext cx="1188720" cy="-521463"/>
          </a:xfrm>
          <a:prstGeom prst="line">
            <a:avLst/>
          </a:prstGeom>
          <a:noFill/>
          <a:ln w="22860">
            <a:solidFill>
              <a:srgbClr val="F97316"/>
            </a:solidFill>
            <a:prstDash val="solid"/>
            <a:headEnd type="none"/>
            <a:tailEnd type="triangle"/>
          </a:ln>
        </p:spPr>
      </p:sp>
      <p:sp>
        <p:nvSpPr>
          <p:cNvPr id="21" name="Shape 19"/>
          <p:cNvSpPr/>
          <p:nvPr/>
        </p:nvSpPr>
        <p:spPr>
          <a:xfrm>
            <a:off x="3246120" y="4123434"/>
            <a:ext cx="91440" cy="91440"/>
          </a:xfrm>
          <a:prstGeom prst="ellipse">
            <a:avLst/>
          </a:prstGeom>
          <a:solidFill>
            <a:srgbClr val="F97316"/>
          </a:solidFill>
          <a:ln w="12700">
            <a:solidFill>
              <a:srgbClr val="F97316"/>
            </a:solidFill>
            <a:prstDash val="solid"/>
          </a:ln>
        </p:spPr>
      </p:sp>
      <p:sp>
        <p:nvSpPr>
          <p:cNvPr id="22" name="Shape 20"/>
          <p:cNvSpPr/>
          <p:nvPr/>
        </p:nvSpPr>
        <p:spPr>
          <a:xfrm>
            <a:off x="3291840" y="4169154"/>
            <a:ext cx="1188720" cy="-782195"/>
          </a:xfrm>
          <a:prstGeom prst="line">
            <a:avLst/>
          </a:prstGeom>
          <a:noFill/>
          <a:ln w="22860">
            <a:solidFill>
              <a:srgbClr val="F97316"/>
            </a:solidFill>
            <a:prstDash val="solid"/>
            <a:headEnd type="none"/>
            <a:tailEnd type="triangle"/>
          </a:ln>
        </p:spPr>
      </p:sp>
      <p:sp>
        <p:nvSpPr>
          <p:cNvPr id="23" name="Shape 21"/>
          <p:cNvSpPr/>
          <p:nvPr/>
        </p:nvSpPr>
        <p:spPr>
          <a:xfrm>
            <a:off x="4434840" y="3341239"/>
            <a:ext cx="91440" cy="91440"/>
          </a:xfrm>
          <a:prstGeom prst="ellipse">
            <a:avLst/>
          </a:prstGeom>
          <a:solidFill>
            <a:srgbClr val="F97316"/>
          </a:solidFill>
          <a:ln w="12700">
            <a:solidFill>
              <a:srgbClr val="F97316"/>
            </a:solidFill>
            <a:prstDash val="solid"/>
          </a:ln>
        </p:spPr>
      </p:sp>
      <p:sp>
        <p:nvSpPr>
          <p:cNvPr id="24" name="Shape 22"/>
          <p:cNvSpPr/>
          <p:nvPr/>
        </p:nvSpPr>
        <p:spPr>
          <a:xfrm>
            <a:off x="4480560" y="3386959"/>
            <a:ext cx="1188720" cy="-869105"/>
          </a:xfrm>
          <a:prstGeom prst="line">
            <a:avLst/>
          </a:prstGeom>
          <a:noFill/>
          <a:ln w="22860">
            <a:solidFill>
              <a:srgbClr val="F97316"/>
            </a:solidFill>
            <a:prstDash val="solid"/>
            <a:headEnd type="none"/>
            <a:tailEnd type="triangle"/>
          </a:ln>
        </p:spPr>
      </p:sp>
      <p:sp>
        <p:nvSpPr>
          <p:cNvPr id="25" name="Shape 23"/>
          <p:cNvSpPr/>
          <p:nvPr/>
        </p:nvSpPr>
        <p:spPr>
          <a:xfrm>
            <a:off x="5623560" y="2472134"/>
            <a:ext cx="91440" cy="91440"/>
          </a:xfrm>
          <a:prstGeom prst="ellipse">
            <a:avLst/>
          </a:prstGeom>
          <a:solidFill>
            <a:srgbClr val="F97316"/>
          </a:solidFill>
          <a:ln w="12700">
            <a:solidFill>
              <a:srgbClr val="F97316"/>
            </a:solidFill>
            <a:prstDash val="solid"/>
          </a:ln>
        </p:spPr>
      </p:sp>
      <p:sp>
        <p:nvSpPr>
          <p:cNvPr id="26" name="Shape 24"/>
          <p:cNvSpPr/>
          <p:nvPr/>
        </p:nvSpPr>
        <p:spPr>
          <a:xfrm>
            <a:off x="5669280" y="2517854"/>
            <a:ext cx="1188720" cy="-782195"/>
          </a:xfrm>
          <a:prstGeom prst="line">
            <a:avLst/>
          </a:prstGeom>
          <a:noFill/>
          <a:ln w="22860">
            <a:solidFill>
              <a:srgbClr val="F97316"/>
            </a:solidFill>
            <a:prstDash val="solid"/>
            <a:headEnd type="none"/>
            <a:tailEnd type="triangle"/>
          </a:ln>
        </p:spPr>
      </p:sp>
      <p:sp>
        <p:nvSpPr>
          <p:cNvPr id="27" name="Shape 25"/>
          <p:cNvSpPr/>
          <p:nvPr/>
        </p:nvSpPr>
        <p:spPr>
          <a:xfrm>
            <a:off x="6812280" y="1689939"/>
            <a:ext cx="91440" cy="91440"/>
          </a:xfrm>
          <a:prstGeom prst="ellipse">
            <a:avLst/>
          </a:prstGeom>
          <a:solidFill>
            <a:srgbClr val="F97316"/>
          </a:solidFill>
          <a:ln w="12700">
            <a:solidFill>
              <a:srgbClr val="F97316"/>
            </a:solidFill>
            <a:prstDash val="solid"/>
          </a:ln>
        </p:spPr>
      </p:sp>
      <p:sp>
        <p:nvSpPr>
          <p:cNvPr id="28" name="Shape 26"/>
          <p:cNvSpPr/>
          <p:nvPr/>
        </p:nvSpPr>
        <p:spPr>
          <a:xfrm>
            <a:off x="868680" y="4858611"/>
            <a:ext cx="91440" cy="91440"/>
          </a:xfrm>
          <a:prstGeom prst="ellipse">
            <a:avLst/>
          </a:prstGeom>
          <a:solidFill>
            <a:srgbClr val="15803D"/>
          </a:solidFill>
          <a:ln w="12700">
            <a:solidFill>
              <a:srgbClr val="15803D"/>
            </a:solidFill>
            <a:prstDash val="solid"/>
          </a:ln>
        </p:spPr>
      </p:sp>
      <p:sp>
        <p:nvSpPr>
          <p:cNvPr id="29" name="Shape 27"/>
          <p:cNvSpPr/>
          <p:nvPr/>
        </p:nvSpPr>
        <p:spPr>
          <a:xfrm>
            <a:off x="914400" y="4904331"/>
            <a:ext cx="1188720" cy="-307749"/>
          </a:xfrm>
          <a:prstGeom prst="line">
            <a:avLst/>
          </a:prstGeom>
          <a:noFill/>
          <a:ln w="22860">
            <a:solidFill>
              <a:srgbClr val="15803D"/>
            </a:solidFill>
            <a:prstDash val="solid"/>
            <a:headEnd type="none"/>
            <a:tailEnd type="triangle"/>
          </a:ln>
        </p:spPr>
      </p:sp>
      <p:sp>
        <p:nvSpPr>
          <p:cNvPr id="30" name="Shape 28"/>
          <p:cNvSpPr/>
          <p:nvPr/>
        </p:nvSpPr>
        <p:spPr>
          <a:xfrm>
            <a:off x="2057400" y="4550862"/>
            <a:ext cx="91440" cy="91440"/>
          </a:xfrm>
          <a:prstGeom prst="ellipse">
            <a:avLst/>
          </a:prstGeom>
          <a:solidFill>
            <a:srgbClr val="15803D"/>
          </a:solidFill>
          <a:ln w="12700">
            <a:solidFill>
              <a:srgbClr val="15803D"/>
            </a:solidFill>
            <a:prstDash val="solid"/>
          </a:ln>
        </p:spPr>
      </p:sp>
      <p:sp>
        <p:nvSpPr>
          <p:cNvPr id="31" name="Shape 29"/>
          <p:cNvSpPr/>
          <p:nvPr/>
        </p:nvSpPr>
        <p:spPr>
          <a:xfrm>
            <a:off x="2103120" y="4596582"/>
            <a:ext cx="1188720" cy="-615498"/>
          </a:xfrm>
          <a:prstGeom prst="line">
            <a:avLst/>
          </a:prstGeom>
          <a:noFill/>
          <a:ln w="22860">
            <a:solidFill>
              <a:srgbClr val="15803D"/>
            </a:solidFill>
            <a:prstDash val="solid"/>
            <a:headEnd type="none"/>
            <a:tailEnd type="triangle"/>
          </a:ln>
        </p:spPr>
      </p:sp>
      <p:sp>
        <p:nvSpPr>
          <p:cNvPr id="32" name="Shape 30"/>
          <p:cNvSpPr/>
          <p:nvPr/>
        </p:nvSpPr>
        <p:spPr>
          <a:xfrm>
            <a:off x="3246120" y="3935365"/>
            <a:ext cx="91440" cy="91440"/>
          </a:xfrm>
          <a:prstGeom prst="ellipse">
            <a:avLst/>
          </a:prstGeom>
          <a:solidFill>
            <a:srgbClr val="15803D"/>
          </a:solidFill>
          <a:ln w="12700">
            <a:solidFill>
              <a:srgbClr val="15803D"/>
            </a:solidFill>
            <a:prstDash val="solid"/>
          </a:ln>
        </p:spPr>
      </p:sp>
      <p:sp>
        <p:nvSpPr>
          <p:cNvPr id="33" name="Shape 31"/>
          <p:cNvSpPr/>
          <p:nvPr/>
        </p:nvSpPr>
        <p:spPr>
          <a:xfrm>
            <a:off x="3291840" y="3981085"/>
            <a:ext cx="1188720" cy="-923246"/>
          </a:xfrm>
          <a:prstGeom prst="line">
            <a:avLst/>
          </a:prstGeom>
          <a:noFill/>
          <a:ln w="22860">
            <a:solidFill>
              <a:srgbClr val="15803D"/>
            </a:solidFill>
            <a:prstDash val="solid"/>
            <a:headEnd type="none"/>
            <a:tailEnd type="triangle"/>
          </a:ln>
        </p:spPr>
      </p:sp>
      <p:sp>
        <p:nvSpPr>
          <p:cNvPr id="34" name="Shape 32"/>
          <p:cNvSpPr/>
          <p:nvPr/>
        </p:nvSpPr>
        <p:spPr>
          <a:xfrm>
            <a:off x="4434840" y="3012119"/>
            <a:ext cx="91440" cy="91440"/>
          </a:xfrm>
          <a:prstGeom prst="ellipse">
            <a:avLst/>
          </a:prstGeom>
          <a:solidFill>
            <a:srgbClr val="15803D"/>
          </a:solidFill>
          <a:ln w="12700">
            <a:solidFill>
              <a:srgbClr val="15803D"/>
            </a:solidFill>
            <a:prstDash val="solid"/>
          </a:ln>
        </p:spPr>
      </p:sp>
      <p:sp>
        <p:nvSpPr>
          <p:cNvPr id="35" name="Shape 33"/>
          <p:cNvSpPr/>
          <p:nvPr/>
        </p:nvSpPr>
        <p:spPr>
          <a:xfrm>
            <a:off x="4480560" y="3057839"/>
            <a:ext cx="1188720" cy="-1025829"/>
          </a:xfrm>
          <a:prstGeom prst="line">
            <a:avLst/>
          </a:prstGeom>
          <a:noFill/>
          <a:ln w="22860">
            <a:solidFill>
              <a:srgbClr val="15803D"/>
            </a:solidFill>
            <a:prstDash val="solid"/>
            <a:headEnd type="none"/>
            <a:tailEnd type="triangle"/>
          </a:ln>
        </p:spPr>
      </p:sp>
      <p:sp>
        <p:nvSpPr>
          <p:cNvPr id="36" name="Shape 34"/>
          <p:cNvSpPr/>
          <p:nvPr/>
        </p:nvSpPr>
        <p:spPr>
          <a:xfrm>
            <a:off x="5623560" y="1986289"/>
            <a:ext cx="91440" cy="91440"/>
          </a:xfrm>
          <a:prstGeom prst="ellipse">
            <a:avLst/>
          </a:prstGeom>
          <a:solidFill>
            <a:srgbClr val="15803D"/>
          </a:solidFill>
          <a:ln w="12700">
            <a:solidFill>
              <a:srgbClr val="15803D"/>
            </a:solidFill>
            <a:prstDash val="solid"/>
          </a:ln>
        </p:spPr>
      </p:sp>
      <p:sp>
        <p:nvSpPr>
          <p:cNvPr id="37" name="Shape 35"/>
          <p:cNvSpPr/>
          <p:nvPr/>
        </p:nvSpPr>
        <p:spPr>
          <a:xfrm>
            <a:off x="5669280" y="2032009"/>
            <a:ext cx="1188720" cy="-923246"/>
          </a:xfrm>
          <a:prstGeom prst="line">
            <a:avLst/>
          </a:prstGeom>
          <a:noFill/>
          <a:ln w="22860">
            <a:solidFill>
              <a:srgbClr val="15803D"/>
            </a:solidFill>
            <a:prstDash val="solid"/>
            <a:headEnd type="none"/>
            <a:tailEnd type="triangle"/>
          </a:ln>
        </p:spPr>
      </p:sp>
      <p:sp>
        <p:nvSpPr>
          <p:cNvPr id="38" name="Shape 36"/>
          <p:cNvSpPr/>
          <p:nvPr/>
        </p:nvSpPr>
        <p:spPr>
          <a:xfrm>
            <a:off x="6812280" y="1063043"/>
            <a:ext cx="91440" cy="91440"/>
          </a:xfrm>
          <a:prstGeom prst="ellipse">
            <a:avLst/>
          </a:prstGeom>
          <a:solidFill>
            <a:srgbClr val="15803D"/>
          </a:solidFill>
          <a:ln w="12700">
            <a:solidFill>
              <a:srgbClr val="15803D"/>
            </a:solidFill>
            <a:prstDash val="solid"/>
          </a:ln>
        </p:spPr>
      </p:sp>
      <p:sp>
        <p:nvSpPr>
          <p:cNvPr id="39" name="Text 37"/>
          <p:cNvSpPr/>
          <p:nvPr/>
        </p:nvSpPr>
        <p:spPr>
          <a:xfrm>
            <a:off x="2926080" y="5504688"/>
            <a:ext cx="2011680" cy="2743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problem size n</a:t>
            </a:r>
            <a:endParaRPr lang="en-US" sz="1200" dirty="0"/>
          </a:p>
        </p:txBody>
      </p:sp>
      <p:sp>
        <p:nvSpPr>
          <p:cNvPr id="40" name="Text 38"/>
          <p:cNvSpPr/>
          <p:nvPr/>
        </p:nvSpPr>
        <p:spPr>
          <a:xfrm>
            <a:off x="347472" y="3401568"/>
            <a:ext cx="822960" cy="2743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iterations</a:t>
            </a:r>
            <a:endParaRPr lang="en-US" sz="1200" dirty="0"/>
          </a:p>
        </p:txBody>
      </p:sp>
      <p:sp>
        <p:nvSpPr>
          <p:cNvPr id="41" name="Shape 39"/>
          <p:cNvSpPr/>
          <p:nvPr/>
        </p:nvSpPr>
        <p:spPr>
          <a:xfrm>
            <a:off x="7315200" y="1828800"/>
            <a:ext cx="749808" cy="347472"/>
          </a:xfrm>
          <a:prstGeom prst="roundRect">
            <a:avLst>
              <a:gd name="adj" fmla="val 31579"/>
            </a:avLst>
          </a:prstGeom>
          <a:solidFill>
            <a:srgbClr val="2563EB"/>
          </a:solidFill>
          <a:ln w="12700">
            <a:solidFill>
              <a:srgbClr val="2563EB">
                <a:alpha val="0"/>
              </a:srgbClr>
            </a:solidFill>
            <a:prstDash val="solid"/>
          </a:ln>
        </p:spPr>
      </p:sp>
      <p:sp>
        <p:nvSpPr>
          <p:cNvPr id="42" name="Text 40"/>
          <p:cNvSpPr/>
          <p:nvPr/>
        </p:nvSpPr>
        <p:spPr>
          <a:xfrm>
            <a:off x="7315200" y="1837944"/>
            <a:ext cx="749808"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10M</a:t>
            </a:r>
            <a:endParaRPr lang="en-US" sz="1000" dirty="0"/>
          </a:p>
        </p:txBody>
      </p:sp>
      <p:sp>
        <p:nvSpPr>
          <p:cNvPr id="43" name="Shape 41"/>
          <p:cNvSpPr/>
          <p:nvPr/>
        </p:nvSpPr>
        <p:spPr>
          <a:xfrm>
            <a:off x="7315200" y="2286000"/>
            <a:ext cx="749808" cy="347472"/>
          </a:xfrm>
          <a:prstGeom prst="roundRect">
            <a:avLst>
              <a:gd name="adj" fmla="val 31579"/>
            </a:avLst>
          </a:prstGeom>
          <a:solidFill>
            <a:srgbClr val="F97316"/>
          </a:solidFill>
          <a:ln w="12700">
            <a:solidFill>
              <a:srgbClr val="F97316">
                <a:alpha val="0"/>
              </a:srgbClr>
            </a:solidFill>
            <a:prstDash val="solid"/>
          </a:ln>
        </p:spPr>
      </p:sp>
      <p:sp>
        <p:nvSpPr>
          <p:cNvPr id="44" name="Text 42"/>
          <p:cNvSpPr/>
          <p:nvPr/>
        </p:nvSpPr>
        <p:spPr>
          <a:xfrm>
            <a:off x="7315200" y="2295144"/>
            <a:ext cx="749808"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25M</a:t>
            </a:r>
            <a:endParaRPr lang="en-US" sz="1000" dirty="0"/>
          </a:p>
        </p:txBody>
      </p:sp>
      <p:sp>
        <p:nvSpPr>
          <p:cNvPr id="45" name="Shape 43"/>
          <p:cNvSpPr/>
          <p:nvPr/>
        </p:nvSpPr>
        <p:spPr>
          <a:xfrm>
            <a:off x="7315200" y="2743200"/>
            <a:ext cx="749808" cy="347472"/>
          </a:xfrm>
          <a:prstGeom prst="roundRect">
            <a:avLst>
              <a:gd name="adj" fmla="val 31579"/>
            </a:avLst>
          </a:prstGeom>
          <a:solidFill>
            <a:srgbClr val="15803D"/>
          </a:solidFill>
          <a:ln w="12700">
            <a:solidFill>
              <a:srgbClr val="15803D">
                <a:alpha val="0"/>
              </a:srgbClr>
            </a:solidFill>
            <a:prstDash val="solid"/>
          </a:ln>
        </p:spPr>
      </p:sp>
      <p:sp>
        <p:nvSpPr>
          <p:cNvPr id="46" name="Text 44"/>
          <p:cNvSpPr/>
          <p:nvPr/>
        </p:nvSpPr>
        <p:spPr>
          <a:xfrm>
            <a:off x="7315200" y="2752344"/>
            <a:ext cx="749808"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85M</a:t>
            </a:r>
            <a:endParaRPr lang="en-US" sz="1000" dirty="0"/>
          </a:p>
        </p:txBody>
      </p:sp>
      <p:sp>
        <p:nvSpPr>
          <p:cNvPr id="47" name="Text 45"/>
          <p:cNvSpPr/>
          <p:nvPr/>
        </p:nvSpPr>
        <p:spPr>
          <a:xfrm>
            <a:off x="8275320" y="1600200"/>
            <a:ext cx="2560320" cy="274320"/>
          </a:xfrm>
          <a:prstGeom prst="rect">
            <a:avLst/>
          </a:prstGeom>
          <a:noFill/>
          <a:ln/>
        </p:spPr>
        <p:txBody>
          <a:bodyPr wrap="square" lIns="635" tIns="635" rIns="635" bIns="635" rtlCol="0" anchor="ctr">
            <a:normAutofit/>
          </a:bodyPr>
          <a:lstStyle/>
          <a:p>
            <a:pPr algn="l" indent="0" marL="0">
              <a:buNone/>
            </a:pPr>
            <a:r>
              <a:rPr lang="en-US" sz="1300" b="1" dirty="0">
                <a:solidFill>
                  <a:srgbClr val="102A43"/>
                </a:solidFill>
                <a:latin typeface="Aptos" pitchFamily="34" charset="0"/>
                <a:ea typeface="Aptos" pitchFamily="34" charset="-122"/>
                <a:cs typeface="Aptos" pitchFamily="34" charset="-120"/>
              </a:rPr>
              <a:t>Figure-level message</a:t>
            </a:r>
            <a:endParaRPr lang="en-US" sz="1300" dirty="0"/>
          </a:p>
        </p:txBody>
      </p:sp>
      <p:sp>
        <p:nvSpPr>
          <p:cNvPr id="48" name="Text 46"/>
          <p:cNvSpPr/>
          <p:nvPr/>
        </p:nvSpPr>
        <p:spPr>
          <a:xfrm>
            <a:off x="8156448" y="2011680"/>
            <a:ext cx="2834640" cy="91440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Scale helps only so much.</a:t>
            </a:r>
            <a:endParaRPr lang="en-US" sz="2000" dirty="0"/>
          </a:p>
          <a:p>
            <a:pPr algn="ctr" indent="0" marL="0">
              <a:buNone/>
            </a:pPr>
            <a:r>
              <a:rPr lang="en-US" sz="2000" b="1" dirty="0">
                <a:solidFill>
                  <a:srgbClr val="102A43"/>
                </a:solidFill>
                <a:latin typeface="Aptos" pitchFamily="34" charset="0"/>
                <a:ea typeface="Aptos" pitchFamily="34" charset="-122"/>
                <a:cs typeface="Aptos" pitchFamily="34" charset="-120"/>
              </a:rPr>
              <a:t>The curve still bends upward rapidly.</a:t>
            </a:r>
            <a:endParaRPr lang="en-US" sz="2000" dirty="0"/>
          </a:p>
        </p:txBody>
      </p:sp>
      <p:sp>
        <p:nvSpPr>
          <p:cNvPr id="49" name="Text 47"/>
          <p:cNvSpPr/>
          <p:nvPr/>
        </p:nvSpPr>
        <p:spPr>
          <a:xfrm>
            <a:off x="8183880" y="3429000"/>
            <a:ext cx="2743200" cy="59436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The theorem explains why: the target itself has high globality.</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real question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Can we formalize “how global” a target is?</a:t>
            </a:r>
            <a:endParaRPr lang="en-US" sz="1200" dirty="0"/>
          </a:p>
        </p:txBody>
      </p:sp>
      <p:sp>
        <p:nvSpPr>
          <p:cNvPr id="4" name="Text 2"/>
          <p:cNvSpPr/>
          <p:nvPr/>
        </p:nvSpPr>
        <p:spPr>
          <a:xfrm>
            <a:off x="1005840" y="1600200"/>
            <a:ext cx="1097280" cy="502920"/>
          </a:xfrm>
          <a:prstGeom prst="rect">
            <a:avLst/>
          </a:prstGeom>
          <a:noFill/>
          <a:ln/>
        </p:spPr>
        <p:txBody>
          <a:bodyPr wrap="square" lIns="635" tIns="635" rIns="635" bIns="635" rtlCol="0" anchor="ctr">
            <a:normAutofit/>
          </a:bodyPr>
          <a:lstStyle/>
          <a:p>
            <a:pPr algn="ctr" indent="0" marL="0">
              <a:buNone/>
            </a:pPr>
            <a:r>
              <a:rPr lang="en-US" sz="2200" b="1" dirty="0">
                <a:solidFill>
                  <a:srgbClr val="DC2626"/>
                </a:solidFill>
                <a:latin typeface="Aptos" pitchFamily="34" charset="0"/>
                <a:ea typeface="Aptos" pitchFamily="34" charset="-122"/>
                <a:cs typeface="Aptos" pitchFamily="34" charset="-120"/>
              </a:rPr>
              <a:t>NOT</a:t>
            </a:r>
            <a:endParaRPr lang="en-US" sz="2200" dirty="0"/>
          </a:p>
        </p:txBody>
      </p:sp>
      <p:sp>
        <p:nvSpPr>
          <p:cNvPr id="5" name="Text 3"/>
          <p:cNvSpPr/>
          <p:nvPr/>
        </p:nvSpPr>
        <p:spPr>
          <a:xfrm>
            <a:off x="868680" y="2240280"/>
            <a:ext cx="2926080" cy="731520"/>
          </a:xfrm>
          <a:prstGeom prst="rect">
            <a:avLst/>
          </a:prstGeom>
          <a:noFill/>
          <a:ln/>
        </p:spPr>
        <p:txBody>
          <a:bodyPr wrap="square" lIns="635" tIns="635" rIns="635" bIns="635" rtlCol="0" anchor="ctr">
            <a:normAutofit/>
          </a:bodyPr>
          <a:lstStyle/>
          <a:p>
            <a:pPr algn="ctr" indent="0" marL="0">
              <a:buNone/>
            </a:pPr>
            <a:r>
              <a:rPr lang="en-US" sz="2100" b="1" dirty="0">
                <a:solidFill>
                  <a:srgbClr val="102A43"/>
                </a:solidFill>
                <a:latin typeface="Aptos" pitchFamily="34" charset="0"/>
                <a:ea typeface="Aptos" pitchFamily="34" charset="-122"/>
                <a:cs typeface="Aptos" pitchFamily="34" charset="-120"/>
              </a:rPr>
              <a:t>“How many Transformer layers are needed?”</a:t>
            </a:r>
            <a:endParaRPr lang="en-US" sz="2100" dirty="0"/>
          </a:p>
        </p:txBody>
      </p:sp>
      <p:sp>
        <p:nvSpPr>
          <p:cNvPr id="6" name="Text 4"/>
          <p:cNvSpPr/>
          <p:nvPr/>
        </p:nvSpPr>
        <p:spPr>
          <a:xfrm>
            <a:off x="4846320" y="1600200"/>
            <a:ext cx="1097280" cy="502920"/>
          </a:xfrm>
          <a:prstGeom prst="rect">
            <a:avLst/>
          </a:prstGeom>
          <a:noFill/>
          <a:ln/>
        </p:spPr>
        <p:txBody>
          <a:bodyPr wrap="square" lIns="635" tIns="635" rIns="635" bIns="635" rtlCol="0" anchor="ctr">
            <a:normAutofit/>
          </a:bodyPr>
          <a:lstStyle/>
          <a:p>
            <a:pPr algn="ctr" indent="0" marL="0">
              <a:buNone/>
            </a:pPr>
            <a:r>
              <a:rPr lang="en-US" sz="2200" b="1" dirty="0">
                <a:solidFill>
                  <a:srgbClr val="F97316"/>
                </a:solidFill>
                <a:latin typeface="Aptos" pitchFamily="34" charset="0"/>
                <a:ea typeface="Aptos" pitchFamily="34" charset="-122"/>
                <a:cs typeface="Aptos" pitchFamily="34" charset="-120"/>
              </a:rPr>
              <a:t>BUT</a:t>
            </a:r>
            <a:endParaRPr lang="en-US" sz="2200" dirty="0"/>
          </a:p>
        </p:txBody>
      </p:sp>
      <p:sp>
        <p:nvSpPr>
          <p:cNvPr id="7" name="Text 5"/>
          <p:cNvSpPr/>
          <p:nvPr/>
        </p:nvSpPr>
        <p:spPr>
          <a:xfrm>
            <a:off x="3977640" y="2212848"/>
            <a:ext cx="3017520" cy="1143000"/>
          </a:xfrm>
          <a:prstGeom prst="rect">
            <a:avLst/>
          </a:prstGeom>
          <a:noFill/>
          <a:ln/>
        </p:spPr>
        <p:txBody>
          <a:bodyPr wrap="square" lIns="635" tIns="635" rIns="635" bIns="635" rtlCol="0" anchor="ctr">
            <a:normAutofit/>
          </a:bodyPr>
          <a:lstStyle/>
          <a:p>
            <a:pPr algn="ctr" indent="0" marL="0">
              <a:buNone/>
            </a:pPr>
            <a:r>
              <a:rPr lang="en-US" sz="2100" b="1" dirty="0">
                <a:solidFill>
                  <a:srgbClr val="102A43"/>
                </a:solidFill>
                <a:latin typeface="Aptos" pitchFamily="34" charset="0"/>
                <a:ea typeface="Aptos" pitchFamily="34" charset="-122"/>
                <a:cs typeface="Aptos" pitchFamily="34" charset="-120"/>
              </a:rPr>
              <a:t>“How many input tokens must influence the label before any weak signal appears?”</a:t>
            </a:r>
            <a:endParaRPr lang="en-US" sz="2100" dirty="0"/>
          </a:p>
        </p:txBody>
      </p:sp>
      <p:sp>
        <p:nvSpPr>
          <p:cNvPr id="8" name="Text 6"/>
          <p:cNvSpPr/>
          <p:nvPr/>
        </p:nvSpPr>
        <p:spPr>
          <a:xfrm>
            <a:off x="8458200" y="1600200"/>
            <a:ext cx="2560320" cy="1097280"/>
          </a:xfrm>
          <a:prstGeom prst="rect">
            <a:avLst/>
          </a:prstGeom>
          <a:noFill/>
          <a:ln/>
        </p:spPr>
        <p:txBody>
          <a:bodyPr wrap="square" lIns="635" tIns="635" rIns="635" bIns="635" rtlCol="0" anchor="ctr">
            <a:normAutofit/>
          </a:bodyPr>
          <a:lstStyle/>
          <a:p>
            <a:pPr algn="ctr" indent="0" marL="0">
              <a:buNone/>
            </a:pPr>
            <a:r>
              <a:rPr lang="en-US" sz="1800" b="1" dirty="0">
                <a:solidFill>
                  <a:srgbClr val="2563EB"/>
                </a:solidFill>
                <a:latin typeface="Aptos" pitchFamily="34" charset="0"/>
                <a:ea typeface="Aptos" pitchFamily="34" charset="-122"/>
                <a:cs typeface="Aptos" pitchFamily="34" charset="-120"/>
              </a:rPr>
              <a:t>The second question is a property of the data distribution.</a:t>
            </a:r>
            <a:endParaRPr lang="en-US" sz="1800" dirty="0"/>
          </a:p>
        </p:txBody>
      </p:sp>
      <p:sp>
        <p:nvSpPr>
          <p:cNvPr id="9" name="Shape 7"/>
          <p:cNvSpPr/>
          <p:nvPr/>
        </p:nvSpPr>
        <p:spPr>
          <a:xfrm>
            <a:off x="7269480" y="3063240"/>
            <a:ext cx="1051560" cy="0"/>
          </a:xfrm>
          <a:prstGeom prst="line">
            <a:avLst/>
          </a:prstGeom>
          <a:noFill/>
          <a:ln w="38100">
            <a:solidFill>
              <a:srgbClr val="2563EB"/>
            </a:solidFill>
            <a:prstDash val="solid"/>
            <a:headEnd type="none"/>
            <a:tailEnd type="triangle"/>
          </a:ln>
        </p:spPr>
      </p:sp>
      <p:sp>
        <p:nvSpPr>
          <p:cNvPr id="10" name="Text 8"/>
          <p:cNvSpPr/>
          <p:nvPr/>
        </p:nvSpPr>
        <p:spPr>
          <a:xfrm>
            <a:off x="3840480" y="3977640"/>
            <a:ext cx="4389120" cy="594360"/>
          </a:xfrm>
          <a:prstGeom prst="rect">
            <a:avLst/>
          </a:prstGeom>
          <a:noFill/>
          <a:ln/>
        </p:spPr>
        <p:txBody>
          <a:bodyPr wrap="square" lIns="635" tIns="635" rIns="635" bIns="635" rtlCol="0" anchor="ctr">
            <a:normAutofit/>
          </a:bodyPr>
          <a:lstStyle/>
          <a:p>
            <a:pPr algn="ctr" indent="0" marL="0">
              <a:buNone/>
            </a:pPr>
            <a:r>
              <a:rPr lang="en-US" sz="3200" b="1" dirty="0">
                <a:solidFill>
                  <a:srgbClr val="2563EB"/>
                </a:solidFill>
                <a:latin typeface="Aptos" pitchFamily="34" charset="0"/>
                <a:ea typeface="Aptos" pitchFamily="34" charset="-122"/>
                <a:cs typeface="Aptos" pitchFamily="34" charset="-120"/>
              </a:rPr>
              <a:t>GLOBALITY</a:t>
            </a:r>
            <a:endParaRPr lang="en-US" sz="3200" dirty="0"/>
          </a:p>
        </p:txBody>
      </p:sp>
      <p:sp>
        <p:nvSpPr>
          <p:cNvPr id="11" name="Text 9"/>
          <p:cNvSpPr/>
          <p:nvPr/>
        </p:nvSpPr>
        <p:spPr>
          <a:xfrm>
            <a:off x="2926080" y="4572000"/>
            <a:ext cx="6217920" cy="50292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a distribution-level measure of the smallest relevant token set</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Globality degree: the key definition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Smallest number of selected tokens that create non-trivial label information, beyond the histogram.</a:t>
            </a:r>
            <a:endParaRPr lang="en-US" sz="1200" dirty="0"/>
          </a:p>
        </p:txBody>
      </p:sp>
      <p:sp>
        <p:nvSpPr>
          <p:cNvPr id="4" name="Shape 2"/>
          <p:cNvSpPr/>
          <p:nvPr/>
        </p:nvSpPr>
        <p:spPr>
          <a:xfrm>
            <a:off x="777240" y="1325880"/>
            <a:ext cx="10607040" cy="1828800"/>
          </a:xfrm>
          <a:prstGeom prst="roundRect">
            <a:avLst>
              <a:gd name="adj" fmla="val 3000"/>
            </a:avLst>
          </a:prstGeom>
          <a:solidFill>
            <a:srgbClr val="FFFFFF"/>
          </a:solidFill>
          <a:ln w="12700">
            <a:solidFill>
              <a:srgbClr val="CBD5E1"/>
            </a:solidFill>
            <a:prstDash val="solid"/>
          </a:ln>
        </p:spPr>
      </p:sp>
      <p:sp>
        <p:nvSpPr>
          <p:cNvPr id="5" name="Text 3"/>
          <p:cNvSpPr/>
          <p:nvPr/>
        </p:nvSpPr>
        <p:spPr>
          <a:xfrm>
            <a:off x="1051560" y="1572768"/>
            <a:ext cx="4480560" cy="384048"/>
          </a:xfrm>
          <a:prstGeom prst="rect">
            <a:avLst/>
          </a:prstGeom>
          <a:noFill/>
          <a:ln/>
        </p:spPr>
        <p:txBody>
          <a:bodyPr wrap="square" lIns="635" tIns="635" rIns="635" bIns="635" rtlCol="0" anchor="ctr">
            <a:normAutofit/>
          </a:bodyPr>
          <a:lstStyle/>
          <a:p>
            <a:pPr algn="l" indent="0" marL="0">
              <a:buNone/>
            </a:pPr>
            <a:r>
              <a:rPr lang="en-US" sz="2400" b="1" dirty="0">
                <a:solidFill>
                  <a:srgbClr val="102A43"/>
                </a:solidFill>
                <a:latin typeface="Aptos" pitchFamily="34" charset="0"/>
                <a:ea typeface="Aptos" pitchFamily="34" charset="-122"/>
                <a:cs typeface="Aptos" pitchFamily="34" charset="-120"/>
              </a:rPr>
              <a:t>glob(D) = min |S|  such that</a:t>
            </a:r>
            <a:endParaRPr lang="en-US" sz="2400" dirty="0"/>
          </a:p>
        </p:txBody>
      </p:sp>
      <p:sp>
        <p:nvSpPr>
          <p:cNvPr id="6" name="Text 4"/>
          <p:cNvSpPr/>
          <p:nvPr/>
        </p:nvSpPr>
        <p:spPr>
          <a:xfrm>
            <a:off x="1417320" y="2130552"/>
            <a:ext cx="8961120" cy="530352"/>
          </a:xfrm>
          <a:prstGeom prst="rect">
            <a:avLst/>
          </a:prstGeom>
          <a:noFill/>
          <a:ln/>
        </p:spPr>
        <p:txBody>
          <a:bodyPr wrap="square" lIns="635" tIns="635" rIns="635" bIns="635" rtlCol="0" anchor="ctr">
            <a:normAutofit/>
          </a:bodyPr>
          <a:lstStyle/>
          <a:p>
            <a:pPr algn="ctr" indent="0" marL="0">
              <a:buNone/>
            </a:pPr>
            <a:r>
              <a:rPr lang="en-US" sz="2700" b="1" dirty="0">
                <a:solidFill>
                  <a:srgbClr val="2563EB"/>
                </a:solidFill>
                <a:latin typeface="Aptos" pitchFamily="34" charset="0"/>
                <a:ea typeface="Aptos" pitchFamily="34" charset="-122"/>
                <a:cs typeface="Aptos" pitchFamily="34" charset="-120"/>
              </a:rPr>
              <a:t>I( X[S],  P̂X ; Y )  =  n⁻O(1)</a:t>
            </a:r>
            <a:endParaRPr lang="en-US" sz="2700" dirty="0"/>
          </a:p>
        </p:txBody>
      </p:sp>
      <p:sp>
        <p:nvSpPr>
          <p:cNvPr id="7" name="Text 5"/>
          <p:cNvSpPr/>
          <p:nvPr/>
        </p:nvSpPr>
        <p:spPr>
          <a:xfrm>
            <a:off x="1417320" y="2743200"/>
            <a:ext cx="8686800" cy="320040"/>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X[S] = selected tokens · P̂X = token histogram · Y = label</a:t>
            </a:r>
            <a:endParaRPr lang="en-US" sz="1300" dirty="0"/>
          </a:p>
        </p:txBody>
      </p:sp>
      <p:sp>
        <p:nvSpPr>
          <p:cNvPr id="8" name="Text 6"/>
          <p:cNvSpPr/>
          <p:nvPr/>
        </p:nvSpPr>
        <p:spPr>
          <a:xfrm>
            <a:off x="914400" y="3749040"/>
            <a:ext cx="2834640" cy="320040"/>
          </a:xfrm>
          <a:prstGeom prst="rect">
            <a:avLst/>
          </a:prstGeom>
          <a:noFill/>
          <a:ln/>
        </p:spPr>
        <p:txBody>
          <a:bodyPr wrap="square" lIns="635" tIns="635" rIns="635" bIns="635" rtlCol="0" anchor="ctr">
            <a:normAutofit/>
          </a:bodyPr>
          <a:lstStyle/>
          <a:p>
            <a:pPr algn="l" indent="0" marL="0">
              <a:buNone/>
            </a:pPr>
            <a:r>
              <a:rPr lang="en-US" sz="1500" b="1" dirty="0">
                <a:solidFill>
                  <a:srgbClr val="52606D"/>
                </a:solidFill>
                <a:latin typeface="Aptos" pitchFamily="34" charset="0"/>
                <a:ea typeface="Aptos" pitchFamily="34" charset="-122"/>
                <a:cs typeface="Aptos" pitchFamily="34" charset="-120"/>
              </a:rPr>
              <a:t>Think of it operationally:</a:t>
            </a:r>
            <a:endParaRPr lang="en-US" sz="1500" dirty="0"/>
          </a:p>
        </p:txBody>
      </p:sp>
      <p:sp>
        <p:nvSpPr>
          <p:cNvPr id="9" name="Shape 7"/>
          <p:cNvSpPr/>
          <p:nvPr/>
        </p:nvSpPr>
        <p:spPr>
          <a:xfrm>
            <a:off x="1051560" y="4343400"/>
            <a:ext cx="566928" cy="384048"/>
          </a:xfrm>
          <a:prstGeom prst="roundRect">
            <a:avLst>
              <a:gd name="adj" fmla="val 19048"/>
            </a:avLst>
          </a:prstGeom>
          <a:solidFill>
            <a:srgbClr val="EFF6FF"/>
          </a:solidFill>
          <a:ln w="12700">
            <a:solidFill>
              <a:srgbClr val="60A5FA"/>
            </a:solidFill>
            <a:prstDash val="solid"/>
          </a:ln>
        </p:spPr>
      </p:sp>
      <p:sp>
        <p:nvSpPr>
          <p:cNvPr id="10" name="Text 8"/>
          <p:cNvSpPr/>
          <p:nvPr/>
        </p:nvSpPr>
        <p:spPr>
          <a:xfrm>
            <a:off x="1051560"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1</a:t>
            </a:r>
            <a:endParaRPr lang="en-US" sz="1300" dirty="0"/>
          </a:p>
        </p:txBody>
      </p:sp>
      <p:sp>
        <p:nvSpPr>
          <p:cNvPr id="11" name="Shape 9"/>
          <p:cNvSpPr/>
          <p:nvPr/>
        </p:nvSpPr>
        <p:spPr>
          <a:xfrm>
            <a:off x="1847088" y="4343400"/>
            <a:ext cx="566928" cy="384048"/>
          </a:xfrm>
          <a:prstGeom prst="roundRect">
            <a:avLst>
              <a:gd name="adj" fmla="val 19048"/>
            </a:avLst>
          </a:prstGeom>
          <a:solidFill>
            <a:srgbClr val="EFF6FF"/>
          </a:solidFill>
          <a:ln w="12700">
            <a:solidFill>
              <a:srgbClr val="60A5FA"/>
            </a:solidFill>
            <a:prstDash val="solid"/>
          </a:ln>
        </p:spPr>
      </p:sp>
      <p:sp>
        <p:nvSpPr>
          <p:cNvPr id="12" name="Text 10"/>
          <p:cNvSpPr/>
          <p:nvPr/>
        </p:nvSpPr>
        <p:spPr>
          <a:xfrm>
            <a:off x="1847088"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2</a:t>
            </a:r>
            <a:endParaRPr lang="en-US" sz="1300" dirty="0"/>
          </a:p>
        </p:txBody>
      </p:sp>
      <p:sp>
        <p:nvSpPr>
          <p:cNvPr id="13" name="Shape 11"/>
          <p:cNvSpPr/>
          <p:nvPr/>
        </p:nvSpPr>
        <p:spPr>
          <a:xfrm>
            <a:off x="2642616" y="4343400"/>
            <a:ext cx="566928" cy="384048"/>
          </a:xfrm>
          <a:prstGeom prst="roundRect">
            <a:avLst>
              <a:gd name="adj" fmla="val 19048"/>
            </a:avLst>
          </a:prstGeom>
          <a:solidFill>
            <a:srgbClr val="EFF6FF"/>
          </a:solidFill>
          <a:ln w="12700">
            <a:solidFill>
              <a:srgbClr val="60A5FA"/>
            </a:solidFill>
            <a:prstDash val="solid"/>
          </a:ln>
        </p:spPr>
      </p:sp>
      <p:sp>
        <p:nvSpPr>
          <p:cNvPr id="14" name="Text 12"/>
          <p:cNvSpPr/>
          <p:nvPr/>
        </p:nvSpPr>
        <p:spPr>
          <a:xfrm>
            <a:off x="2642616"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3</a:t>
            </a:r>
            <a:endParaRPr lang="en-US" sz="1300" dirty="0"/>
          </a:p>
        </p:txBody>
      </p:sp>
      <p:sp>
        <p:nvSpPr>
          <p:cNvPr id="15" name="Shape 13"/>
          <p:cNvSpPr/>
          <p:nvPr/>
        </p:nvSpPr>
        <p:spPr>
          <a:xfrm>
            <a:off x="3438144" y="4343400"/>
            <a:ext cx="566928" cy="384048"/>
          </a:xfrm>
          <a:prstGeom prst="roundRect">
            <a:avLst>
              <a:gd name="adj" fmla="val 19048"/>
            </a:avLst>
          </a:prstGeom>
          <a:solidFill>
            <a:srgbClr val="FFFFFF"/>
          </a:solidFill>
          <a:ln w="12700">
            <a:solidFill>
              <a:srgbClr val="CBD5E1"/>
            </a:solidFill>
            <a:prstDash val="solid"/>
          </a:ln>
        </p:spPr>
      </p:sp>
      <p:sp>
        <p:nvSpPr>
          <p:cNvPr id="16" name="Text 14"/>
          <p:cNvSpPr/>
          <p:nvPr/>
        </p:nvSpPr>
        <p:spPr>
          <a:xfrm>
            <a:off x="3438144"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4</a:t>
            </a:r>
            <a:endParaRPr lang="en-US" sz="1300" dirty="0"/>
          </a:p>
        </p:txBody>
      </p:sp>
      <p:sp>
        <p:nvSpPr>
          <p:cNvPr id="17" name="Shape 15"/>
          <p:cNvSpPr/>
          <p:nvPr/>
        </p:nvSpPr>
        <p:spPr>
          <a:xfrm>
            <a:off x="4233672" y="4343400"/>
            <a:ext cx="566928" cy="384048"/>
          </a:xfrm>
          <a:prstGeom prst="roundRect">
            <a:avLst>
              <a:gd name="adj" fmla="val 19048"/>
            </a:avLst>
          </a:prstGeom>
          <a:solidFill>
            <a:srgbClr val="FFFFFF"/>
          </a:solidFill>
          <a:ln w="12700">
            <a:solidFill>
              <a:srgbClr val="CBD5E1"/>
            </a:solidFill>
            <a:prstDash val="solid"/>
          </a:ln>
        </p:spPr>
      </p:sp>
      <p:sp>
        <p:nvSpPr>
          <p:cNvPr id="18" name="Text 16"/>
          <p:cNvSpPr/>
          <p:nvPr/>
        </p:nvSpPr>
        <p:spPr>
          <a:xfrm>
            <a:off x="4233672"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5</a:t>
            </a:r>
            <a:endParaRPr lang="en-US" sz="1300" dirty="0"/>
          </a:p>
        </p:txBody>
      </p:sp>
      <p:sp>
        <p:nvSpPr>
          <p:cNvPr id="19" name="Shape 17"/>
          <p:cNvSpPr/>
          <p:nvPr/>
        </p:nvSpPr>
        <p:spPr>
          <a:xfrm>
            <a:off x="5029200" y="4343400"/>
            <a:ext cx="566928" cy="384048"/>
          </a:xfrm>
          <a:prstGeom prst="roundRect">
            <a:avLst>
              <a:gd name="adj" fmla="val 19048"/>
            </a:avLst>
          </a:prstGeom>
          <a:solidFill>
            <a:srgbClr val="FFFFFF"/>
          </a:solidFill>
          <a:ln w="12700">
            <a:solidFill>
              <a:srgbClr val="CBD5E1"/>
            </a:solidFill>
            <a:prstDash val="solid"/>
          </a:ln>
        </p:spPr>
      </p:sp>
      <p:sp>
        <p:nvSpPr>
          <p:cNvPr id="20" name="Text 18"/>
          <p:cNvSpPr/>
          <p:nvPr/>
        </p:nvSpPr>
        <p:spPr>
          <a:xfrm>
            <a:off x="5029200"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6</a:t>
            </a:r>
            <a:endParaRPr lang="en-US" sz="1300" dirty="0"/>
          </a:p>
        </p:txBody>
      </p:sp>
      <p:sp>
        <p:nvSpPr>
          <p:cNvPr id="21" name="Shape 19"/>
          <p:cNvSpPr/>
          <p:nvPr/>
        </p:nvSpPr>
        <p:spPr>
          <a:xfrm>
            <a:off x="5824728" y="4343400"/>
            <a:ext cx="566928" cy="384048"/>
          </a:xfrm>
          <a:prstGeom prst="roundRect">
            <a:avLst>
              <a:gd name="adj" fmla="val 19048"/>
            </a:avLst>
          </a:prstGeom>
          <a:solidFill>
            <a:srgbClr val="FFFFFF"/>
          </a:solidFill>
          <a:ln w="12700">
            <a:solidFill>
              <a:srgbClr val="CBD5E1"/>
            </a:solidFill>
            <a:prstDash val="solid"/>
          </a:ln>
        </p:spPr>
      </p:sp>
      <p:sp>
        <p:nvSpPr>
          <p:cNvPr id="22" name="Text 20"/>
          <p:cNvSpPr/>
          <p:nvPr/>
        </p:nvSpPr>
        <p:spPr>
          <a:xfrm>
            <a:off x="5824728"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7</a:t>
            </a:r>
            <a:endParaRPr lang="en-US" sz="1300" dirty="0"/>
          </a:p>
        </p:txBody>
      </p:sp>
      <p:sp>
        <p:nvSpPr>
          <p:cNvPr id="23" name="Shape 21"/>
          <p:cNvSpPr/>
          <p:nvPr/>
        </p:nvSpPr>
        <p:spPr>
          <a:xfrm>
            <a:off x="6620256" y="4343400"/>
            <a:ext cx="566928" cy="384048"/>
          </a:xfrm>
          <a:prstGeom prst="roundRect">
            <a:avLst>
              <a:gd name="adj" fmla="val 19048"/>
            </a:avLst>
          </a:prstGeom>
          <a:solidFill>
            <a:srgbClr val="FFFFFF"/>
          </a:solidFill>
          <a:ln w="12700">
            <a:solidFill>
              <a:srgbClr val="CBD5E1"/>
            </a:solidFill>
            <a:prstDash val="solid"/>
          </a:ln>
        </p:spPr>
      </p:sp>
      <p:sp>
        <p:nvSpPr>
          <p:cNvPr id="24" name="Text 22"/>
          <p:cNvSpPr/>
          <p:nvPr/>
        </p:nvSpPr>
        <p:spPr>
          <a:xfrm>
            <a:off x="6620256"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8</a:t>
            </a:r>
            <a:endParaRPr lang="en-US" sz="1300" dirty="0"/>
          </a:p>
        </p:txBody>
      </p:sp>
      <p:sp>
        <p:nvSpPr>
          <p:cNvPr id="25" name="Shape 23"/>
          <p:cNvSpPr/>
          <p:nvPr/>
        </p:nvSpPr>
        <p:spPr>
          <a:xfrm>
            <a:off x="7415784" y="4343400"/>
            <a:ext cx="566928" cy="384048"/>
          </a:xfrm>
          <a:prstGeom prst="roundRect">
            <a:avLst>
              <a:gd name="adj" fmla="val 19048"/>
            </a:avLst>
          </a:prstGeom>
          <a:solidFill>
            <a:srgbClr val="FFFFFF"/>
          </a:solidFill>
          <a:ln w="12700">
            <a:solidFill>
              <a:srgbClr val="CBD5E1"/>
            </a:solidFill>
            <a:prstDash val="solid"/>
          </a:ln>
        </p:spPr>
      </p:sp>
      <p:sp>
        <p:nvSpPr>
          <p:cNvPr id="26" name="Text 24"/>
          <p:cNvSpPr/>
          <p:nvPr/>
        </p:nvSpPr>
        <p:spPr>
          <a:xfrm>
            <a:off x="7415784"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9</a:t>
            </a:r>
            <a:endParaRPr lang="en-US" sz="1300" dirty="0"/>
          </a:p>
        </p:txBody>
      </p:sp>
      <p:sp>
        <p:nvSpPr>
          <p:cNvPr id="27" name="Shape 25"/>
          <p:cNvSpPr/>
          <p:nvPr/>
        </p:nvSpPr>
        <p:spPr>
          <a:xfrm>
            <a:off x="8211312" y="4343400"/>
            <a:ext cx="566928" cy="384048"/>
          </a:xfrm>
          <a:prstGeom prst="roundRect">
            <a:avLst>
              <a:gd name="adj" fmla="val 19048"/>
            </a:avLst>
          </a:prstGeom>
          <a:solidFill>
            <a:srgbClr val="FFFFFF"/>
          </a:solidFill>
          <a:ln w="12700">
            <a:solidFill>
              <a:srgbClr val="CBD5E1"/>
            </a:solidFill>
            <a:prstDash val="solid"/>
          </a:ln>
        </p:spPr>
      </p:sp>
      <p:sp>
        <p:nvSpPr>
          <p:cNvPr id="28" name="Text 26"/>
          <p:cNvSpPr/>
          <p:nvPr/>
        </p:nvSpPr>
        <p:spPr>
          <a:xfrm>
            <a:off x="8211312" y="4361688"/>
            <a:ext cx="566928" cy="329184"/>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10</a:t>
            </a:r>
            <a:endParaRPr lang="en-US" sz="1300" dirty="0"/>
          </a:p>
        </p:txBody>
      </p:sp>
      <p:sp>
        <p:nvSpPr>
          <p:cNvPr id="29" name="Text 27"/>
          <p:cNvSpPr/>
          <p:nvPr/>
        </p:nvSpPr>
        <p:spPr>
          <a:xfrm>
            <a:off x="1005840" y="4846320"/>
            <a:ext cx="1828800" cy="32004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need only 3</a:t>
            </a:r>
            <a:endParaRPr lang="en-US" sz="1300" dirty="0"/>
          </a:p>
        </p:txBody>
      </p:sp>
      <p:sp>
        <p:nvSpPr>
          <p:cNvPr id="30" name="Text 28"/>
          <p:cNvSpPr/>
          <p:nvPr/>
        </p:nvSpPr>
        <p:spPr>
          <a:xfrm>
            <a:off x="8183880" y="4846320"/>
            <a:ext cx="1645920" cy="32004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need all n</a:t>
            </a:r>
            <a:endParaRPr lang="en-US" sz="1300" dirty="0"/>
          </a:p>
        </p:txBody>
      </p:sp>
      <p:sp>
        <p:nvSpPr>
          <p:cNvPr id="31" name="Text 29"/>
          <p:cNvSpPr/>
          <p:nvPr/>
        </p:nvSpPr>
        <p:spPr>
          <a:xfrm>
            <a:off x="868680" y="5321808"/>
            <a:ext cx="2011680" cy="320040"/>
          </a:xfrm>
          <a:prstGeom prst="rect">
            <a:avLst/>
          </a:prstGeom>
          <a:noFill/>
          <a:ln/>
        </p:spPr>
        <p:txBody>
          <a:bodyPr wrap="square" lIns="635" tIns="635" rIns="635" bIns="635" rtlCol="0" anchor="ctr">
            <a:normAutofit/>
          </a:bodyPr>
          <a:lstStyle/>
          <a:p>
            <a:pPr algn="ctr" indent="0" marL="0">
              <a:buNone/>
            </a:pPr>
            <a:r>
              <a:rPr lang="en-US" sz="1200" b="1" dirty="0">
                <a:solidFill>
                  <a:srgbClr val="15803D"/>
                </a:solidFill>
                <a:latin typeface="Aptos" pitchFamily="34" charset="0"/>
                <a:ea typeface="Aptos" pitchFamily="34" charset="-122"/>
                <a:cs typeface="Aptos" pitchFamily="34" charset="-120"/>
              </a:rPr>
              <a:t>low globality</a:t>
            </a:r>
            <a:endParaRPr lang="en-US" sz="1200" dirty="0"/>
          </a:p>
        </p:txBody>
      </p:sp>
      <p:sp>
        <p:nvSpPr>
          <p:cNvPr id="32" name="Text 30"/>
          <p:cNvSpPr/>
          <p:nvPr/>
        </p:nvSpPr>
        <p:spPr>
          <a:xfrm>
            <a:off x="8229600" y="5321808"/>
            <a:ext cx="1645920" cy="320040"/>
          </a:xfrm>
          <a:prstGeom prst="rect">
            <a:avLst/>
          </a:prstGeom>
          <a:noFill/>
          <a:ln/>
        </p:spPr>
        <p:txBody>
          <a:bodyPr wrap="square" lIns="635" tIns="635" rIns="635" bIns="635" rtlCol="0" anchor="ctr">
            <a:normAutofit/>
          </a:bodyPr>
          <a:lstStyle/>
          <a:p>
            <a:pPr algn="ctr" indent="0" marL="0">
              <a:buNone/>
            </a:pPr>
            <a:r>
              <a:rPr lang="en-US" sz="1200" b="1" dirty="0">
                <a:solidFill>
                  <a:srgbClr val="DC2626"/>
                </a:solidFill>
                <a:latin typeface="Aptos" pitchFamily="34" charset="0"/>
                <a:ea typeface="Aptos" pitchFamily="34" charset="-122"/>
                <a:cs typeface="Aptos" pitchFamily="34" charset="-120"/>
              </a:rPr>
              <a:t>high globality</a:t>
            </a:r>
            <a:endParaRPr lang="en-US" sz="12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Why condition on the histogram?</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It strips away global frequency cues and isolates which specific positions matter.</a:t>
            </a:r>
            <a:endParaRPr lang="en-US" sz="1200" dirty="0"/>
          </a:p>
        </p:txBody>
      </p:sp>
      <p:sp>
        <p:nvSpPr>
          <p:cNvPr id="4" name="Shape 2"/>
          <p:cNvSpPr/>
          <p:nvPr/>
        </p:nvSpPr>
        <p:spPr>
          <a:xfrm>
            <a:off x="914400" y="1508760"/>
            <a:ext cx="594360" cy="384048"/>
          </a:xfrm>
          <a:prstGeom prst="roundRect">
            <a:avLst>
              <a:gd name="adj" fmla="val 19048"/>
            </a:avLst>
          </a:prstGeom>
          <a:solidFill>
            <a:srgbClr val="FFFFFF"/>
          </a:solidFill>
          <a:ln w="12700">
            <a:solidFill>
              <a:srgbClr val="CBD5E1"/>
            </a:solidFill>
            <a:prstDash val="solid"/>
          </a:ln>
        </p:spPr>
      </p:sp>
      <p:sp>
        <p:nvSpPr>
          <p:cNvPr id="5" name="Text 3"/>
          <p:cNvSpPr/>
          <p:nvPr/>
        </p:nvSpPr>
        <p:spPr>
          <a:xfrm>
            <a:off x="914400"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6" name="Shape 4"/>
          <p:cNvSpPr/>
          <p:nvPr/>
        </p:nvSpPr>
        <p:spPr>
          <a:xfrm>
            <a:off x="1755648" y="1508760"/>
            <a:ext cx="594360" cy="384048"/>
          </a:xfrm>
          <a:prstGeom prst="roundRect">
            <a:avLst>
              <a:gd name="adj" fmla="val 19048"/>
            </a:avLst>
          </a:prstGeom>
          <a:solidFill>
            <a:srgbClr val="FFFFFF"/>
          </a:solidFill>
          <a:ln w="12700">
            <a:solidFill>
              <a:srgbClr val="CBD5E1"/>
            </a:solidFill>
            <a:prstDash val="solid"/>
          </a:ln>
        </p:spPr>
      </p:sp>
      <p:sp>
        <p:nvSpPr>
          <p:cNvPr id="7" name="Text 5"/>
          <p:cNvSpPr/>
          <p:nvPr/>
        </p:nvSpPr>
        <p:spPr>
          <a:xfrm>
            <a:off x="1755648"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8" name="Shape 6"/>
          <p:cNvSpPr/>
          <p:nvPr/>
        </p:nvSpPr>
        <p:spPr>
          <a:xfrm>
            <a:off x="2596896" y="1508760"/>
            <a:ext cx="594360" cy="384048"/>
          </a:xfrm>
          <a:prstGeom prst="roundRect">
            <a:avLst>
              <a:gd name="adj" fmla="val 19048"/>
            </a:avLst>
          </a:prstGeom>
          <a:solidFill>
            <a:srgbClr val="FFFFFF"/>
          </a:solidFill>
          <a:ln w="12700">
            <a:solidFill>
              <a:srgbClr val="CBD5E1"/>
            </a:solidFill>
            <a:prstDash val="solid"/>
          </a:ln>
        </p:spPr>
      </p:sp>
      <p:sp>
        <p:nvSpPr>
          <p:cNvPr id="9" name="Text 7"/>
          <p:cNvSpPr/>
          <p:nvPr/>
        </p:nvSpPr>
        <p:spPr>
          <a:xfrm>
            <a:off x="2596896"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10" name="Shape 8"/>
          <p:cNvSpPr/>
          <p:nvPr/>
        </p:nvSpPr>
        <p:spPr>
          <a:xfrm>
            <a:off x="3438144" y="1508760"/>
            <a:ext cx="594360" cy="384048"/>
          </a:xfrm>
          <a:prstGeom prst="roundRect">
            <a:avLst>
              <a:gd name="adj" fmla="val 19048"/>
            </a:avLst>
          </a:prstGeom>
          <a:solidFill>
            <a:srgbClr val="FFFFFF"/>
          </a:solidFill>
          <a:ln w="12700">
            <a:solidFill>
              <a:srgbClr val="CBD5E1"/>
            </a:solidFill>
            <a:prstDash val="solid"/>
          </a:ln>
        </p:spPr>
      </p:sp>
      <p:sp>
        <p:nvSpPr>
          <p:cNvPr id="11" name="Text 9"/>
          <p:cNvSpPr/>
          <p:nvPr/>
        </p:nvSpPr>
        <p:spPr>
          <a:xfrm>
            <a:off x="3438144"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12" name="Shape 10"/>
          <p:cNvSpPr/>
          <p:nvPr/>
        </p:nvSpPr>
        <p:spPr>
          <a:xfrm>
            <a:off x="4279392" y="1508760"/>
            <a:ext cx="594360" cy="384048"/>
          </a:xfrm>
          <a:prstGeom prst="roundRect">
            <a:avLst>
              <a:gd name="adj" fmla="val 19048"/>
            </a:avLst>
          </a:prstGeom>
          <a:solidFill>
            <a:srgbClr val="FFFFFF"/>
          </a:solidFill>
          <a:ln w="12700">
            <a:solidFill>
              <a:srgbClr val="CBD5E1"/>
            </a:solidFill>
            <a:prstDash val="solid"/>
          </a:ln>
        </p:spPr>
      </p:sp>
      <p:sp>
        <p:nvSpPr>
          <p:cNvPr id="13" name="Text 11"/>
          <p:cNvSpPr/>
          <p:nvPr/>
        </p:nvSpPr>
        <p:spPr>
          <a:xfrm>
            <a:off x="4279392"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14" name="Shape 12"/>
          <p:cNvSpPr/>
          <p:nvPr/>
        </p:nvSpPr>
        <p:spPr>
          <a:xfrm>
            <a:off x="5120640" y="1508760"/>
            <a:ext cx="594360" cy="384048"/>
          </a:xfrm>
          <a:prstGeom prst="roundRect">
            <a:avLst>
              <a:gd name="adj" fmla="val 19048"/>
            </a:avLst>
          </a:prstGeom>
          <a:solidFill>
            <a:srgbClr val="FFFFFF"/>
          </a:solidFill>
          <a:ln w="12700">
            <a:solidFill>
              <a:srgbClr val="CBD5E1"/>
            </a:solidFill>
            <a:prstDash val="solid"/>
          </a:ln>
        </p:spPr>
      </p:sp>
      <p:sp>
        <p:nvSpPr>
          <p:cNvPr id="15" name="Text 13"/>
          <p:cNvSpPr/>
          <p:nvPr/>
        </p:nvSpPr>
        <p:spPr>
          <a:xfrm>
            <a:off x="5120640"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C</a:t>
            </a:r>
            <a:endParaRPr lang="en-US" sz="1300" dirty="0"/>
          </a:p>
        </p:txBody>
      </p:sp>
      <p:sp>
        <p:nvSpPr>
          <p:cNvPr id="16" name="Shape 14"/>
          <p:cNvSpPr/>
          <p:nvPr/>
        </p:nvSpPr>
        <p:spPr>
          <a:xfrm>
            <a:off x="5961888" y="1508760"/>
            <a:ext cx="594360" cy="384048"/>
          </a:xfrm>
          <a:prstGeom prst="roundRect">
            <a:avLst>
              <a:gd name="adj" fmla="val 19048"/>
            </a:avLst>
          </a:prstGeom>
          <a:solidFill>
            <a:srgbClr val="FFFFFF"/>
          </a:solidFill>
          <a:ln w="12700">
            <a:solidFill>
              <a:srgbClr val="CBD5E1"/>
            </a:solidFill>
            <a:prstDash val="solid"/>
          </a:ln>
        </p:spPr>
      </p:sp>
      <p:sp>
        <p:nvSpPr>
          <p:cNvPr id="17" name="Text 15"/>
          <p:cNvSpPr/>
          <p:nvPr/>
        </p:nvSpPr>
        <p:spPr>
          <a:xfrm>
            <a:off x="5961888"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18" name="Shape 16"/>
          <p:cNvSpPr/>
          <p:nvPr/>
        </p:nvSpPr>
        <p:spPr>
          <a:xfrm>
            <a:off x="6803136" y="1508760"/>
            <a:ext cx="594360" cy="384048"/>
          </a:xfrm>
          <a:prstGeom prst="roundRect">
            <a:avLst>
              <a:gd name="adj" fmla="val 19048"/>
            </a:avLst>
          </a:prstGeom>
          <a:solidFill>
            <a:srgbClr val="FFFFFF"/>
          </a:solidFill>
          <a:ln w="12700">
            <a:solidFill>
              <a:srgbClr val="CBD5E1"/>
            </a:solidFill>
            <a:prstDash val="solid"/>
          </a:ln>
        </p:spPr>
      </p:sp>
      <p:sp>
        <p:nvSpPr>
          <p:cNvPr id="19" name="Text 17"/>
          <p:cNvSpPr/>
          <p:nvPr/>
        </p:nvSpPr>
        <p:spPr>
          <a:xfrm>
            <a:off x="6803136"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C</a:t>
            </a:r>
            <a:endParaRPr lang="en-US" sz="1300" dirty="0"/>
          </a:p>
        </p:txBody>
      </p:sp>
      <p:sp>
        <p:nvSpPr>
          <p:cNvPr id="20" name="Shape 18"/>
          <p:cNvSpPr/>
          <p:nvPr/>
        </p:nvSpPr>
        <p:spPr>
          <a:xfrm>
            <a:off x="7644384" y="1508760"/>
            <a:ext cx="594360" cy="384048"/>
          </a:xfrm>
          <a:prstGeom prst="roundRect">
            <a:avLst>
              <a:gd name="adj" fmla="val 19048"/>
            </a:avLst>
          </a:prstGeom>
          <a:solidFill>
            <a:srgbClr val="FFFFFF"/>
          </a:solidFill>
          <a:ln w="12700">
            <a:solidFill>
              <a:srgbClr val="CBD5E1"/>
            </a:solidFill>
            <a:prstDash val="solid"/>
          </a:ln>
        </p:spPr>
      </p:sp>
      <p:sp>
        <p:nvSpPr>
          <p:cNvPr id="21" name="Text 19"/>
          <p:cNvSpPr/>
          <p:nvPr/>
        </p:nvSpPr>
        <p:spPr>
          <a:xfrm>
            <a:off x="7644384"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22" name="Shape 20"/>
          <p:cNvSpPr/>
          <p:nvPr/>
        </p:nvSpPr>
        <p:spPr>
          <a:xfrm>
            <a:off x="8485632" y="1508760"/>
            <a:ext cx="594360" cy="384048"/>
          </a:xfrm>
          <a:prstGeom prst="roundRect">
            <a:avLst>
              <a:gd name="adj" fmla="val 19048"/>
            </a:avLst>
          </a:prstGeom>
          <a:solidFill>
            <a:srgbClr val="FFFFFF"/>
          </a:solidFill>
          <a:ln w="12700">
            <a:solidFill>
              <a:srgbClr val="CBD5E1"/>
            </a:solidFill>
            <a:prstDash val="solid"/>
          </a:ln>
        </p:spPr>
      </p:sp>
      <p:sp>
        <p:nvSpPr>
          <p:cNvPr id="23" name="Text 21"/>
          <p:cNvSpPr/>
          <p:nvPr/>
        </p:nvSpPr>
        <p:spPr>
          <a:xfrm>
            <a:off x="8485632" y="152704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24" name="Text 22"/>
          <p:cNvSpPr/>
          <p:nvPr/>
        </p:nvSpPr>
        <p:spPr>
          <a:xfrm>
            <a:off x="3794760" y="2029968"/>
            <a:ext cx="1828800" cy="320040"/>
          </a:xfrm>
          <a:prstGeom prst="rect">
            <a:avLst/>
          </a:prstGeom>
          <a:noFill/>
          <a:ln/>
        </p:spPr>
        <p:txBody>
          <a:bodyPr wrap="square" lIns="635" tIns="635" rIns="635" bIns="635" rtlCol="0" anchor="ctr">
            <a:normAutofit/>
          </a:bodyPr>
          <a:lstStyle/>
          <a:p>
            <a:pPr algn="l" indent="0" marL="0">
              <a:buNone/>
            </a:pPr>
            <a:r>
              <a:rPr lang="en-US" sz="1400" b="1" dirty="0">
                <a:solidFill>
                  <a:srgbClr val="52606D"/>
                </a:solidFill>
                <a:latin typeface="Aptos" pitchFamily="34" charset="0"/>
                <a:ea typeface="Aptos" pitchFamily="34" charset="-122"/>
                <a:cs typeface="Aptos" pitchFamily="34" charset="-120"/>
              </a:rPr>
              <a:t>same histogram</a:t>
            </a:r>
            <a:endParaRPr lang="en-US" sz="1400" dirty="0"/>
          </a:p>
        </p:txBody>
      </p:sp>
      <p:sp>
        <p:nvSpPr>
          <p:cNvPr id="25" name="Shape 23"/>
          <p:cNvSpPr/>
          <p:nvPr/>
        </p:nvSpPr>
        <p:spPr>
          <a:xfrm>
            <a:off x="5715000" y="1874520"/>
            <a:ext cx="822960" cy="0"/>
          </a:xfrm>
          <a:prstGeom prst="line">
            <a:avLst/>
          </a:prstGeom>
          <a:noFill/>
          <a:ln w="31750">
            <a:solidFill>
              <a:srgbClr val="2563EB"/>
            </a:solidFill>
            <a:prstDash val="solid"/>
            <a:headEnd type="none"/>
            <a:tailEnd type="triangle"/>
          </a:ln>
        </p:spPr>
      </p:sp>
      <p:sp>
        <p:nvSpPr>
          <p:cNvPr id="26" name="Shape 24"/>
          <p:cNvSpPr/>
          <p:nvPr/>
        </p:nvSpPr>
        <p:spPr>
          <a:xfrm>
            <a:off x="6675120" y="1572768"/>
            <a:ext cx="429768" cy="384048"/>
          </a:xfrm>
          <a:prstGeom prst="roundRect">
            <a:avLst>
              <a:gd name="adj" fmla="val 19048"/>
            </a:avLst>
          </a:prstGeom>
          <a:solidFill>
            <a:srgbClr val="F8FAFC"/>
          </a:solidFill>
          <a:ln w="12700">
            <a:solidFill>
              <a:srgbClr val="CBD5E1"/>
            </a:solidFill>
            <a:prstDash val="solid"/>
          </a:ln>
        </p:spPr>
      </p:sp>
      <p:sp>
        <p:nvSpPr>
          <p:cNvPr id="27" name="Text 25"/>
          <p:cNvSpPr/>
          <p:nvPr/>
        </p:nvSpPr>
        <p:spPr>
          <a:xfrm>
            <a:off x="6675120"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28" name="Shape 26"/>
          <p:cNvSpPr/>
          <p:nvPr/>
        </p:nvSpPr>
        <p:spPr>
          <a:xfrm>
            <a:off x="7150608" y="1572768"/>
            <a:ext cx="429768" cy="384048"/>
          </a:xfrm>
          <a:prstGeom prst="roundRect">
            <a:avLst>
              <a:gd name="adj" fmla="val 19048"/>
            </a:avLst>
          </a:prstGeom>
          <a:solidFill>
            <a:srgbClr val="F8FAFC"/>
          </a:solidFill>
          <a:ln w="12700">
            <a:solidFill>
              <a:srgbClr val="CBD5E1"/>
            </a:solidFill>
            <a:prstDash val="solid"/>
          </a:ln>
        </p:spPr>
      </p:sp>
      <p:sp>
        <p:nvSpPr>
          <p:cNvPr id="29" name="Text 27"/>
          <p:cNvSpPr/>
          <p:nvPr/>
        </p:nvSpPr>
        <p:spPr>
          <a:xfrm>
            <a:off x="7150608"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30" name="Shape 28"/>
          <p:cNvSpPr/>
          <p:nvPr/>
        </p:nvSpPr>
        <p:spPr>
          <a:xfrm>
            <a:off x="7626096" y="1572768"/>
            <a:ext cx="429768" cy="384048"/>
          </a:xfrm>
          <a:prstGeom prst="roundRect">
            <a:avLst>
              <a:gd name="adj" fmla="val 19048"/>
            </a:avLst>
          </a:prstGeom>
          <a:solidFill>
            <a:srgbClr val="F8FAFC"/>
          </a:solidFill>
          <a:ln w="12700">
            <a:solidFill>
              <a:srgbClr val="CBD5E1"/>
            </a:solidFill>
            <a:prstDash val="solid"/>
          </a:ln>
        </p:spPr>
      </p:sp>
      <p:sp>
        <p:nvSpPr>
          <p:cNvPr id="31" name="Text 29"/>
          <p:cNvSpPr/>
          <p:nvPr/>
        </p:nvSpPr>
        <p:spPr>
          <a:xfrm>
            <a:off x="7626096"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32" name="Shape 30"/>
          <p:cNvSpPr/>
          <p:nvPr/>
        </p:nvSpPr>
        <p:spPr>
          <a:xfrm>
            <a:off x="8101584" y="1572768"/>
            <a:ext cx="429768" cy="384048"/>
          </a:xfrm>
          <a:prstGeom prst="roundRect">
            <a:avLst>
              <a:gd name="adj" fmla="val 19048"/>
            </a:avLst>
          </a:prstGeom>
          <a:solidFill>
            <a:srgbClr val="F8FAFC"/>
          </a:solidFill>
          <a:ln w="12700">
            <a:solidFill>
              <a:srgbClr val="CBD5E1"/>
            </a:solidFill>
            <a:prstDash val="solid"/>
          </a:ln>
        </p:spPr>
      </p:sp>
      <p:sp>
        <p:nvSpPr>
          <p:cNvPr id="33" name="Text 31"/>
          <p:cNvSpPr/>
          <p:nvPr/>
        </p:nvSpPr>
        <p:spPr>
          <a:xfrm>
            <a:off x="8101584"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34" name="Shape 32"/>
          <p:cNvSpPr/>
          <p:nvPr/>
        </p:nvSpPr>
        <p:spPr>
          <a:xfrm>
            <a:off x="8577072" y="1572768"/>
            <a:ext cx="429768" cy="384048"/>
          </a:xfrm>
          <a:prstGeom prst="roundRect">
            <a:avLst>
              <a:gd name="adj" fmla="val 19048"/>
            </a:avLst>
          </a:prstGeom>
          <a:solidFill>
            <a:srgbClr val="F8FAFC"/>
          </a:solidFill>
          <a:ln w="12700">
            <a:solidFill>
              <a:srgbClr val="CBD5E1"/>
            </a:solidFill>
            <a:prstDash val="solid"/>
          </a:ln>
        </p:spPr>
      </p:sp>
      <p:sp>
        <p:nvSpPr>
          <p:cNvPr id="35" name="Text 33"/>
          <p:cNvSpPr/>
          <p:nvPr/>
        </p:nvSpPr>
        <p:spPr>
          <a:xfrm>
            <a:off x="8577072"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36" name="Shape 34"/>
          <p:cNvSpPr/>
          <p:nvPr/>
        </p:nvSpPr>
        <p:spPr>
          <a:xfrm>
            <a:off x="9052560" y="1572768"/>
            <a:ext cx="429768" cy="384048"/>
          </a:xfrm>
          <a:prstGeom prst="roundRect">
            <a:avLst>
              <a:gd name="adj" fmla="val 19048"/>
            </a:avLst>
          </a:prstGeom>
          <a:solidFill>
            <a:srgbClr val="F8FAFC"/>
          </a:solidFill>
          <a:ln w="12700">
            <a:solidFill>
              <a:srgbClr val="CBD5E1"/>
            </a:solidFill>
            <a:prstDash val="solid"/>
          </a:ln>
        </p:spPr>
      </p:sp>
      <p:sp>
        <p:nvSpPr>
          <p:cNvPr id="37" name="Text 35"/>
          <p:cNvSpPr/>
          <p:nvPr/>
        </p:nvSpPr>
        <p:spPr>
          <a:xfrm>
            <a:off x="9052560"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C</a:t>
            </a:r>
            <a:endParaRPr lang="en-US" sz="1300" dirty="0"/>
          </a:p>
        </p:txBody>
      </p:sp>
      <p:sp>
        <p:nvSpPr>
          <p:cNvPr id="38" name="Shape 36"/>
          <p:cNvSpPr/>
          <p:nvPr/>
        </p:nvSpPr>
        <p:spPr>
          <a:xfrm>
            <a:off x="9528048" y="1572768"/>
            <a:ext cx="429768" cy="384048"/>
          </a:xfrm>
          <a:prstGeom prst="roundRect">
            <a:avLst>
              <a:gd name="adj" fmla="val 19048"/>
            </a:avLst>
          </a:prstGeom>
          <a:solidFill>
            <a:srgbClr val="F8FAFC"/>
          </a:solidFill>
          <a:ln w="12700">
            <a:solidFill>
              <a:srgbClr val="CBD5E1"/>
            </a:solidFill>
            <a:prstDash val="solid"/>
          </a:ln>
        </p:spPr>
      </p:sp>
      <p:sp>
        <p:nvSpPr>
          <p:cNvPr id="39" name="Text 37"/>
          <p:cNvSpPr/>
          <p:nvPr/>
        </p:nvSpPr>
        <p:spPr>
          <a:xfrm>
            <a:off x="9528048"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40" name="Shape 38"/>
          <p:cNvSpPr/>
          <p:nvPr/>
        </p:nvSpPr>
        <p:spPr>
          <a:xfrm>
            <a:off x="10003536" y="1572768"/>
            <a:ext cx="429768" cy="384048"/>
          </a:xfrm>
          <a:prstGeom prst="roundRect">
            <a:avLst>
              <a:gd name="adj" fmla="val 19048"/>
            </a:avLst>
          </a:prstGeom>
          <a:solidFill>
            <a:srgbClr val="F8FAFC"/>
          </a:solidFill>
          <a:ln w="12700">
            <a:solidFill>
              <a:srgbClr val="CBD5E1"/>
            </a:solidFill>
            <a:prstDash val="solid"/>
          </a:ln>
        </p:spPr>
      </p:sp>
      <p:sp>
        <p:nvSpPr>
          <p:cNvPr id="41" name="Text 39"/>
          <p:cNvSpPr/>
          <p:nvPr/>
        </p:nvSpPr>
        <p:spPr>
          <a:xfrm>
            <a:off x="10003536"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a:t>
            </a:r>
            <a:endParaRPr lang="en-US" sz="1300" dirty="0"/>
          </a:p>
        </p:txBody>
      </p:sp>
      <p:sp>
        <p:nvSpPr>
          <p:cNvPr id="42" name="Shape 40"/>
          <p:cNvSpPr/>
          <p:nvPr/>
        </p:nvSpPr>
        <p:spPr>
          <a:xfrm>
            <a:off x="10479024" y="1572768"/>
            <a:ext cx="429768" cy="384048"/>
          </a:xfrm>
          <a:prstGeom prst="roundRect">
            <a:avLst>
              <a:gd name="adj" fmla="val 19048"/>
            </a:avLst>
          </a:prstGeom>
          <a:solidFill>
            <a:srgbClr val="F8FAFC"/>
          </a:solidFill>
          <a:ln w="12700">
            <a:solidFill>
              <a:srgbClr val="CBD5E1"/>
            </a:solidFill>
            <a:prstDash val="solid"/>
          </a:ln>
        </p:spPr>
      </p:sp>
      <p:sp>
        <p:nvSpPr>
          <p:cNvPr id="43" name="Text 41"/>
          <p:cNvSpPr/>
          <p:nvPr/>
        </p:nvSpPr>
        <p:spPr>
          <a:xfrm>
            <a:off x="10479024"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B</a:t>
            </a:r>
            <a:endParaRPr lang="en-US" sz="1300" dirty="0"/>
          </a:p>
        </p:txBody>
      </p:sp>
      <p:sp>
        <p:nvSpPr>
          <p:cNvPr id="44" name="Shape 42"/>
          <p:cNvSpPr/>
          <p:nvPr/>
        </p:nvSpPr>
        <p:spPr>
          <a:xfrm>
            <a:off x="10954512" y="1572768"/>
            <a:ext cx="429768" cy="384048"/>
          </a:xfrm>
          <a:prstGeom prst="roundRect">
            <a:avLst>
              <a:gd name="adj" fmla="val 19048"/>
            </a:avLst>
          </a:prstGeom>
          <a:solidFill>
            <a:srgbClr val="F8FAFC"/>
          </a:solidFill>
          <a:ln w="12700">
            <a:solidFill>
              <a:srgbClr val="CBD5E1"/>
            </a:solidFill>
            <a:prstDash val="solid"/>
          </a:ln>
        </p:spPr>
      </p:sp>
      <p:sp>
        <p:nvSpPr>
          <p:cNvPr id="45" name="Text 43"/>
          <p:cNvSpPr/>
          <p:nvPr/>
        </p:nvSpPr>
        <p:spPr>
          <a:xfrm>
            <a:off x="10954512" y="1591056"/>
            <a:ext cx="429768"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C</a:t>
            </a:r>
            <a:endParaRPr lang="en-US" sz="1300" dirty="0"/>
          </a:p>
        </p:txBody>
      </p:sp>
      <p:sp>
        <p:nvSpPr>
          <p:cNvPr id="46" name="Text 44"/>
          <p:cNvSpPr/>
          <p:nvPr/>
        </p:nvSpPr>
        <p:spPr>
          <a:xfrm>
            <a:off x="6446520" y="2212848"/>
            <a:ext cx="3749040" cy="32004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but different arrangement</a:t>
            </a:r>
            <a:endParaRPr lang="en-US" sz="1400" dirty="0"/>
          </a:p>
        </p:txBody>
      </p:sp>
      <p:sp>
        <p:nvSpPr>
          <p:cNvPr id="47" name="Shape 45"/>
          <p:cNvSpPr/>
          <p:nvPr/>
        </p:nvSpPr>
        <p:spPr>
          <a:xfrm>
            <a:off x="914400" y="3108960"/>
            <a:ext cx="10241280" cy="1965960"/>
          </a:xfrm>
          <a:prstGeom prst="roundRect">
            <a:avLst>
              <a:gd name="adj" fmla="val 2791"/>
            </a:avLst>
          </a:prstGeom>
          <a:solidFill>
            <a:srgbClr val="F8FAFC"/>
          </a:solidFill>
          <a:ln w="12700">
            <a:solidFill>
              <a:srgbClr val="D7E0EA"/>
            </a:solidFill>
            <a:prstDash val="solid"/>
          </a:ln>
        </p:spPr>
      </p:sp>
      <p:sp>
        <p:nvSpPr>
          <p:cNvPr id="48" name="Text 46"/>
          <p:cNvSpPr/>
          <p:nvPr/>
        </p:nvSpPr>
        <p:spPr>
          <a:xfrm>
            <a:off x="1280160" y="3456432"/>
            <a:ext cx="4023360" cy="384048"/>
          </a:xfrm>
          <a:prstGeom prst="rect">
            <a:avLst/>
          </a:prstGeom>
          <a:noFill/>
          <a:ln/>
        </p:spPr>
        <p:txBody>
          <a:bodyPr wrap="square" lIns="635" tIns="635" rIns="635" bIns="635" rtlCol="0" anchor="ctr">
            <a:normAutofit/>
          </a:bodyPr>
          <a:lstStyle/>
          <a:p>
            <a:pPr algn="l" indent="0" marL="0">
              <a:buNone/>
            </a:pPr>
            <a:r>
              <a:rPr lang="en-US" sz="2000" b="1" dirty="0">
                <a:solidFill>
                  <a:srgbClr val="102A43"/>
                </a:solidFill>
                <a:latin typeface="Aptos" pitchFamily="34" charset="0"/>
                <a:ea typeface="Aptos" pitchFamily="34" charset="-122"/>
                <a:cs typeface="Aptos" pitchFamily="34" charset="-120"/>
              </a:rPr>
              <a:t>The histogram can capture easy signals</a:t>
            </a:r>
            <a:endParaRPr lang="en-US" sz="2000" dirty="0"/>
          </a:p>
        </p:txBody>
      </p:sp>
      <p:sp>
        <p:nvSpPr>
          <p:cNvPr id="49" name="Text 47"/>
          <p:cNvSpPr/>
          <p:nvPr/>
        </p:nvSpPr>
        <p:spPr>
          <a:xfrm>
            <a:off x="1298448" y="4023360"/>
            <a:ext cx="4480560" cy="457200"/>
          </a:xfrm>
          <a:prstGeom prst="rect">
            <a:avLst/>
          </a:prstGeom>
          <a:noFill/>
          <a:ln/>
        </p:spPr>
        <p:txBody>
          <a:bodyPr wrap="square" lIns="635" tIns="635" rIns="635" bIns="635" rtlCol="0" anchor="ctr">
            <a:normAutofit/>
          </a:bodyPr>
          <a:lstStyle/>
          <a:p>
            <a:pPr algn="l" indent="0" marL="0">
              <a:buNone/>
            </a:pPr>
            <a:r>
              <a:rPr lang="en-US" sz="1600" dirty="0">
                <a:solidFill>
                  <a:srgbClr val="52606D"/>
                </a:solidFill>
                <a:latin typeface="Aptos" pitchFamily="34" charset="0"/>
                <a:ea typeface="Aptos" pitchFamily="34" charset="-122"/>
                <a:cs typeface="Aptos" pitchFamily="34" charset="-120"/>
              </a:rPr>
              <a:t>“How many A’s?”  “What is the degree distribution?”</a:t>
            </a:r>
            <a:endParaRPr lang="en-US" sz="1600" dirty="0"/>
          </a:p>
        </p:txBody>
      </p:sp>
      <p:sp>
        <p:nvSpPr>
          <p:cNvPr id="50" name="Text 48"/>
          <p:cNvSpPr/>
          <p:nvPr/>
        </p:nvSpPr>
        <p:spPr>
          <a:xfrm>
            <a:off x="5897880" y="3456432"/>
            <a:ext cx="4572000" cy="914400"/>
          </a:xfrm>
          <a:prstGeom prst="rect">
            <a:avLst/>
          </a:prstGeom>
          <a:noFill/>
          <a:ln/>
        </p:spPr>
        <p:txBody>
          <a:bodyPr wrap="square" lIns="635" tIns="635" rIns="635" bIns="635" rtlCol="0" anchor="ctr">
            <a:normAutofit/>
          </a:bodyPr>
          <a:lstStyle/>
          <a:p>
            <a:pPr algn="ctr" indent="0" marL="0">
              <a:buNone/>
            </a:pPr>
            <a:r>
              <a:rPr lang="en-US" sz="2000" b="1" dirty="0">
                <a:solidFill>
                  <a:srgbClr val="2563EB"/>
                </a:solidFill>
                <a:latin typeface="Aptos" pitchFamily="34" charset="0"/>
                <a:ea typeface="Aptos" pitchFamily="34" charset="-122"/>
                <a:cs typeface="Aptos" pitchFamily="34" charset="-120"/>
              </a:rPr>
              <a:t>Globality asks for the smallest set of exact tokens</a:t>
            </a:r>
            <a:endParaRPr lang="en-US" sz="2000" dirty="0"/>
          </a:p>
          <a:p>
            <a:pPr algn="ctr" indent="0" marL="0">
              <a:buNone/>
            </a:pPr>
            <a:r>
              <a:rPr lang="en-US" sz="2000" b="1" dirty="0">
                <a:solidFill>
                  <a:srgbClr val="2563EB"/>
                </a:solidFill>
                <a:latin typeface="Aptos" pitchFamily="34" charset="0"/>
                <a:ea typeface="Aptos" pitchFamily="34" charset="-122"/>
                <a:cs typeface="Aptos" pitchFamily="34" charset="-120"/>
              </a:rPr>
              <a:t>that still carries a useful correlation with Y.</a:t>
            </a:r>
            <a:endParaRPr lang="en-US" sz="20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Cycle task: globality is at least 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Every n−1 edge subset has the same marginal distribution in both classes.</a:t>
            </a:r>
            <a:endParaRPr lang="en-US" sz="1200" dirty="0"/>
          </a:p>
        </p:txBody>
      </p:sp>
      <p:sp>
        <p:nvSpPr>
          <p:cNvPr id="4" name="Shape 2"/>
          <p:cNvSpPr/>
          <p:nvPr/>
        </p:nvSpPr>
        <p:spPr>
          <a:xfrm>
            <a:off x="914400" y="1554480"/>
            <a:ext cx="987552" cy="384048"/>
          </a:xfrm>
          <a:prstGeom prst="roundRect">
            <a:avLst>
              <a:gd name="adj" fmla="val 19048"/>
            </a:avLst>
          </a:prstGeom>
          <a:solidFill>
            <a:srgbClr val="FFFFFF"/>
          </a:solidFill>
          <a:ln w="12700">
            <a:solidFill>
              <a:srgbClr val="CBD5E1"/>
            </a:solidFill>
            <a:prstDash val="solid"/>
          </a:ln>
        </p:spPr>
      </p:sp>
      <p:sp>
        <p:nvSpPr>
          <p:cNvPr id="5" name="Text 3"/>
          <p:cNvSpPr/>
          <p:nvPr/>
        </p:nvSpPr>
        <p:spPr>
          <a:xfrm>
            <a:off x="91440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edge1</a:t>
            </a:r>
            <a:endParaRPr lang="en-US" sz="1300" dirty="0"/>
          </a:p>
        </p:txBody>
      </p:sp>
      <p:sp>
        <p:nvSpPr>
          <p:cNvPr id="6" name="Shape 4"/>
          <p:cNvSpPr/>
          <p:nvPr/>
        </p:nvSpPr>
        <p:spPr>
          <a:xfrm>
            <a:off x="2148840" y="1554480"/>
            <a:ext cx="987552" cy="384048"/>
          </a:xfrm>
          <a:prstGeom prst="roundRect">
            <a:avLst>
              <a:gd name="adj" fmla="val 19048"/>
            </a:avLst>
          </a:prstGeom>
          <a:solidFill>
            <a:srgbClr val="FFFFFF"/>
          </a:solidFill>
          <a:ln w="12700">
            <a:solidFill>
              <a:srgbClr val="CBD5E1"/>
            </a:solidFill>
            <a:prstDash val="solid"/>
          </a:ln>
        </p:spPr>
      </p:sp>
      <p:sp>
        <p:nvSpPr>
          <p:cNvPr id="7" name="Text 5"/>
          <p:cNvSpPr/>
          <p:nvPr/>
        </p:nvSpPr>
        <p:spPr>
          <a:xfrm>
            <a:off x="214884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edge2</a:t>
            </a:r>
            <a:endParaRPr lang="en-US" sz="1300" dirty="0"/>
          </a:p>
        </p:txBody>
      </p:sp>
      <p:sp>
        <p:nvSpPr>
          <p:cNvPr id="8" name="Shape 6"/>
          <p:cNvSpPr/>
          <p:nvPr/>
        </p:nvSpPr>
        <p:spPr>
          <a:xfrm>
            <a:off x="3383280" y="1554480"/>
            <a:ext cx="987552" cy="384048"/>
          </a:xfrm>
          <a:prstGeom prst="roundRect">
            <a:avLst>
              <a:gd name="adj" fmla="val 19048"/>
            </a:avLst>
          </a:prstGeom>
          <a:solidFill>
            <a:srgbClr val="FFFFFF"/>
          </a:solidFill>
          <a:ln w="12700">
            <a:solidFill>
              <a:srgbClr val="CBD5E1"/>
            </a:solidFill>
            <a:prstDash val="solid"/>
          </a:ln>
        </p:spPr>
      </p:sp>
      <p:sp>
        <p:nvSpPr>
          <p:cNvPr id="9" name="Text 7"/>
          <p:cNvSpPr/>
          <p:nvPr/>
        </p:nvSpPr>
        <p:spPr>
          <a:xfrm>
            <a:off x="338328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edge3</a:t>
            </a:r>
            <a:endParaRPr lang="en-US" sz="1300" dirty="0"/>
          </a:p>
        </p:txBody>
      </p:sp>
      <p:sp>
        <p:nvSpPr>
          <p:cNvPr id="10" name="Shape 8"/>
          <p:cNvSpPr/>
          <p:nvPr/>
        </p:nvSpPr>
        <p:spPr>
          <a:xfrm>
            <a:off x="4617720" y="1554480"/>
            <a:ext cx="987552" cy="384048"/>
          </a:xfrm>
          <a:prstGeom prst="roundRect">
            <a:avLst>
              <a:gd name="adj" fmla="val 19048"/>
            </a:avLst>
          </a:prstGeom>
          <a:solidFill>
            <a:srgbClr val="FFFFFF"/>
          </a:solidFill>
          <a:ln w="12700">
            <a:solidFill>
              <a:srgbClr val="CBD5E1"/>
            </a:solidFill>
            <a:prstDash val="solid"/>
          </a:ln>
        </p:spPr>
      </p:sp>
      <p:sp>
        <p:nvSpPr>
          <p:cNvPr id="11" name="Text 9"/>
          <p:cNvSpPr/>
          <p:nvPr/>
        </p:nvSpPr>
        <p:spPr>
          <a:xfrm>
            <a:off x="461772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edge4</a:t>
            </a:r>
            <a:endParaRPr lang="en-US" sz="1300" dirty="0"/>
          </a:p>
        </p:txBody>
      </p:sp>
      <p:sp>
        <p:nvSpPr>
          <p:cNvPr id="12" name="Shape 10"/>
          <p:cNvSpPr/>
          <p:nvPr/>
        </p:nvSpPr>
        <p:spPr>
          <a:xfrm>
            <a:off x="5852160" y="1554480"/>
            <a:ext cx="987552" cy="384048"/>
          </a:xfrm>
          <a:prstGeom prst="roundRect">
            <a:avLst>
              <a:gd name="adj" fmla="val 19048"/>
            </a:avLst>
          </a:prstGeom>
          <a:solidFill>
            <a:srgbClr val="FFFFFF"/>
          </a:solidFill>
          <a:ln w="12700">
            <a:solidFill>
              <a:srgbClr val="CBD5E1"/>
            </a:solidFill>
            <a:prstDash val="solid"/>
          </a:ln>
        </p:spPr>
      </p:sp>
      <p:sp>
        <p:nvSpPr>
          <p:cNvPr id="13" name="Text 11"/>
          <p:cNvSpPr/>
          <p:nvPr/>
        </p:nvSpPr>
        <p:spPr>
          <a:xfrm>
            <a:off x="585216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edge5</a:t>
            </a:r>
            <a:endParaRPr lang="en-US" sz="1300" dirty="0"/>
          </a:p>
        </p:txBody>
      </p:sp>
      <p:sp>
        <p:nvSpPr>
          <p:cNvPr id="14" name="Shape 12"/>
          <p:cNvSpPr/>
          <p:nvPr/>
        </p:nvSpPr>
        <p:spPr>
          <a:xfrm>
            <a:off x="7086600" y="1554480"/>
            <a:ext cx="987552" cy="384048"/>
          </a:xfrm>
          <a:prstGeom prst="roundRect">
            <a:avLst>
              <a:gd name="adj" fmla="val 19048"/>
            </a:avLst>
          </a:prstGeom>
          <a:solidFill>
            <a:srgbClr val="FFFFFF"/>
          </a:solidFill>
          <a:ln w="12700">
            <a:solidFill>
              <a:srgbClr val="CBD5E1"/>
            </a:solidFill>
            <a:prstDash val="solid"/>
          </a:ln>
        </p:spPr>
      </p:sp>
      <p:sp>
        <p:nvSpPr>
          <p:cNvPr id="15" name="Text 13"/>
          <p:cNvSpPr/>
          <p:nvPr/>
        </p:nvSpPr>
        <p:spPr>
          <a:xfrm>
            <a:off x="708660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edge6</a:t>
            </a:r>
            <a:endParaRPr lang="en-US" sz="1300" dirty="0"/>
          </a:p>
        </p:txBody>
      </p:sp>
      <p:sp>
        <p:nvSpPr>
          <p:cNvPr id="16" name="Shape 14"/>
          <p:cNvSpPr/>
          <p:nvPr/>
        </p:nvSpPr>
        <p:spPr>
          <a:xfrm>
            <a:off x="8321040" y="1554480"/>
            <a:ext cx="987552" cy="384048"/>
          </a:xfrm>
          <a:prstGeom prst="roundRect">
            <a:avLst>
              <a:gd name="adj" fmla="val 19048"/>
            </a:avLst>
          </a:prstGeom>
          <a:solidFill>
            <a:srgbClr val="FFFFFF"/>
          </a:solidFill>
          <a:ln w="12700">
            <a:solidFill>
              <a:srgbClr val="CBD5E1"/>
            </a:solidFill>
            <a:prstDash val="solid"/>
          </a:ln>
        </p:spPr>
      </p:sp>
      <p:sp>
        <p:nvSpPr>
          <p:cNvPr id="17" name="Text 15"/>
          <p:cNvSpPr/>
          <p:nvPr/>
        </p:nvSpPr>
        <p:spPr>
          <a:xfrm>
            <a:off x="832104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edge7</a:t>
            </a:r>
            <a:endParaRPr lang="en-US" sz="1300" dirty="0"/>
          </a:p>
        </p:txBody>
      </p:sp>
      <p:sp>
        <p:nvSpPr>
          <p:cNvPr id="18" name="Shape 16"/>
          <p:cNvSpPr/>
          <p:nvPr/>
        </p:nvSpPr>
        <p:spPr>
          <a:xfrm>
            <a:off x="9555480" y="1554480"/>
            <a:ext cx="987552" cy="384048"/>
          </a:xfrm>
          <a:prstGeom prst="roundRect">
            <a:avLst>
              <a:gd name="adj" fmla="val 19048"/>
            </a:avLst>
          </a:prstGeom>
          <a:solidFill>
            <a:srgbClr val="FFFFFF"/>
          </a:solidFill>
          <a:ln w="12700">
            <a:solidFill>
              <a:srgbClr val="CBD5E1"/>
            </a:solidFill>
            <a:prstDash val="solid"/>
          </a:ln>
        </p:spPr>
      </p:sp>
      <p:sp>
        <p:nvSpPr>
          <p:cNvPr id="19" name="Text 17"/>
          <p:cNvSpPr/>
          <p:nvPr/>
        </p:nvSpPr>
        <p:spPr>
          <a:xfrm>
            <a:off x="9555480" y="1572768"/>
            <a:ext cx="987552"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edge8</a:t>
            </a:r>
            <a:endParaRPr lang="en-US" sz="1300" dirty="0"/>
          </a:p>
        </p:txBody>
      </p:sp>
      <p:sp>
        <p:nvSpPr>
          <p:cNvPr id="20" name="Text 18"/>
          <p:cNvSpPr/>
          <p:nvPr/>
        </p:nvSpPr>
        <p:spPr>
          <a:xfrm>
            <a:off x="3840480" y="2212848"/>
            <a:ext cx="2926080" cy="320040"/>
          </a:xfrm>
          <a:prstGeom prst="rect">
            <a:avLst/>
          </a:prstGeom>
          <a:noFill/>
          <a:ln/>
        </p:spPr>
        <p:txBody>
          <a:bodyPr wrap="square" lIns="635" tIns="635" rIns="635" bIns="635" rtlCol="0" anchor="ctr">
            <a:normAutofit/>
          </a:bodyPr>
          <a:lstStyle/>
          <a:p>
            <a:pPr algn="ctr" indent="0" marL="0">
              <a:buNone/>
            </a:pPr>
            <a:r>
              <a:rPr lang="en-US" sz="1600" b="1" dirty="0">
                <a:solidFill>
                  <a:srgbClr val="DC2626"/>
                </a:solidFill>
                <a:latin typeface="Aptos" pitchFamily="34" charset="0"/>
                <a:ea typeface="Aptos" pitchFamily="34" charset="-122"/>
                <a:cs typeface="Aptos" pitchFamily="34" charset="-120"/>
              </a:rPr>
              <a:t>remove any one edge</a:t>
            </a:r>
            <a:endParaRPr lang="en-US" sz="1600" dirty="0"/>
          </a:p>
        </p:txBody>
      </p:sp>
      <p:sp>
        <p:nvSpPr>
          <p:cNvPr id="21" name="Shape 19"/>
          <p:cNvSpPr/>
          <p:nvPr/>
        </p:nvSpPr>
        <p:spPr>
          <a:xfrm>
            <a:off x="6537960" y="1965960"/>
            <a:ext cx="1005840" cy="0"/>
          </a:xfrm>
          <a:prstGeom prst="line">
            <a:avLst/>
          </a:prstGeom>
          <a:noFill/>
          <a:ln w="38100">
            <a:solidFill>
              <a:srgbClr val="DC2626"/>
            </a:solidFill>
            <a:prstDash val="solid"/>
            <a:headEnd type="none"/>
            <a:tailEnd type="triangle"/>
          </a:ln>
        </p:spPr>
      </p:sp>
      <p:sp>
        <p:nvSpPr>
          <p:cNvPr id="22" name="Shape 20"/>
          <p:cNvSpPr/>
          <p:nvPr/>
        </p:nvSpPr>
        <p:spPr>
          <a:xfrm>
            <a:off x="7680960" y="1417320"/>
            <a:ext cx="3291840" cy="1600200"/>
          </a:xfrm>
          <a:prstGeom prst="roundRect">
            <a:avLst>
              <a:gd name="adj" fmla="val 3429"/>
            </a:avLst>
          </a:prstGeom>
          <a:solidFill>
            <a:srgbClr val="FEF2F2"/>
          </a:solidFill>
          <a:ln w="12700">
            <a:solidFill>
              <a:srgbClr val="FECACA"/>
            </a:solidFill>
            <a:prstDash val="solid"/>
          </a:ln>
        </p:spPr>
      </p:sp>
      <p:sp>
        <p:nvSpPr>
          <p:cNvPr id="23" name="Text 21"/>
          <p:cNvSpPr/>
          <p:nvPr/>
        </p:nvSpPr>
        <p:spPr>
          <a:xfrm>
            <a:off x="7909560" y="1783080"/>
            <a:ext cx="2834640" cy="731520"/>
          </a:xfrm>
          <a:prstGeom prst="rect">
            <a:avLst/>
          </a:prstGeom>
          <a:noFill/>
          <a:ln/>
        </p:spPr>
        <p:txBody>
          <a:bodyPr wrap="square" lIns="635" tIns="635" rIns="635" bIns="635" rtlCol="0" anchor="ctr">
            <a:normAutofit/>
          </a:bodyPr>
          <a:lstStyle/>
          <a:p>
            <a:pPr algn="ctr" indent="0" marL="0">
              <a:buNone/>
            </a:pPr>
            <a:r>
              <a:rPr lang="en-US" sz="2100" b="1" dirty="0">
                <a:solidFill>
                  <a:srgbClr val="DC2626"/>
                </a:solidFill>
                <a:latin typeface="Aptos" pitchFamily="34" charset="0"/>
                <a:ea typeface="Aptos" pitchFamily="34" charset="-122"/>
                <a:cs typeface="Aptos" pitchFamily="34" charset="-120"/>
              </a:rPr>
              <a:t>distribution looks the same</a:t>
            </a:r>
            <a:endParaRPr lang="en-US" sz="2100" dirty="0"/>
          </a:p>
          <a:p>
            <a:pPr algn="ctr" indent="0" marL="0">
              <a:buNone/>
            </a:pPr>
            <a:r>
              <a:rPr lang="en-US" sz="2100" b="1" dirty="0">
                <a:solidFill>
                  <a:srgbClr val="DC2626"/>
                </a:solidFill>
                <a:latin typeface="Aptos" pitchFamily="34" charset="0"/>
                <a:ea typeface="Aptos" pitchFamily="34" charset="-122"/>
                <a:cs typeface="Aptos" pitchFamily="34" charset="-120"/>
              </a:rPr>
              <a:t>in Class 1 and Class 2</a:t>
            </a:r>
            <a:endParaRPr lang="en-US" sz="2100" dirty="0"/>
          </a:p>
        </p:txBody>
      </p:sp>
      <p:sp>
        <p:nvSpPr>
          <p:cNvPr id="24" name="Text 22"/>
          <p:cNvSpPr/>
          <p:nvPr/>
        </p:nvSpPr>
        <p:spPr>
          <a:xfrm>
            <a:off x="1005840" y="3154680"/>
            <a:ext cx="10149840" cy="685800"/>
          </a:xfrm>
          <a:prstGeom prst="rect">
            <a:avLst/>
          </a:prstGeom>
          <a:noFill/>
          <a:ln/>
        </p:spPr>
        <p:txBody>
          <a:bodyPr wrap="square" lIns="635" tIns="635" rIns="635" bIns="635" rtlCol="0" anchor="ctr">
            <a:normAutofit/>
          </a:bodyPr>
          <a:lstStyle/>
          <a:p>
            <a:pPr algn="ctr" indent="0" marL="0">
              <a:buNone/>
            </a:pPr>
            <a:r>
              <a:rPr lang="en-US" sz="2200" b="1" dirty="0">
                <a:solidFill>
                  <a:srgbClr val="102A43"/>
                </a:solidFill>
                <a:latin typeface="Aptos" pitchFamily="34" charset="0"/>
                <a:ea typeface="Aptos" pitchFamily="34" charset="-122"/>
                <a:cs typeface="Aptos" pitchFamily="34" charset="-120"/>
              </a:rPr>
              <a:t>Therefore no set of fewer than n tokens can provide inverse-polynomial information about Y.</a:t>
            </a:r>
            <a:endParaRPr lang="en-US" sz="2200" dirty="0"/>
          </a:p>
        </p:txBody>
      </p:sp>
      <p:sp>
        <p:nvSpPr>
          <p:cNvPr id="25" name="Shape 23"/>
          <p:cNvSpPr/>
          <p:nvPr/>
        </p:nvSpPr>
        <p:spPr>
          <a:xfrm>
            <a:off x="4617720" y="4160520"/>
            <a:ext cx="1143000" cy="347472"/>
          </a:xfrm>
          <a:prstGeom prst="roundRect">
            <a:avLst>
              <a:gd name="adj" fmla="val 31579"/>
            </a:avLst>
          </a:prstGeom>
          <a:solidFill>
            <a:srgbClr val="2563EB"/>
          </a:solidFill>
          <a:ln w="12700">
            <a:solidFill>
              <a:srgbClr val="2563EB">
                <a:alpha val="0"/>
              </a:srgbClr>
            </a:solidFill>
            <a:prstDash val="solid"/>
          </a:ln>
        </p:spPr>
      </p:sp>
      <p:sp>
        <p:nvSpPr>
          <p:cNvPr id="26" name="Text 24"/>
          <p:cNvSpPr/>
          <p:nvPr/>
        </p:nvSpPr>
        <p:spPr>
          <a:xfrm>
            <a:off x="4617720" y="4169664"/>
            <a:ext cx="11430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Lemma 1</a:t>
            </a:r>
            <a:endParaRPr lang="en-US" sz="1000" dirty="0"/>
          </a:p>
        </p:txBody>
      </p:sp>
      <p:sp>
        <p:nvSpPr>
          <p:cNvPr id="27" name="Text 25"/>
          <p:cNvSpPr/>
          <p:nvPr/>
        </p:nvSpPr>
        <p:spPr>
          <a:xfrm>
            <a:off x="3429000" y="4709160"/>
            <a:ext cx="5303520" cy="594360"/>
          </a:xfrm>
          <a:prstGeom prst="rect">
            <a:avLst/>
          </a:prstGeom>
          <a:noFill/>
          <a:ln/>
        </p:spPr>
        <p:txBody>
          <a:bodyPr wrap="square" lIns="635" tIns="635" rIns="635" bIns="635" rtlCol="0" anchor="ctr">
            <a:normAutofit/>
          </a:bodyPr>
          <a:lstStyle/>
          <a:p>
            <a:pPr algn="ctr" indent="0" marL="0">
              <a:buNone/>
            </a:pPr>
            <a:r>
              <a:rPr lang="en-US" sz="3000" b="1" dirty="0">
                <a:solidFill>
                  <a:srgbClr val="2563EB"/>
                </a:solidFill>
                <a:latin typeface="Aptos" pitchFamily="34" charset="0"/>
                <a:ea typeface="Aptos" pitchFamily="34" charset="-122"/>
                <a:cs typeface="Aptos" pitchFamily="34" charset="-120"/>
              </a:rPr>
              <a:t>glob(Cycle(n)) ≥ n</a:t>
            </a:r>
            <a:endParaRPr lang="en-US" sz="30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Formal problem: what is being learned?</a:t>
            </a:r>
            <a:endParaRPr lang="en-US" sz="2500" dirty="0"/>
          </a:p>
        </p:txBody>
      </p:sp>
      <p:sp>
        <p:nvSpPr>
          <p:cNvPr id="3" name="Shape 1"/>
          <p:cNvSpPr/>
          <p:nvPr/>
        </p:nvSpPr>
        <p:spPr>
          <a:xfrm>
            <a:off x="685800" y="1325880"/>
            <a:ext cx="2514600" cy="4297680"/>
          </a:xfrm>
          <a:prstGeom prst="roundRect">
            <a:avLst>
              <a:gd name="adj" fmla="val 2182"/>
            </a:avLst>
          </a:prstGeom>
          <a:solidFill>
            <a:srgbClr val="EFF6FF"/>
          </a:solidFill>
          <a:ln w="12700">
            <a:solidFill>
              <a:srgbClr val="CBD5E1"/>
            </a:solidFill>
            <a:prstDash val="solid"/>
          </a:ln>
        </p:spPr>
      </p:sp>
      <p:sp>
        <p:nvSpPr>
          <p:cNvPr id="4" name="Text 2"/>
          <p:cNvSpPr/>
          <p:nvPr/>
        </p:nvSpPr>
        <p:spPr>
          <a:xfrm>
            <a:off x="868680" y="1600200"/>
            <a:ext cx="2148840" cy="32004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DATA</a:t>
            </a:r>
            <a:endParaRPr lang="en-US" sz="1300" dirty="0"/>
          </a:p>
        </p:txBody>
      </p:sp>
      <p:sp>
        <p:nvSpPr>
          <p:cNvPr id="5" name="Text 3"/>
          <p:cNvSpPr/>
          <p:nvPr/>
        </p:nvSpPr>
        <p:spPr>
          <a:xfrm>
            <a:off x="886968" y="2240280"/>
            <a:ext cx="2103120" cy="68580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(X,Y) ~ D</a:t>
            </a:r>
            <a:endParaRPr lang="en-US" sz="2000" dirty="0"/>
          </a:p>
        </p:txBody>
      </p:sp>
      <p:sp>
        <p:nvSpPr>
          <p:cNvPr id="6" name="Text 4"/>
          <p:cNvSpPr/>
          <p:nvPr/>
        </p:nvSpPr>
        <p:spPr>
          <a:xfrm>
            <a:off x="914400" y="3154680"/>
            <a:ext cx="2057400" cy="141732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Task-specific fixed distribution</a:t>
            </a:r>
            <a:endParaRPr lang="en-US" sz="1400" dirty="0"/>
          </a:p>
        </p:txBody>
      </p:sp>
      <p:sp>
        <p:nvSpPr>
          <p:cNvPr id="7" name="Shape 5"/>
          <p:cNvSpPr/>
          <p:nvPr/>
        </p:nvSpPr>
        <p:spPr>
          <a:xfrm>
            <a:off x="3520440" y="1325880"/>
            <a:ext cx="2514600" cy="4297680"/>
          </a:xfrm>
          <a:prstGeom prst="roundRect">
            <a:avLst>
              <a:gd name="adj" fmla="val 2182"/>
            </a:avLst>
          </a:prstGeom>
          <a:solidFill>
            <a:srgbClr val="F5F3FF"/>
          </a:solidFill>
          <a:ln w="12700">
            <a:solidFill>
              <a:srgbClr val="CBD5E1"/>
            </a:solidFill>
            <a:prstDash val="solid"/>
          </a:ln>
        </p:spPr>
      </p:sp>
      <p:sp>
        <p:nvSpPr>
          <p:cNvPr id="8" name="Text 6"/>
          <p:cNvSpPr/>
          <p:nvPr/>
        </p:nvSpPr>
        <p:spPr>
          <a:xfrm>
            <a:off x="3703320" y="1600200"/>
            <a:ext cx="2148840" cy="320040"/>
          </a:xfrm>
          <a:prstGeom prst="rect">
            <a:avLst/>
          </a:prstGeom>
          <a:noFill/>
          <a:ln/>
        </p:spPr>
        <p:txBody>
          <a:bodyPr wrap="square" lIns="635" tIns="635" rIns="635" bIns="635" rtlCol="0" anchor="ctr">
            <a:normAutofit/>
          </a:bodyPr>
          <a:lstStyle/>
          <a:p>
            <a:pPr algn="ctr" indent="0" marL="0">
              <a:buNone/>
            </a:pPr>
            <a:r>
              <a:rPr lang="en-US" sz="1300" b="1" dirty="0">
                <a:solidFill>
                  <a:srgbClr val="7C3AED"/>
                </a:solidFill>
                <a:latin typeface="Aptos" pitchFamily="34" charset="0"/>
                <a:ea typeface="Aptos" pitchFamily="34" charset="-122"/>
                <a:cs typeface="Aptos" pitchFamily="34" charset="-120"/>
              </a:rPr>
              <a:t>MODEL</a:t>
            </a:r>
            <a:endParaRPr lang="en-US" sz="1300" dirty="0"/>
          </a:p>
        </p:txBody>
      </p:sp>
      <p:sp>
        <p:nvSpPr>
          <p:cNvPr id="9" name="Text 7"/>
          <p:cNvSpPr/>
          <p:nvPr/>
        </p:nvSpPr>
        <p:spPr>
          <a:xfrm>
            <a:off x="3721608" y="2240280"/>
            <a:ext cx="2103120" cy="68580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T-regular Transformer</a:t>
            </a:r>
            <a:endParaRPr lang="en-US" sz="2000" dirty="0"/>
          </a:p>
        </p:txBody>
      </p:sp>
      <p:sp>
        <p:nvSpPr>
          <p:cNvPr id="10" name="Text 8"/>
          <p:cNvSpPr/>
          <p:nvPr/>
        </p:nvSpPr>
        <p:spPr>
          <a:xfrm>
            <a:off x="3749040" y="3154680"/>
            <a:ext cx="2057400" cy="141732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poly-size, Gaussian iid weights/positional embeddings, bidirectional attention</a:t>
            </a:r>
            <a:endParaRPr lang="en-US" sz="1400" dirty="0"/>
          </a:p>
        </p:txBody>
      </p:sp>
      <p:sp>
        <p:nvSpPr>
          <p:cNvPr id="11" name="Shape 9"/>
          <p:cNvSpPr/>
          <p:nvPr/>
        </p:nvSpPr>
        <p:spPr>
          <a:xfrm>
            <a:off x="6355080" y="1325880"/>
            <a:ext cx="2514600" cy="4297680"/>
          </a:xfrm>
          <a:prstGeom prst="roundRect">
            <a:avLst>
              <a:gd name="adj" fmla="val 2182"/>
            </a:avLst>
          </a:prstGeom>
          <a:solidFill>
            <a:srgbClr val="FFF7ED"/>
          </a:solidFill>
          <a:ln w="12700">
            <a:solidFill>
              <a:srgbClr val="CBD5E1"/>
            </a:solidFill>
            <a:prstDash val="solid"/>
          </a:ln>
        </p:spPr>
      </p:sp>
      <p:sp>
        <p:nvSpPr>
          <p:cNvPr id="12" name="Text 10"/>
          <p:cNvSpPr/>
          <p:nvPr/>
        </p:nvSpPr>
        <p:spPr>
          <a:xfrm>
            <a:off x="6537960" y="1600200"/>
            <a:ext cx="2148840" cy="32004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TRAINING</a:t>
            </a:r>
            <a:endParaRPr lang="en-US" sz="1300" dirty="0"/>
          </a:p>
        </p:txBody>
      </p:sp>
      <p:sp>
        <p:nvSpPr>
          <p:cNvPr id="13" name="Text 11"/>
          <p:cNvSpPr/>
          <p:nvPr/>
        </p:nvSpPr>
        <p:spPr>
          <a:xfrm>
            <a:off x="6556248" y="2240280"/>
            <a:ext cx="2103120" cy="68580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population GD / SGD</a:t>
            </a:r>
            <a:endParaRPr lang="en-US" sz="2000" dirty="0"/>
          </a:p>
        </p:txBody>
      </p:sp>
      <p:sp>
        <p:nvSpPr>
          <p:cNvPr id="14" name="Text 12"/>
          <p:cNvSpPr/>
          <p:nvPr/>
        </p:nvSpPr>
        <p:spPr>
          <a:xfrm>
            <a:off x="6583680" y="3154680"/>
            <a:ext cx="2057400" cy="141732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polynomial learning rates, clipping/noise or log precision</a:t>
            </a:r>
            <a:endParaRPr lang="en-US" sz="1400" dirty="0"/>
          </a:p>
        </p:txBody>
      </p:sp>
      <p:sp>
        <p:nvSpPr>
          <p:cNvPr id="15" name="Shape 13"/>
          <p:cNvSpPr/>
          <p:nvPr/>
        </p:nvSpPr>
        <p:spPr>
          <a:xfrm>
            <a:off x="9189720" y="1325880"/>
            <a:ext cx="2514600" cy="4297680"/>
          </a:xfrm>
          <a:prstGeom prst="roundRect">
            <a:avLst>
              <a:gd name="adj" fmla="val 2182"/>
            </a:avLst>
          </a:prstGeom>
          <a:solidFill>
            <a:srgbClr val="F0FDF4"/>
          </a:solidFill>
          <a:ln w="12700">
            <a:solidFill>
              <a:srgbClr val="CBD5E1"/>
            </a:solidFill>
            <a:prstDash val="solid"/>
          </a:ln>
        </p:spPr>
      </p:sp>
      <p:sp>
        <p:nvSpPr>
          <p:cNvPr id="16" name="Text 14"/>
          <p:cNvSpPr/>
          <p:nvPr/>
        </p:nvSpPr>
        <p:spPr>
          <a:xfrm>
            <a:off x="9372600" y="1600200"/>
            <a:ext cx="2148840" cy="320040"/>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GOAL</a:t>
            </a:r>
            <a:endParaRPr lang="en-US" sz="1300" dirty="0"/>
          </a:p>
        </p:txBody>
      </p:sp>
      <p:sp>
        <p:nvSpPr>
          <p:cNvPr id="17" name="Text 15"/>
          <p:cNvSpPr/>
          <p:nvPr/>
        </p:nvSpPr>
        <p:spPr>
          <a:xfrm>
            <a:off x="9390888" y="2240280"/>
            <a:ext cx="2103120" cy="68580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weak learning</a:t>
            </a:r>
            <a:endParaRPr lang="en-US" sz="2000" dirty="0"/>
          </a:p>
        </p:txBody>
      </p:sp>
      <p:sp>
        <p:nvSpPr>
          <p:cNvPr id="18" name="Text 16"/>
          <p:cNvSpPr/>
          <p:nvPr/>
        </p:nvSpPr>
        <p:spPr>
          <a:xfrm>
            <a:off x="9418320" y="3154680"/>
            <a:ext cx="2057400" cy="141732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beat trivial accuracy by inverse-polynomial edge</a:t>
            </a:r>
            <a:endParaRPr lang="en-US" sz="1400" dirty="0"/>
          </a:p>
        </p:txBody>
      </p:sp>
      <p:sp>
        <p:nvSpPr>
          <p:cNvPr id="19" name="Text 17"/>
          <p:cNvSpPr/>
          <p:nvPr/>
        </p:nvSpPr>
        <p:spPr>
          <a:xfrm>
            <a:off x="1234440" y="5650992"/>
            <a:ext cx="9692640" cy="365760"/>
          </a:xfrm>
          <a:prstGeom prst="rect">
            <a:avLst/>
          </a:prstGeom>
          <a:noFill/>
          <a:ln/>
        </p:spPr>
        <p:txBody>
          <a:bodyPr wrap="square" lIns="635" tIns="635" rIns="635" bIns="635" rtlCol="0" anchor="ctr">
            <a:normAutofit/>
          </a:bodyPr>
          <a:lstStyle/>
          <a:p>
            <a:pPr algn="ctr" indent="0" marL="0">
              <a:buNone/>
            </a:pPr>
            <a:r>
              <a:rPr lang="en-US" sz="1500" b="1" dirty="0">
                <a:solidFill>
                  <a:srgbClr val="102A43"/>
                </a:solidFill>
                <a:latin typeface="Aptos" pitchFamily="34" charset="0"/>
                <a:ea typeface="Aptos" pitchFamily="34" charset="-122"/>
                <a:cs typeface="Aptos" pitchFamily="34" charset="-120"/>
              </a:rPr>
              <a:t>This is a learnability theorem under a stylized but explicit architecture/training regime.</a:t>
            </a:r>
            <a:endParaRPr lang="en-US" sz="15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What kind of result is this?</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paper spans several categories, but the center of gravity is learnability.</a:t>
            </a:r>
            <a:endParaRPr lang="en-US" sz="1200" dirty="0"/>
          </a:p>
        </p:txBody>
      </p:sp>
      <p:sp>
        <p:nvSpPr>
          <p:cNvPr id="4" name="Shape 2"/>
          <p:cNvSpPr/>
          <p:nvPr/>
        </p:nvSpPr>
        <p:spPr>
          <a:xfrm>
            <a:off x="914400" y="1234440"/>
            <a:ext cx="10149840" cy="749808"/>
          </a:xfrm>
          <a:prstGeom prst="roundRect">
            <a:avLst>
              <a:gd name="adj" fmla="val 7317"/>
            </a:avLst>
          </a:prstGeom>
          <a:solidFill>
            <a:srgbClr val="FFFFFF"/>
          </a:solidFill>
          <a:ln w="12700">
            <a:solidFill>
              <a:srgbClr val="D7E0EA"/>
            </a:solidFill>
            <a:prstDash val="solid"/>
          </a:ln>
        </p:spPr>
      </p:sp>
      <p:sp>
        <p:nvSpPr>
          <p:cNvPr id="5" name="Text 3"/>
          <p:cNvSpPr/>
          <p:nvPr/>
        </p:nvSpPr>
        <p:spPr>
          <a:xfrm>
            <a:off x="1097280" y="1344168"/>
            <a:ext cx="1463040" cy="256032"/>
          </a:xfrm>
          <a:prstGeom prst="rect">
            <a:avLst/>
          </a:prstGeom>
          <a:noFill/>
          <a:ln/>
        </p:spPr>
        <p:txBody>
          <a:bodyPr wrap="square" lIns="635" tIns="635" rIns="635" bIns="635" rtlCol="0" anchor="ctr">
            <a:normAutofit/>
          </a:bodyPr>
          <a:lstStyle/>
          <a:p>
            <a:pPr algn="l" indent="0" marL="0">
              <a:buNone/>
            </a:pPr>
            <a:r>
              <a:rPr lang="en-US" sz="1200" b="1" dirty="0">
                <a:solidFill>
                  <a:srgbClr val="F97316"/>
                </a:solidFill>
                <a:latin typeface="Aptos" pitchFamily="34" charset="0"/>
                <a:ea typeface="Aptos" pitchFamily="34" charset="-122"/>
                <a:cs typeface="Aptos" pitchFamily="34" charset="-120"/>
              </a:rPr>
              <a:t>Representation</a:t>
            </a:r>
            <a:endParaRPr lang="en-US" sz="1200" dirty="0"/>
          </a:p>
        </p:txBody>
      </p:sp>
      <p:sp>
        <p:nvSpPr>
          <p:cNvPr id="6" name="Text 4"/>
          <p:cNvSpPr/>
          <p:nvPr/>
        </p:nvSpPr>
        <p:spPr>
          <a:xfrm>
            <a:off x="2743200" y="1307592"/>
            <a:ext cx="5669280" cy="365760"/>
          </a:xfrm>
          <a:prstGeom prst="rect">
            <a:avLst/>
          </a:prstGeom>
          <a:noFill/>
          <a:ln/>
        </p:spPr>
        <p:txBody>
          <a:bodyPr wrap="square" lIns="635" tIns="635" rIns="635" bIns="635" rtlCol="0" anchor="ctr">
            <a:normAutofit/>
          </a:bodyPr>
          <a:lstStyle/>
          <a:p>
            <a:pPr algn="l" indent="0" marL="0">
              <a:buNone/>
            </a:pPr>
            <a:r>
              <a:rPr lang="en-US" sz="1800" dirty="0">
                <a:solidFill>
                  <a:srgbClr val="52606D"/>
                </a:solidFill>
                <a:latin typeface="Aptos" pitchFamily="34" charset="0"/>
                <a:ea typeface="Aptos" pitchFamily="34" charset="-122"/>
                <a:cs typeface="Aptos" pitchFamily="34" charset="-120"/>
              </a:rPr>
              <a:t>Can a Transformer compute the target?</a:t>
            </a:r>
            <a:endParaRPr lang="en-US" sz="1800" dirty="0"/>
          </a:p>
        </p:txBody>
      </p:sp>
      <p:sp>
        <p:nvSpPr>
          <p:cNvPr id="7" name="Text 5"/>
          <p:cNvSpPr/>
          <p:nvPr/>
        </p:nvSpPr>
        <p:spPr>
          <a:xfrm>
            <a:off x="8915400" y="1362456"/>
            <a:ext cx="1783080" cy="237744"/>
          </a:xfrm>
          <a:prstGeom prst="rect">
            <a:avLst/>
          </a:prstGeom>
          <a:noFill/>
          <a:ln/>
        </p:spPr>
        <p:txBody>
          <a:bodyPr wrap="square" lIns="635" tIns="635" rIns="635" bIns="635" rtlCol="0" anchor="ctr">
            <a:normAutofit/>
          </a:bodyPr>
          <a:lstStyle/>
          <a:p>
            <a:pPr algn="r" indent="0" marL="0">
              <a:buNone/>
            </a:pPr>
            <a:r>
              <a:rPr lang="en-US" sz="1100" b="1" dirty="0">
                <a:solidFill>
                  <a:srgbClr val="52606D"/>
                </a:solidFill>
                <a:latin typeface="Aptos" pitchFamily="34" charset="0"/>
                <a:ea typeface="Aptos" pitchFamily="34" charset="-122"/>
                <a:cs typeface="Aptos" pitchFamily="34" charset="-120"/>
              </a:rPr>
              <a:t>EXPRESSIVITY</a:t>
            </a:r>
            <a:endParaRPr lang="en-US" sz="1100" dirty="0"/>
          </a:p>
        </p:txBody>
      </p:sp>
      <p:sp>
        <p:nvSpPr>
          <p:cNvPr id="8" name="Shape 6"/>
          <p:cNvSpPr/>
          <p:nvPr/>
        </p:nvSpPr>
        <p:spPr>
          <a:xfrm>
            <a:off x="914400" y="2194560"/>
            <a:ext cx="10149840" cy="749808"/>
          </a:xfrm>
          <a:prstGeom prst="roundRect">
            <a:avLst>
              <a:gd name="adj" fmla="val 7317"/>
            </a:avLst>
          </a:prstGeom>
          <a:solidFill>
            <a:srgbClr val="EFF6FF"/>
          </a:solidFill>
          <a:ln w="12700">
            <a:solidFill>
              <a:srgbClr val="93C5FD"/>
            </a:solidFill>
            <a:prstDash val="solid"/>
          </a:ln>
        </p:spPr>
      </p:sp>
      <p:sp>
        <p:nvSpPr>
          <p:cNvPr id="9" name="Text 7"/>
          <p:cNvSpPr/>
          <p:nvPr/>
        </p:nvSpPr>
        <p:spPr>
          <a:xfrm>
            <a:off x="1097280" y="2304288"/>
            <a:ext cx="1463040" cy="256032"/>
          </a:xfrm>
          <a:prstGeom prst="rect">
            <a:avLst/>
          </a:prstGeom>
          <a:noFill/>
          <a:ln/>
        </p:spPr>
        <p:txBody>
          <a:bodyPr wrap="square" lIns="635" tIns="635" rIns="635" bIns="635" rtlCol="0" anchor="ctr">
            <a:normAutofit/>
          </a:bodyPr>
          <a:lstStyle/>
          <a:p>
            <a:pPr algn="l" indent="0" marL="0">
              <a:buNone/>
            </a:pPr>
            <a:r>
              <a:rPr lang="en-US" sz="1200" b="1" dirty="0">
                <a:solidFill>
                  <a:srgbClr val="F97316"/>
                </a:solidFill>
                <a:latin typeface="Aptos" pitchFamily="34" charset="0"/>
                <a:ea typeface="Aptos" pitchFamily="34" charset="-122"/>
                <a:cs typeface="Aptos" pitchFamily="34" charset="-120"/>
              </a:rPr>
              <a:t>Learnability</a:t>
            </a:r>
            <a:endParaRPr lang="en-US" sz="1200" dirty="0"/>
          </a:p>
        </p:txBody>
      </p:sp>
      <p:sp>
        <p:nvSpPr>
          <p:cNvPr id="10" name="Text 8"/>
          <p:cNvSpPr/>
          <p:nvPr/>
        </p:nvSpPr>
        <p:spPr>
          <a:xfrm>
            <a:off x="2743200" y="2267712"/>
            <a:ext cx="5669280" cy="365760"/>
          </a:xfrm>
          <a:prstGeom prst="rect">
            <a:avLst/>
          </a:prstGeom>
          <a:noFill/>
          <a:ln/>
        </p:spPr>
        <p:txBody>
          <a:bodyPr wrap="square" lIns="635" tIns="635" rIns="635" bIns="635" rtlCol="0" anchor="ctr">
            <a:normAutofit/>
          </a:bodyPr>
          <a:lstStyle/>
          <a:p>
            <a:pPr algn="l" indent="0" marL="0">
              <a:buNone/>
            </a:pPr>
            <a:r>
              <a:rPr lang="en-US" sz="1800" b="1" dirty="0">
                <a:solidFill>
                  <a:srgbClr val="2563EB"/>
                </a:solidFill>
                <a:latin typeface="Aptos" pitchFamily="34" charset="0"/>
                <a:ea typeface="Aptos" pitchFamily="34" charset="-122"/>
                <a:cs typeface="Aptos" pitchFamily="34" charset="-120"/>
              </a:rPr>
              <a:t>Can descent discover it from samples?</a:t>
            </a:r>
            <a:endParaRPr lang="en-US" sz="1800" dirty="0"/>
          </a:p>
        </p:txBody>
      </p:sp>
      <p:sp>
        <p:nvSpPr>
          <p:cNvPr id="11" name="Text 9"/>
          <p:cNvSpPr/>
          <p:nvPr/>
        </p:nvSpPr>
        <p:spPr>
          <a:xfrm>
            <a:off x="8915400" y="2322576"/>
            <a:ext cx="1783080" cy="237744"/>
          </a:xfrm>
          <a:prstGeom prst="rect">
            <a:avLst/>
          </a:prstGeom>
          <a:noFill/>
          <a:ln/>
        </p:spPr>
        <p:txBody>
          <a:bodyPr wrap="square" lIns="635" tIns="635" rIns="635" bIns="635" rtlCol="0" anchor="ctr">
            <a:normAutofit/>
          </a:bodyPr>
          <a:lstStyle/>
          <a:p>
            <a:pPr algn="r" indent="0" marL="0">
              <a:buNone/>
            </a:pPr>
            <a:r>
              <a:rPr lang="en-US" sz="1100" b="1" dirty="0">
                <a:solidFill>
                  <a:srgbClr val="52606D"/>
                </a:solidFill>
                <a:latin typeface="Aptos" pitchFamily="34" charset="0"/>
                <a:ea typeface="Aptos" pitchFamily="34" charset="-122"/>
                <a:cs typeface="Aptos" pitchFamily="34" charset="-120"/>
              </a:rPr>
              <a:t>MAIN RESULT</a:t>
            </a:r>
            <a:endParaRPr lang="en-US" sz="1100" dirty="0"/>
          </a:p>
        </p:txBody>
      </p:sp>
      <p:sp>
        <p:nvSpPr>
          <p:cNvPr id="12" name="Shape 10"/>
          <p:cNvSpPr/>
          <p:nvPr/>
        </p:nvSpPr>
        <p:spPr>
          <a:xfrm>
            <a:off x="914400" y="3154680"/>
            <a:ext cx="10149840" cy="749808"/>
          </a:xfrm>
          <a:prstGeom prst="roundRect">
            <a:avLst>
              <a:gd name="adj" fmla="val 7317"/>
            </a:avLst>
          </a:prstGeom>
          <a:solidFill>
            <a:srgbClr val="FFFFFF"/>
          </a:solidFill>
          <a:ln w="12700">
            <a:solidFill>
              <a:srgbClr val="D7E0EA"/>
            </a:solidFill>
            <a:prstDash val="solid"/>
          </a:ln>
        </p:spPr>
      </p:sp>
      <p:sp>
        <p:nvSpPr>
          <p:cNvPr id="13" name="Text 11"/>
          <p:cNvSpPr/>
          <p:nvPr/>
        </p:nvSpPr>
        <p:spPr>
          <a:xfrm>
            <a:off x="1097280" y="3264408"/>
            <a:ext cx="1463040" cy="256032"/>
          </a:xfrm>
          <a:prstGeom prst="rect">
            <a:avLst/>
          </a:prstGeom>
          <a:noFill/>
          <a:ln/>
        </p:spPr>
        <p:txBody>
          <a:bodyPr wrap="square" lIns="635" tIns="635" rIns="635" bIns="635" rtlCol="0" anchor="ctr">
            <a:normAutofit/>
          </a:bodyPr>
          <a:lstStyle/>
          <a:p>
            <a:pPr algn="l" indent="0" marL="0">
              <a:buNone/>
            </a:pPr>
            <a:r>
              <a:rPr lang="en-US" sz="1200" b="1" dirty="0">
                <a:solidFill>
                  <a:srgbClr val="F97316"/>
                </a:solidFill>
                <a:latin typeface="Aptos" pitchFamily="34" charset="0"/>
                <a:ea typeface="Aptos" pitchFamily="34" charset="-122"/>
                <a:cs typeface="Aptos" pitchFamily="34" charset="-120"/>
              </a:rPr>
              <a:t>Optimization</a:t>
            </a:r>
            <a:endParaRPr lang="en-US" sz="1200" dirty="0"/>
          </a:p>
        </p:txBody>
      </p:sp>
      <p:sp>
        <p:nvSpPr>
          <p:cNvPr id="14" name="Text 12"/>
          <p:cNvSpPr/>
          <p:nvPr/>
        </p:nvSpPr>
        <p:spPr>
          <a:xfrm>
            <a:off x="2743200" y="3227832"/>
            <a:ext cx="5669280" cy="365760"/>
          </a:xfrm>
          <a:prstGeom prst="rect">
            <a:avLst/>
          </a:prstGeom>
          <a:noFill/>
          <a:ln/>
        </p:spPr>
        <p:txBody>
          <a:bodyPr wrap="square" lIns="635" tIns="635" rIns="635" bIns="635" rtlCol="0" anchor="ctr">
            <a:normAutofit/>
          </a:bodyPr>
          <a:lstStyle/>
          <a:p>
            <a:pPr algn="l" indent="0" marL="0">
              <a:buNone/>
            </a:pPr>
            <a:r>
              <a:rPr lang="en-US" sz="1800" dirty="0">
                <a:solidFill>
                  <a:srgbClr val="52606D"/>
                </a:solidFill>
                <a:latin typeface="Aptos" pitchFamily="34" charset="0"/>
                <a:ea typeface="Aptos" pitchFamily="34" charset="-122"/>
                <a:cs typeface="Aptos" pitchFamily="34" charset="-120"/>
              </a:rPr>
              <a:t>Does the training dynamics find a useful correlation?</a:t>
            </a:r>
            <a:endParaRPr lang="en-US" sz="1800" dirty="0"/>
          </a:p>
        </p:txBody>
      </p:sp>
      <p:sp>
        <p:nvSpPr>
          <p:cNvPr id="15" name="Text 13"/>
          <p:cNvSpPr/>
          <p:nvPr/>
        </p:nvSpPr>
        <p:spPr>
          <a:xfrm>
            <a:off x="8915400" y="3282696"/>
            <a:ext cx="1783080" cy="237744"/>
          </a:xfrm>
          <a:prstGeom prst="rect">
            <a:avLst/>
          </a:prstGeom>
          <a:noFill/>
          <a:ln/>
        </p:spPr>
        <p:txBody>
          <a:bodyPr wrap="square" lIns="635" tIns="635" rIns="635" bIns="635" rtlCol="0" anchor="ctr">
            <a:normAutofit/>
          </a:bodyPr>
          <a:lstStyle/>
          <a:p>
            <a:pPr algn="r" indent="0" marL="0">
              <a:buNone/>
            </a:pPr>
            <a:r>
              <a:rPr lang="en-US" sz="1100" b="1" dirty="0">
                <a:solidFill>
                  <a:srgbClr val="52606D"/>
                </a:solidFill>
                <a:latin typeface="Aptos" pitchFamily="34" charset="0"/>
                <a:ea typeface="Aptos" pitchFamily="34" charset="-122"/>
                <a:cs typeface="Aptos" pitchFamily="34" charset="-120"/>
              </a:rPr>
              <a:t>MECHANISM</a:t>
            </a:r>
            <a:endParaRPr lang="en-US" sz="1100" dirty="0"/>
          </a:p>
        </p:txBody>
      </p:sp>
      <p:sp>
        <p:nvSpPr>
          <p:cNvPr id="16" name="Shape 14"/>
          <p:cNvSpPr/>
          <p:nvPr/>
        </p:nvSpPr>
        <p:spPr>
          <a:xfrm>
            <a:off x="914400" y="4114800"/>
            <a:ext cx="10149840" cy="749808"/>
          </a:xfrm>
          <a:prstGeom prst="roundRect">
            <a:avLst>
              <a:gd name="adj" fmla="val 7317"/>
            </a:avLst>
          </a:prstGeom>
          <a:solidFill>
            <a:srgbClr val="FFFFFF"/>
          </a:solidFill>
          <a:ln w="12700">
            <a:solidFill>
              <a:srgbClr val="D7E0EA"/>
            </a:solidFill>
            <a:prstDash val="solid"/>
          </a:ln>
        </p:spPr>
      </p:sp>
      <p:sp>
        <p:nvSpPr>
          <p:cNvPr id="17" name="Text 15"/>
          <p:cNvSpPr/>
          <p:nvPr/>
        </p:nvSpPr>
        <p:spPr>
          <a:xfrm>
            <a:off x="1097280" y="4224528"/>
            <a:ext cx="1463040" cy="256032"/>
          </a:xfrm>
          <a:prstGeom prst="rect">
            <a:avLst/>
          </a:prstGeom>
          <a:noFill/>
          <a:ln/>
        </p:spPr>
        <p:txBody>
          <a:bodyPr wrap="square" lIns="635" tIns="635" rIns="635" bIns="635" rtlCol="0" anchor="ctr">
            <a:normAutofit/>
          </a:bodyPr>
          <a:lstStyle/>
          <a:p>
            <a:pPr algn="l" indent="0" marL="0">
              <a:buNone/>
            </a:pPr>
            <a:r>
              <a:rPr lang="en-US" sz="1200" b="1" dirty="0">
                <a:solidFill>
                  <a:srgbClr val="F97316"/>
                </a:solidFill>
                <a:latin typeface="Aptos" pitchFamily="34" charset="0"/>
                <a:ea typeface="Aptos" pitchFamily="34" charset="-122"/>
                <a:cs typeface="Aptos" pitchFamily="34" charset="-120"/>
              </a:rPr>
              <a:t>Generalization</a:t>
            </a:r>
            <a:endParaRPr lang="en-US" sz="1200" dirty="0"/>
          </a:p>
        </p:txBody>
      </p:sp>
      <p:sp>
        <p:nvSpPr>
          <p:cNvPr id="18" name="Text 16"/>
          <p:cNvSpPr/>
          <p:nvPr/>
        </p:nvSpPr>
        <p:spPr>
          <a:xfrm>
            <a:off x="2743200" y="4187952"/>
            <a:ext cx="5669280" cy="365760"/>
          </a:xfrm>
          <a:prstGeom prst="rect">
            <a:avLst/>
          </a:prstGeom>
          <a:noFill/>
          <a:ln/>
        </p:spPr>
        <p:txBody>
          <a:bodyPr wrap="square" lIns="635" tIns="635" rIns="635" bIns="635" rtlCol="0" anchor="ctr">
            <a:normAutofit/>
          </a:bodyPr>
          <a:lstStyle/>
          <a:p>
            <a:pPr algn="l" indent="0" marL="0">
              <a:buNone/>
            </a:pPr>
            <a:r>
              <a:rPr lang="en-US" sz="1800" dirty="0">
                <a:solidFill>
                  <a:srgbClr val="52606D"/>
                </a:solidFill>
                <a:latin typeface="Aptos" pitchFamily="34" charset="0"/>
                <a:ea typeface="Aptos" pitchFamily="34" charset="-122"/>
                <a:cs typeface="Aptos" pitchFamily="34" charset="-120"/>
              </a:rPr>
              <a:t>Will the learned rule extrapolate in length?</a:t>
            </a:r>
            <a:endParaRPr lang="en-US" sz="1800" dirty="0"/>
          </a:p>
        </p:txBody>
      </p:sp>
      <p:sp>
        <p:nvSpPr>
          <p:cNvPr id="19" name="Text 17"/>
          <p:cNvSpPr/>
          <p:nvPr/>
        </p:nvSpPr>
        <p:spPr>
          <a:xfrm>
            <a:off x="8915400" y="4242816"/>
            <a:ext cx="1783080" cy="237744"/>
          </a:xfrm>
          <a:prstGeom prst="rect">
            <a:avLst/>
          </a:prstGeom>
          <a:noFill/>
          <a:ln/>
        </p:spPr>
        <p:txBody>
          <a:bodyPr wrap="square" lIns="635" tIns="635" rIns="635" bIns="635" rtlCol="0" anchor="ctr">
            <a:normAutofit/>
          </a:bodyPr>
          <a:lstStyle/>
          <a:p>
            <a:pPr algn="r" indent="0" marL="0">
              <a:buNone/>
            </a:pPr>
            <a:r>
              <a:rPr lang="en-US" sz="1100" b="1" dirty="0">
                <a:solidFill>
                  <a:srgbClr val="52606D"/>
                </a:solidFill>
                <a:latin typeface="Aptos" pitchFamily="34" charset="0"/>
                <a:ea typeface="Aptos" pitchFamily="34" charset="-122"/>
                <a:cs typeface="Aptos" pitchFamily="34" charset="-120"/>
              </a:rPr>
              <a:t>SCRATCHPAD RESULTS</a:t>
            </a:r>
            <a:endParaRPr lang="en-US" sz="1100" dirty="0"/>
          </a:p>
        </p:txBody>
      </p:sp>
      <p:sp>
        <p:nvSpPr>
          <p:cNvPr id="20" name="Shape 18"/>
          <p:cNvSpPr/>
          <p:nvPr/>
        </p:nvSpPr>
        <p:spPr>
          <a:xfrm>
            <a:off x="914400" y="5074920"/>
            <a:ext cx="10149840" cy="749808"/>
          </a:xfrm>
          <a:prstGeom prst="roundRect">
            <a:avLst>
              <a:gd name="adj" fmla="val 7317"/>
            </a:avLst>
          </a:prstGeom>
          <a:solidFill>
            <a:srgbClr val="FFFFFF"/>
          </a:solidFill>
          <a:ln w="12700">
            <a:solidFill>
              <a:srgbClr val="D7E0EA"/>
            </a:solidFill>
            <a:prstDash val="solid"/>
          </a:ln>
        </p:spPr>
      </p:sp>
      <p:sp>
        <p:nvSpPr>
          <p:cNvPr id="21" name="Text 19"/>
          <p:cNvSpPr/>
          <p:nvPr/>
        </p:nvSpPr>
        <p:spPr>
          <a:xfrm>
            <a:off x="1097280" y="5184648"/>
            <a:ext cx="1463040" cy="256032"/>
          </a:xfrm>
          <a:prstGeom prst="rect">
            <a:avLst/>
          </a:prstGeom>
          <a:noFill/>
          <a:ln/>
        </p:spPr>
        <p:txBody>
          <a:bodyPr wrap="square" lIns="635" tIns="635" rIns="635" bIns="635" rtlCol="0" anchor="ctr">
            <a:normAutofit/>
          </a:bodyPr>
          <a:lstStyle/>
          <a:p>
            <a:pPr algn="l" indent="0" marL="0">
              <a:buNone/>
            </a:pPr>
            <a:r>
              <a:rPr lang="en-US" sz="1200" b="1" dirty="0">
                <a:solidFill>
                  <a:srgbClr val="F97316"/>
                </a:solidFill>
                <a:latin typeface="Aptos" pitchFamily="34" charset="0"/>
                <a:ea typeface="Aptos" pitchFamily="34" charset="-122"/>
                <a:cs typeface="Aptos" pitchFamily="34" charset="-120"/>
              </a:rPr>
              <a:t>Certification</a:t>
            </a:r>
            <a:endParaRPr lang="en-US" sz="1200" dirty="0"/>
          </a:p>
        </p:txBody>
      </p:sp>
      <p:sp>
        <p:nvSpPr>
          <p:cNvPr id="22" name="Text 20"/>
          <p:cNvSpPr/>
          <p:nvPr/>
        </p:nvSpPr>
        <p:spPr>
          <a:xfrm>
            <a:off x="2743200" y="5148072"/>
            <a:ext cx="5669280" cy="365760"/>
          </a:xfrm>
          <a:prstGeom prst="rect">
            <a:avLst/>
          </a:prstGeom>
          <a:noFill/>
          <a:ln/>
        </p:spPr>
        <p:txBody>
          <a:bodyPr wrap="square" lIns="635" tIns="635" rIns="635" bIns="635" rtlCol="0" anchor="ctr">
            <a:normAutofit/>
          </a:bodyPr>
          <a:lstStyle/>
          <a:p>
            <a:pPr algn="l" indent="0" marL="0">
              <a:buNone/>
            </a:pPr>
            <a:r>
              <a:rPr lang="en-US" sz="1800" dirty="0">
                <a:solidFill>
                  <a:srgbClr val="52606D"/>
                </a:solidFill>
                <a:latin typeface="Aptos" pitchFamily="34" charset="0"/>
                <a:ea typeface="Aptos" pitchFamily="34" charset="-122"/>
                <a:cs typeface="Aptos" pitchFamily="34" charset="-120"/>
              </a:rPr>
              <a:t>Can a distribution measure predict hardness?</a:t>
            </a:r>
            <a:endParaRPr lang="en-US" sz="1800" dirty="0"/>
          </a:p>
        </p:txBody>
      </p:sp>
      <p:sp>
        <p:nvSpPr>
          <p:cNvPr id="23" name="Text 21"/>
          <p:cNvSpPr/>
          <p:nvPr/>
        </p:nvSpPr>
        <p:spPr>
          <a:xfrm>
            <a:off x="8915400" y="5202936"/>
            <a:ext cx="1783080" cy="237744"/>
          </a:xfrm>
          <a:prstGeom prst="rect">
            <a:avLst/>
          </a:prstGeom>
          <a:noFill/>
          <a:ln/>
        </p:spPr>
        <p:txBody>
          <a:bodyPr wrap="square" lIns="635" tIns="635" rIns="635" bIns="635" rtlCol="0" anchor="ctr">
            <a:normAutofit/>
          </a:bodyPr>
          <a:lstStyle/>
          <a:p>
            <a:pPr algn="r" indent="0" marL="0">
              <a:buNone/>
            </a:pPr>
            <a:r>
              <a:rPr lang="en-US" sz="1100" b="1" dirty="0">
                <a:solidFill>
                  <a:srgbClr val="52606D"/>
                </a:solidFill>
                <a:latin typeface="Aptos" pitchFamily="34" charset="0"/>
                <a:ea typeface="Aptos" pitchFamily="34" charset="-122"/>
                <a:cs typeface="Aptos" pitchFamily="34" charset="-120"/>
              </a:rPr>
              <a:t>GLOBALITY</a:t>
            </a:r>
            <a:endParaRPr lang="en-US" sz="11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Expressivity is not the bottleneck</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A polynomial-size, polynomial-depth Transformer can compute connectivity.</a:t>
            </a:r>
            <a:endParaRPr lang="en-US" sz="1200" dirty="0"/>
          </a:p>
        </p:txBody>
      </p:sp>
      <p:sp>
        <p:nvSpPr>
          <p:cNvPr id="4" name="Text 2"/>
          <p:cNvSpPr/>
          <p:nvPr/>
        </p:nvSpPr>
        <p:spPr>
          <a:xfrm>
            <a:off x="868680" y="1371600"/>
            <a:ext cx="2194560" cy="320040"/>
          </a:xfrm>
          <a:prstGeom prst="rect">
            <a:avLst/>
          </a:prstGeom>
          <a:noFill/>
          <a:ln/>
        </p:spPr>
        <p:txBody>
          <a:bodyPr wrap="square" lIns="635" tIns="635" rIns="635" bIns="635" rtlCol="0" anchor="ctr">
            <a:normAutofit/>
          </a:bodyPr>
          <a:lstStyle/>
          <a:p>
            <a:pPr algn="l" indent="0" marL="0">
              <a:buNone/>
            </a:pPr>
            <a:r>
              <a:rPr lang="en-US" sz="1300" b="1" dirty="0">
                <a:solidFill>
                  <a:srgbClr val="7C3AED"/>
                </a:solidFill>
                <a:latin typeface="Aptos" pitchFamily="34" charset="0"/>
                <a:ea typeface="Aptos" pitchFamily="34" charset="-122"/>
                <a:cs typeface="Aptos" pitchFamily="34" charset="-120"/>
              </a:rPr>
              <a:t>EXPRESSIVITY</a:t>
            </a:r>
            <a:endParaRPr lang="en-US" sz="1300" dirty="0"/>
          </a:p>
        </p:txBody>
      </p:sp>
      <p:sp>
        <p:nvSpPr>
          <p:cNvPr id="5" name="Text 3"/>
          <p:cNvSpPr/>
          <p:nvPr/>
        </p:nvSpPr>
        <p:spPr>
          <a:xfrm>
            <a:off x="868680" y="1828800"/>
            <a:ext cx="4572000" cy="502920"/>
          </a:xfrm>
          <a:prstGeom prst="rect">
            <a:avLst/>
          </a:prstGeom>
          <a:noFill/>
          <a:ln/>
        </p:spPr>
        <p:txBody>
          <a:bodyPr wrap="square" lIns="635" tIns="635" rIns="635" bIns="635" rtlCol="0" anchor="ctr">
            <a:normAutofit/>
          </a:bodyPr>
          <a:lstStyle/>
          <a:p>
            <a:pPr algn="l" indent="0" marL="0">
              <a:buNone/>
            </a:pPr>
            <a:r>
              <a:rPr lang="en-US" sz="2400" b="1" dirty="0">
                <a:solidFill>
                  <a:srgbClr val="102A43"/>
                </a:solidFill>
                <a:latin typeface="Aptos" pitchFamily="34" charset="0"/>
                <a:ea typeface="Aptos" pitchFamily="34" charset="-122"/>
                <a:cs typeface="Aptos" pitchFamily="34" charset="-120"/>
              </a:rPr>
              <a:t>TC⁰ / TC¹ / polynomial-depth constructions</a:t>
            </a:r>
            <a:endParaRPr lang="en-US" sz="2400" dirty="0"/>
          </a:p>
        </p:txBody>
      </p:sp>
      <p:sp>
        <p:nvSpPr>
          <p:cNvPr id="6" name="Shape 4"/>
          <p:cNvSpPr/>
          <p:nvPr/>
        </p:nvSpPr>
        <p:spPr>
          <a:xfrm>
            <a:off x="5669280" y="2103120"/>
            <a:ext cx="1188720" cy="0"/>
          </a:xfrm>
          <a:prstGeom prst="line">
            <a:avLst/>
          </a:prstGeom>
          <a:noFill/>
          <a:ln w="38100">
            <a:solidFill>
              <a:srgbClr val="7C3AED"/>
            </a:solidFill>
            <a:prstDash val="solid"/>
            <a:headEnd type="none"/>
            <a:tailEnd type="triangle"/>
          </a:ln>
        </p:spPr>
      </p:sp>
      <p:sp>
        <p:nvSpPr>
          <p:cNvPr id="7" name="Text 5"/>
          <p:cNvSpPr/>
          <p:nvPr/>
        </p:nvSpPr>
        <p:spPr>
          <a:xfrm>
            <a:off x="7040880" y="1371600"/>
            <a:ext cx="2286000" cy="320040"/>
          </a:xfrm>
          <a:prstGeom prst="rect">
            <a:avLst/>
          </a:prstGeom>
          <a:noFill/>
          <a:ln/>
        </p:spPr>
        <p:txBody>
          <a:bodyPr wrap="square" lIns="635" tIns="635" rIns="635" bIns="635" rtlCol="0" anchor="ctr">
            <a:normAutofit/>
          </a:bodyPr>
          <a:lstStyle/>
          <a:p>
            <a:pPr algn="l" indent="0" marL="0">
              <a:buNone/>
            </a:pPr>
            <a:r>
              <a:rPr lang="en-US" sz="1300" b="1" dirty="0">
                <a:solidFill>
                  <a:srgbClr val="DC2626"/>
                </a:solidFill>
                <a:latin typeface="Aptos" pitchFamily="34" charset="0"/>
                <a:ea typeface="Aptos" pitchFamily="34" charset="-122"/>
                <a:cs typeface="Aptos" pitchFamily="34" charset="-120"/>
              </a:rPr>
              <a:t>LEARNABILITY</a:t>
            </a:r>
            <a:endParaRPr lang="en-US" sz="1300" dirty="0"/>
          </a:p>
        </p:txBody>
      </p:sp>
      <p:sp>
        <p:nvSpPr>
          <p:cNvPr id="8" name="Text 6"/>
          <p:cNvSpPr/>
          <p:nvPr/>
        </p:nvSpPr>
        <p:spPr>
          <a:xfrm>
            <a:off x="7040880" y="1828800"/>
            <a:ext cx="3931920" cy="502920"/>
          </a:xfrm>
          <a:prstGeom prst="rect">
            <a:avLst/>
          </a:prstGeom>
          <a:noFill/>
          <a:ln/>
        </p:spPr>
        <p:txBody>
          <a:bodyPr wrap="square" lIns="635" tIns="635" rIns="635" bIns="635" rtlCol="0" anchor="ctr">
            <a:normAutofit/>
          </a:bodyPr>
          <a:lstStyle/>
          <a:p>
            <a:pPr algn="l" indent="0" marL="0">
              <a:buNone/>
            </a:pPr>
            <a:r>
              <a:rPr lang="en-US" sz="2400" b="1" dirty="0">
                <a:solidFill>
                  <a:srgbClr val="102A43"/>
                </a:solidFill>
                <a:latin typeface="Aptos" pitchFamily="34" charset="0"/>
                <a:ea typeface="Aptos" pitchFamily="34" charset="-122"/>
                <a:cs typeface="Aptos" pitchFamily="34" charset="-120"/>
              </a:rPr>
              <a:t>globality can still block descent</a:t>
            </a:r>
            <a:endParaRPr lang="en-US" sz="2400" dirty="0"/>
          </a:p>
        </p:txBody>
      </p:sp>
      <p:sp>
        <p:nvSpPr>
          <p:cNvPr id="9" name="Shape 7"/>
          <p:cNvSpPr/>
          <p:nvPr/>
        </p:nvSpPr>
        <p:spPr>
          <a:xfrm>
            <a:off x="868680" y="3017520"/>
            <a:ext cx="10104120" cy="1554480"/>
          </a:xfrm>
          <a:prstGeom prst="roundRect">
            <a:avLst>
              <a:gd name="adj" fmla="val 3529"/>
            </a:avLst>
          </a:prstGeom>
          <a:solidFill>
            <a:srgbClr val="FEF2F2"/>
          </a:solidFill>
          <a:ln w="12700">
            <a:solidFill>
              <a:srgbClr val="FECACA"/>
            </a:solidFill>
            <a:prstDash val="solid"/>
          </a:ln>
        </p:spPr>
      </p:sp>
      <p:sp>
        <p:nvSpPr>
          <p:cNvPr id="10" name="Text 8"/>
          <p:cNvSpPr/>
          <p:nvPr/>
        </p:nvSpPr>
        <p:spPr>
          <a:xfrm>
            <a:off x="1143000" y="3429000"/>
            <a:ext cx="9555480" cy="548640"/>
          </a:xfrm>
          <a:prstGeom prst="rect">
            <a:avLst/>
          </a:prstGeom>
          <a:noFill/>
          <a:ln/>
        </p:spPr>
        <p:txBody>
          <a:bodyPr wrap="square" lIns="635" tIns="635" rIns="635" bIns="635" rtlCol="0" anchor="ctr">
            <a:normAutofit/>
          </a:bodyPr>
          <a:lstStyle/>
          <a:p>
            <a:pPr algn="ctr" indent="0" marL="0">
              <a:buNone/>
            </a:pPr>
            <a:r>
              <a:rPr lang="en-US" sz="2500" b="1" dirty="0">
                <a:solidFill>
                  <a:srgbClr val="DC2626"/>
                </a:solidFill>
                <a:latin typeface="Aptos" pitchFamily="34" charset="0"/>
                <a:ea typeface="Aptos" pitchFamily="34" charset="-122"/>
                <a:cs typeface="Aptos" pitchFamily="34" charset="-120"/>
              </a:rPr>
              <a:t>So “Transformer can compute it” does not imply “Transformer can learn it from scratch.”</a:t>
            </a:r>
            <a:endParaRPr lang="en-US" sz="2500" dirty="0"/>
          </a:p>
        </p:txBody>
      </p:sp>
      <p:sp>
        <p:nvSpPr>
          <p:cNvPr id="11" name="Text 9"/>
          <p:cNvSpPr/>
          <p:nvPr/>
        </p:nvSpPr>
        <p:spPr>
          <a:xfrm>
            <a:off x="1874520" y="4983480"/>
            <a:ext cx="8412480" cy="411480"/>
          </a:xfrm>
          <a:prstGeom prst="rect">
            <a:avLst/>
          </a:prstGeom>
          <a:noFill/>
          <a:ln/>
        </p:spPr>
        <p:txBody>
          <a:bodyPr wrap="square" lIns="635" tIns="635" rIns="635" bIns="635" rtlCol="0" anchor="ctr">
            <a:normAutofit/>
          </a:bodyPr>
          <a:lstStyle/>
          <a:p>
            <a:pPr algn="ctr" indent="0" marL="0">
              <a:buNone/>
            </a:pPr>
            <a:r>
              <a:rPr lang="en-US" sz="1700" dirty="0">
                <a:solidFill>
                  <a:srgbClr val="52606D"/>
                </a:solidFill>
                <a:latin typeface="Aptos" pitchFamily="34" charset="0"/>
                <a:ea typeface="Aptos" pitchFamily="34" charset="-122"/>
                <a:cs typeface="Aptos" pitchFamily="34" charset="-120"/>
              </a:rPr>
              <a:t>This is the conceptual gap the paper tries to measure.</a:t>
            </a:r>
            <a:endParaRPr lang="en-US" sz="17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conjecture</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Efficient weak learning ⇔ constant globality (for regular Transformers).</a:t>
            </a:r>
            <a:endParaRPr lang="en-US" sz="1200" dirty="0"/>
          </a:p>
        </p:txBody>
      </p:sp>
      <p:sp>
        <p:nvSpPr>
          <p:cNvPr id="4" name="Shape 2"/>
          <p:cNvSpPr/>
          <p:nvPr/>
        </p:nvSpPr>
        <p:spPr>
          <a:xfrm>
            <a:off x="914400" y="1463040"/>
            <a:ext cx="10241280" cy="2011680"/>
          </a:xfrm>
          <a:prstGeom prst="roundRect">
            <a:avLst>
              <a:gd name="adj" fmla="val 2727"/>
            </a:avLst>
          </a:prstGeom>
          <a:solidFill>
            <a:srgbClr val="EFF6FF"/>
          </a:solidFill>
          <a:ln w="12700">
            <a:solidFill>
              <a:srgbClr val="BFDBFE"/>
            </a:solidFill>
            <a:prstDash val="solid"/>
          </a:ln>
        </p:spPr>
      </p:sp>
      <p:sp>
        <p:nvSpPr>
          <p:cNvPr id="5" name="Text 3"/>
          <p:cNvSpPr/>
          <p:nvPr/>
        </p:nvSpPr>
        <p:spPr>
          <a:xfrm>
            <a:off x="1234440" y="1755648"/>
            <a:ext cx="1828800" cy="365760"/>
          </a:xfrm>
          <a:prstGeom prst="rect">
            <a:avLst/>
          </a:prstGeom>
          <a:noFill/>
          <a:ln/>
        </p:spPr>
        <p:txBody>
          <a:bodyPr wrap="square" lIns="635" tIns="635" rIns="635" bIns="635" rtlCol="0" anchor="ctr">
            <a:normAutofit/>
          </a:bodyPr>
          <a:lstStyle/>
          <a:p>
            <a:pPr algn="l" indent="0" marL="0">
              <a:buNone/>
            </a:pPr>
            <a:r>
              <a:rPr lang="en-US" sz="1600" b="1" dirty="0">
                <a:solidFill>
                  <a:srgbClr val="2563EB"/>
                </a:solidFill>
                <a:latin typeface="Aptos" pitchFamily="34" charset="0"/>
                <a:ea typeface="Aptos" pitchFamily="34" charset="-122"/>
                <a:cs typeface="Aptos" pitchFamily="34" charset="-120"/>
              </a:rPr>
              <a:t>Conjecture 1</a:t>
            </a:r>
            <a:endParaRPr lang="en-US" sz="1600" dirty="0"/>
          </a:p>
        </p:txBody>
      </p:sp>
      <p:sp>
        <p:nvSpPr>
          <p:cNvPr id="6" name="Text 4"/>
          <p:cNvSpPr/>
          <p:nvPr/>
        </p:nvSpPr>
        <p:spPr>
          <a:xfrm>
            <a:off x="1234440" y="2304288"/>
            <a:ext cx="9509760" cy="822960"/>
          </a:xfrm>
          <a:prstGeom prst="rect">
            <a:avLst/>
          </a:prstGeom>
          <a:noFill/>
          <a:ln/>
        </p:spPr>
        <p:txBody>
          <a:bodyPr wrap="square" lIns="635" tIns="635" rIns="635" bIns="635" rtlCol="0" anchor="ctr">
            <a:normAutofit/>
          </a:bodyPr>
          <a:lstStyle/>
          <a:p>
            <a:pPr algn="ctr" indent="0" marL="0">
              <a:buNone/>
            </a:pPr>
            <a:r>
              <a:rPr lang="en-US" sz="2400" b="1" dirty="0">
                <a:solidFill>
                  <a:srgbClr val="102A43"/>
                </a:solidFill>
                <a:latin typeface="Aptos" pitchFamily="34" charset="0"/>
                <a:ea typeface="Aptos" pitchFamily="34" charset="-122"/>
                <a:cs typeface="Aptos" pitchFamily="34" charset="-120"/>
              </a:rPr>
              <a:t>A well-behaved distribution is efficiently weakly learnable by a T-regular Transformer</a:t>
            </a:r>
            <a:endParaRPr lang="en-US" sz="2400" dirty="0"/>
          </a:p>
          <a:p>
            <a:pPr algn="ctr" indent="0" marL="0">
              <a:buNone/>
            </a:pPr>
            <a:r>
              <a:rPr lang="en-US" sz="2400" b="1" dirty="0">
                <a:solidFill>
                  <a:srgbClr val="102A43"/>
                </a:solidFill>
                <a:latin typeface="Aptos" pitchFamily="34" charset="0"/>
                <a:ea typeface="Aptos" pitchFamily="34" charset="-122"/>
                <a:cs typeface="Aptos" pitchFamily="34" charset="-120"/>
              </a:rPr>
              <a:t>if and only if it has constant globality.</a:t>
            </a:r>
            <a:endParaRPr lang="en-US" sz="2400" dirty="0"/>
          </a:p>
        </p:txBody>
      </p:sp>
      <p:sp>
        <p:nvSpPr>
          <p:cNvPr id="7" name="Text 5"/>
          <p:cNvSpPr/>
          <p:nvPr/>
        </p:nvSpPr>
        <p:spPr>
          <a:xfrm>
            <a:off x="1097280" y="4251960"/>
            <a:ext cx="9875520" cy="502920"/>
          </a:xfrm>
          <a:prstGeom prst="rect">
            <a:avLst/>
          </a:prstGeom>
          <a:noFill/>
          <a:ln/>
        </p:spPr>
        <p:txBody>
          <a:bodyPr wrap="square" lIns="635" tIns="635" rIns="635" bIns="635" rtlCol="0" anchor="ctr">
            <a:normAutofit/>
          </a:bodyPr>
          <a:lstStyle/>
          <a:p>
            <a:pPr algn="ctr" indent="0" marL="0">
              <a:buNone/>
            </a:pPr>
            <a:r>
              <a:rPr lang="en-US" sz="2000" b="1" dirty="0">
                <a:solidFill>
                  <a:srgbClr val="F97316"/>
                </a:solidFill>
                <a:latin typeface="Aptos" pitchFamily="34" charset="0"/>
                <a:ea typeface="Aptos" pitchFamily="34" charset="-122"/>
                <a:cs typeface="Aptos" pitchFamily="34" charset="-120"/>
              </a:rPr>
              <a:t>The paper proves the HARD direction for a concrete cycle-task variant.</a:t>
            </a:r>
            <a:endParaRPr lang="en-US" sz="2000" dirty="0"/>
          </a:p>
        </p:txBody>
      </p:sp>
      <p:sp>
        <p:nvSpPr>
          <p:cNvPr id="8" name="Text 6"/>
          <p:cNvSpPr/>
          <p:nvPr/>
        </p:nvSpPr>
        <p:spPr>
          <a:xfrm>
            <a:off x="1737360" y="4983480"/>
            <a:ext cx="8503920" cy="41148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It does not prove the full “if and only if” theorem.</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Theorem 1: the globality barrier</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A high-globality cycle construction defeats polynomial-time population gradient descent.</a:t>
            </a:r>
            <a:endParaRPr lang="en-US" sz="1200" dirty="0"/>
          </a:p>
        </p:txBody>
      </p:sp>
      <p:sp>
        <p:nvSpPr>
          <p:cNvPr id="4" name="Text 2"/>
          <p:cNvSpPr/>
          <p:nvPr/>
        </p:nvSpPr>
        <p:spPr>
          <a:xfrm>
            <a:off x="731520" y="1298448"/>
            <a:ext cx="2011680" cy="320040"/>
          </a:xfrm>
          <a:prstGeom prst="rect">
            <a:avLst/>
          </a:prstGeom>
          <a:noFill/>
          <a:ln/>
        </p:spPr>
        <p:txBody>
          <a:bodyPr wrap="square" lIns="635" tIns="635" rIns="635" bIns="635" rtlCol="0" anchor="ctr">
            <a:normAutofit/>
          </a:bodyPr>
          <a:lstStyle/>
          <a:p>
            <a:pPr algn="l" indent="0" marL="0">
              <a:buNone/>
            </a:pPr>
            <a:r>
              <a:rPr lang="en-US" sz="1400" b="1" dirty="0">
                <a:solidFill>
                  <a:srgbClr val="2563EB"/>
                </a:solidFill>
                <a:latin typeface="Aptos" pitchFamily="34" charset="0"/>
                <a:ea typeface="Aptos" pitchFamily="34" charset="-122"/>
                <a:cs typeface="Aptos" pitchFamily="34" charset="-120"/>
              </a:rPr>
              <a:t>Target distribution</a:t>
            </a:r>
            <a:endParaRPr lang="en-US" sz="1400" dirty="0"/>
          </a:p>
        </p:txBody>
      </p:sp>
      <p:sp>
        <p:nvSpPr>
          <p:cNvPr id="5" name="Text 3"/>
          <p:cNvSpPr/>
          <p:nvPr/>
        </p:nvSpPr>
        <p:spPr>
          <a:xfrm>
            <a:off x="731520" y="1783080"/>
            <a:ext cx="2834640" cy="914400"/>
          </a:xfrm>
          <a:prstGeom prst="rect">
            <a:avLst/>
          </a:prstGeom>
          <a:noFill/>
          <a:ln/>
        </p:spPr>
        <p:txBody>
          <a:bodyPr wrap="square" lIns="635" tIns="635" rIns="635" bIns="635" rtlCol="0" anchor="ctr">
            <a:normAutofit/>
          </a:bodyPr>
          <a:lstStyle/>
          <a:p>
            <a:pPr algn="ctr" indent="0" marL="0">
              <a:buNone/>
            </a:pPr>
            <a:r>
              <a:rPr lang="en-US" sz="1900" b="1" dirty="0">
                <a:solidFill>
                  <a:srgbClr val="102A43"/>
                </a:solidFill>
                <a:latin typeface="Aptos" pitchFamily="34" charset="0"/>
                <a:ea typeface="Aptos" pitchFamily="34" charset="-122"/>
                <a:cs typeface="Aptos" pitchFamily="34" charset="-120"/>
              </a:rPr>
              <a:t>3n-cycle with prob. 2/3</a:t>
            </a:r>
            <a:endParaRPr lang="en-US" sz="1900" dirty="0"/>
          </a:p>
          <a:p>
            <a:pPr algn="ctr" indent="0" marL="0">
              <a:buNone/>
            </a:pPr>
            <a:r>
              <a:rPr lang="en-US" sz="1900" b="1" dirty="0">
                <a:solidFill>
                  <a:srgbClr val="102A43"/>
                </a:solidFill>
                <a:latin typeface="Aptos" pitchFamily="34" charset="0"/>
                <a:ea typeface="Aptos" pitchFamily="34" charset="-122"/>
                <a:cs typeface="Aptos" pitchFamily="34" charset="-120"/>
              </a:rPr>
              <a:t>3 disjoint n-cycles otherwise</a:t>
            </a:r>
            <a:endParaRPr lang="en-US" sz="1900" dirty="0"/>
          </a:p>
        </p:txBody>
      </p:sp>
      <p:sp>
        <p:nvSpPr>
          <p:cNvPr id="6" name="Shape 4"/>
          <p:cNvSpPr/>
          <p:nvPr/>
        </p:nvSpPr>
        <p:spPr>
          <a:xfrm>
            <a:off x="3840480" y="2148840"/>
            <a:ext cx="1051560" cy="0"/>
          </a:xfrm>
          <a:prstGeom prst="line">
            <a:avLst/>
          </a:prstGeom>
          <a:noFill/>
          <a:ln w="38100">
            <a:solidFill>
              <a:srgbClr val="2563EB"/>
            </a:solidFill>
            <a:prstDash val="solid"/>
            <a:headEnd type="none"/>
            <a:tailEnd type="triangle"/>
          </a:ln>
        </p:spPr>
      </p:sp>
      <p:sp>
        <p:nvSpPr>
          <p:cNvPr id="7" name="Text 5"/>
          <p:cNvSpPr/>
          <p:nvPr/>
        </p:nvSpPr>
        <p:spPr>
          <a:xfrm>
            <a:off x="5074920" y="1417320"/>
            <a:ext cx="1280160" cy="320040"/>
          </a:xfrm>
          <a:prstGeom prst="rect">
            <a:avLst/>
          </a:prstGeom>
          <a:noFill/>
          <a:ln/>
        </p:spPr>
        <p:txBody>
          <a:bodyPr wrap="square" lIns="635" tIns="635" rIns="635" bIns="635" rtlCol="0" anchor="ctr">
            <a:normAutofit/>
          </a:bodyPr>
          <a:lstStyle/>
          <a:p>
            <a:pPr algn="ctr" indent="0" marL="0">
              <a:buNone/>
            </a:pPr>
            <a:r>
              <a:rPr lang="en-US" sz="1400" b="1" dirty="0">
                <a:solidFill>
                  <a:srgbClr val="F97316"/>
                </a:solidFill>
                <a:latin typeface="Aptos" pitchFamily="34" charset="0"/>
                <a:ea typeface="Aptos" pitchFamily="34" charset="-122"/>
                <a:cs typeface="Aptos" pitchFamily="34" charset="-120"/>
              </a:rPr>
              <a:t>QUERY</a:t>
            </a:r>
            <a:endParaRPr lang="en-US" sz="1400" dirty="0"/>
          </a:p>
        </p:txBody>
      </p:sp>
      <p:sp>
        <p:nvSpPr>
          <p:cNvPr id="8" name="Text 6"/>
          <p:cNvSpPr/>
          <p:nvPr/>
        </p:nvSpPr>
        <p:spPr>
          <a:xfrm>
            <a:off x="4800600" y="1828800"/>
            <a:ext cx="1828800" cy="77724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three marked vertices</a:t>
            </a:r>
            <a:endParaRPr lang="en-US" sz="2000" dirty="0"/>
          </a:p>
          <a:p>
            <a:pPr algn="ctr" indent="0" marL="0">
              <a:buNone/>
            </a:pPr>
            <a:r>
              <a:rPr lang="en-US" sz="2000" b="1" dirty="0">
                <a:solidFill>
                  <a:srgbClr val="102A43"/>
                </a:solidFill>
                <a:latin typeface="Aptos" pitchFamily="34" charset="0"/>
                <a:ea typeface="Aptos" pitchFamily="34" charset="-122"/>
                <a:cs typeface="Aptos" pitchFamily="34" charset="-120"/>
              </a:rPr>
              <a:t> a₀, b₀, c₀</a:t>
            </a:r>
            <a:endParaRPr lang="en-US" sz="2000" dirty="0"/>
          </a:p>
        </p:txBody>
      </p:sp>
      <p:sp>
        <p:nvSpPr>
          <p:cNvPr id="9" name="Shape 7"/>
          <p:cNvSpPr/>
          <p:nvPr/>
        </p:nvSpPr>
        <p:spPr>
          <a:xfrm>
            <a:off x="6812280" y="2148840"/>
            <a:ext cx="1005840" cy="0"/>
          </a:xfrm>
          <a:prstGeom prst="line">
            <a:avLst/>
          </a:prstGeom>
          <a:noFill/>
          <a:ln w="38100">
            <a:solidFill>
              <a:srgbClr val="F97316"/>
            </a:solidFill>
            <a:prstDash val="solid"/>
            <a:headEnd type="none"/>
            <a:tailEnd type="triangle"/>
          </a:ln>
        </p:spPr>
      </p:sp>
      <p:sp>
        <p:nvSpPr>
          <p:cNvPr id="10" name="Text 8"/>
          <p:cNvSpPr/>
          <p:nvPr/>
        </p:nvSpPr>
        <p:spPr>
          <a:xfrm>
            <a:off x="7973568" y="1417320"/>
            <a:ext cx="128016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5803D"/>
                </a:solidFill>
                <a:latin typeface="Aptos" pitchFamily="34" charset="0"/>
                <a:ea typeface="Aptos" pitchFamily="34" charset="-122"/>
                <a:cs typeface="Aptos" pitchFamily="34" charset="-120"/>
              </a:rPr>
              <a:t>LABEL</a:t>
            </a:r>
            <a:endParaRPr lang="en-US" sz="1400" dirty="0"/>
          </a:p>
        </p:txBody>
      </p:sp>
      <p:sp>
        <p:nvSpPr>
          <p:cNvPr id="11" name="Text 9"/>
          <p:cNvSpPr/>
          <p:nvPr/>
        </p:nvSpPr>
        <p:spPr>
          <a:xfrm>
            <a:off x="7726680" y="1828800"/>
            <a:ext cx="1828800" cy="77724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same cycle?</a:t>
            </a:r>
            <a:endParaRPr lang="en-US" sz="2000" dirty="0"/>
          </a:p>
          <a:p>
            <a:pPr algn="ctr" indent="0" marL="0">
              <a:buNone/>
            </a:pPr>
            <a:r>
              <a:rPr lang="en-US" sz="2000" b="1" dirty="0">
                <a:solidFill>
                  <a:srgbClr val="102A43"/>
                </a:solidFill>
                <a:latin typeface="Aptos" pitchFamily="34" charset="0"/>
                <a:ea typeface="Aptos" pitchFamily="34" charset="-122"/>
                <a:cs typeface="Aptos" pitchFamily="34" charset="-120"/>
              </a:rPr>
              <a:t>YES / NO</a:t>
            </a:r>
            <a:endParaRPr lang="en-US" sz="2000" dirty="0"/>
          </a:p>
        </p:txBody>
      </p:sp>
      <p:sp>
        <p:nvSpPr>
          <p:cNvPr id="12" name="Shape 10"/>
          <p:cNvSpPr/>
          <p:nvPr/>
        </p:nvSpPr>
        <p:spPr>
          <a:xfrm>
            <a:off x="1874520" y="3840480"/>
            <a:ext cx="8321040" cy="1463040"/>
          </a:xfrm>
          <a:prstGeom prst="roundRect">
            <a:avLst>
              <a:gd name="adj" fmla="val 3750"/>
            </a:avLst>
          </a:prstGeom>
          <a:solidFill>
            <a:srgbClr val="FEF2F2"/>
          </a:solidFill>
          <a:ln w="12700">
            <a:solidFill>
              <a:srgbClr val="FECACA"/>
            </a:solidFill>
            <a:prstDash val="solid"/>
          </a:ln>
        </p:spPr>
      </p:sp>
      <p:sp>
        <p:nvSpPr>
          <p:cNvPr id="13" name="Text 11"/>
          <p:cNvSpPr/>
          <p:nvPr/>
        </p:nvSpPr>
        <p:spPr>
          <a:xfrm>
            <a:off x="2148840" y="4224528"/>
            <a:ext cx="7772400" cy="685800"/>
          </a:xfrm>
          <a:prstGeom prst="rect">
            <a:avLst/>
          </a:prstGeom>
          <a:noFill/>
          <a:ln/>
        </p:spPr>
        <p:txBody>
          <a:bodyPr wrap="square" lIns="635" tIns="635" rIns="635" bIns="635" rtlCol="0" anchor="ctr">
            <a:normAutofit/>
          </a:bodyPr>
          <a:lstStyle/>
          <a:p>
            <a:pPr algn="ctr" indent="0" marL="0">
              <a:buNone/>
            </a:pPr>
            <a:r>
              <a:rPr lang="en-US" sz="2400" b="1" dirty="0">
                <a:solidFill>
                  <a:srgbClr val="DC2626"/>
                </a:solidFill>
                <a:latin typeface="Aptos" pitchFamily="34" charset="0"/>
                <a:ea typeface="Aptos" pitchFamily="34" charset="-122"/>
                <a:cs typeface="Aptos" pitchFamily="34" charset="-120"/>
              </a:rPr>
              <a:t>Population GD + polynomial hyperparameters + differentiable loss</a:t>
            </a:r>
            <a:endParaRPr lang="en-US" sz="2400" dirty="0"/>
          </a:p>
          <a:p>
            <a:pPr algn="ctr" indent="0" marL="0">
              <a:buNone/>
            </a:pPr>
            <a:r>
              <a:rPr lang="en-US" sz="2400" b="1" dirty="0">
                <a:solidFill>
                  <a:srgbClr val="DC2626"/>
                </a:solidFill>
                <a:latin typeface="Aptos" pitchFamily="34" charset="0"/>
                <a:ea typeface="Aptos" pitchFamily="34" charset="-122"/>
                <a:cs typeface="Aptos" pitchFamily="34" charset="-120"/>
              </a:rPr>
              <a:t>⇒ fails to weakly learn.</a:t>
            </a:r>
            <a:endParaRPr lang="en-US" sz="2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Read the theorem carefully</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assumptions carry a lot of the weight.</a:t>
            </a:r>
            <a:endParaRPr lang="en-US" sz="1200" dirty="0"/>
          </a:p>
        </p:txBody>
      </p:sp>
      <p:sp>
        <p:nvSpPr>
          <p:cNvPr id="4" name="Shape 2"/>
          <p:cNvSpPr/>
          <p:nvPr/>
        </p:nvSpPr>
        <p:spPr>
          <a:xfrm>
            <a:off x="868680" y="1325880"/>
            <a:ext cx="329184" cy="329184"/>
          </a:xfrm>
          <a:prstGeom prst="ellipse">
            <a:avLst/>
          </a:prstGeom>
          <a:solidFill>
            <a:srgbClr val="2563EB"/>
          </a:solidFill>
          <a:ln w="12700">
            <a:solidFill>
              <a:srgbClr val="2563EB"/>
            </a:solidFill>
            <a:prstDash val="solid"/>
          </a:ln>
        </p:spPr>
      </p:sp>
      <p:sp>
        <p:nvSpPr>
          <p:cNvPr id="5" name="Text 3"/>
          <p:cNvSpPr/>
          <p:nvPr/>
        </p:nvSpPr>
        <p:spPr>
          <a:xfrm>
            <a:off x="868680" y="13441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6" name="Text 4"/>
          <p:cNvSpPr/>
          <p:nvPr/>
        </p:nvSpPr>
        <p:spPr>
          <a:xfrm>
            <a:off x="1371600" y="13350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T-regular: polynomial-size Transformer</a:t>
            </a:r>
            <a:endParaRPr lang="en-US" sz="1700" dirty="0"/>
          </a:p>
        </p:txBody>
      </p:sp>
      <p:sp>
        <p:nvSpPr>
          <p:cNvPr id="7" name="Shape 5"/>
          <p:cNvSpPr/>
          <p:nvPr/>
        </p:nvSpPr>
        <p:spPr>
          <a:xfrm>
            <a:off x="868680" y="2011680"/>
            <a:ext cx="329184" cy="329184"/>
          </a:xfrm>
          <a:prstGeom prst="ellipse">
            <a:avLst/>
          </a:prstGeom>
          <a:solidFill>
            <a:srgbClr val="2563EB"/>
          </a:solidFill>
          <a:ln w="12700">
            <a:solidFill>
              <a:srgbClr val="2563EB"/>
            </a:solidFill>
            <a:prstDash val="solid"/>
          </a:ln>
        </p:spPr>
      </p:sp>
      <p:sp>
        <p:nvSpPr>
          <p:cNvPr id="8" name="Text 6"/>
          <p:cNvSpPr/>
          <p:nvPr/>
        </p:nvSpPr>
        <p:spPr>
          <a:xfrm>
            <a:off x="868680" y="20299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9" name="Text 7"/>
          <p:cNvSpPr/>
          <p:nvPr/>
        </p:nvSpPr>
        <p:spPr>
          <a:xfrm>
            <a:off x="1371600" y="20208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Gaussian iid positional embeddings and weights</a:t>
            </a:r>
            <a:endParaRPr lang="en-US" sz="1700" dirty="0"/>
          </a:p>
        </p:txBody>
      </p:sp>
      <p:sp>
        <p:nvSpPr>
          <p:cNvPr id="10" name="Shape 8"/>
          <p:cNvSpPr/>
          <p:nvPr/>
        </p:nvSpPr>
        <p:spPr>
          <a:xfrm>
            <a:off x="868680" y="2697480"/>
            <a:ext cx="329184" cy="329184"/>
          </a:xfrm>
          <a:prstGeom prst="ellipse">
            <a:avLst/>
          </a:prstGeom>
          <a:solidFill>
            <a:srgbClr val="2563EB"/>
          </a:solidFill>
          <a:ln w="12700">
            <a:solidFill>
              <a:srgbClr val="2563EB"/>
            </a:solidFill>
            <a:prstDash val="solid"/>
          </a:ln>
        </p:spPr>
      </p:sp>
      <p:sp>
        <p:nvSpPr>
          <p:cNvPr id="11" name="Text 9"/>
          <p:cNvSpPr/>
          <p:nvPr/>
        </p:nvSpPr>
        <p:spPr>
          <a:xfrm>
            <a:off x="868680" y="27157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2" name="Text 10"/>
          <p:cNvSpPr/>
          <p:nvPr/>
        </p:nvSpPr>
        <p:spPr>
          <a:xfrm>
            <a:off x="1371600" y="27066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bidirectional attention; no helpful causal mask</a:t>
            </a:r>
            <a:endParaRPr lang="en-US" sz="1700" dirty="0"/>
          </a:p>
        </p:txBody>
      </p:sp>
      <p:sp>
        <p:nvSpPr>
          <p:cNvPr id="13" name="Shape 11"/>
          <p:cNvSpPr/>
          <p:nvPr/>
        </p:nvSpPr>
        <p:spPr>
          <a:xfrm>
            <a:off x="868680" y="3383280"/>
            <a:ext cx="329184" cy="329184"/>
          </a:xfrm>
          <a:prstGeom prst="ellipse">
            <a:avLst/>
          </a:prstGeom>
          <a:solidFill>
            <a:srgbClr val="2563EB"/>
          </a:solidFill>
          <a:ln w="12700">
            <a:solidFill>
              <a:srgbClr val="2563EB"/>
            </a:solidFill>
            <a:prstDash val="solid"/>
          </a:ln>
        </p:spPr>
      </p:sp>
      <p:sp>
        <p:nvSpPr>
          <p:cNvPr id="14" name="Text 12"/>
          <p:cNvSpPr/>
          <p:nvPr/>
        </p:nvSpPr>
        <p:spPr>
          <a:xfrm>
            <a:off x="868680" y="34015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5" name="Text 13"/>
          <p:cNvSpPr/>
          <p:nvPr/>
        </p:nvSpPr>
        <p:spPr>
          <a:xfrm>
            <a:off x="1371600" y="33924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well-behaved input distribution</a:t>
            </a:r>
            <a:endParaRPr lang="en-US" sz="1700" dirty="0"/>
          </a:p>
        </p:txBody>
      </p:sp>
      <p:sp>
        <p:nvSpPr>
          <p:cNvPr id="16" name="Shape 14"/>
          <p:cNvSpPr/>
          <p:nvPr/>
        </p:nvSpPr>
        <p:spPr>
          <a:xfrm>
            <a:off x="868680" y="4069080"/>
            <a:ext cx="329184" cy="329184"/>
          </a:xfrm>
          <a:prstGeom prst="ellipse">
            <a:avLst/>
          </a:prstGeom>
          <a:solidFill>
            <a:srgbClr val="2563EB"/>
          </a:solidFill>
          <a:ln w="12700">
            <a:solidFill>
              <a:srgbClr val="2563EB"/>
            </a:solidFill>
            <a:prstDash val="solid"/>
          </a:ln>
        </p:spPr>
      </p:sp>
      <p:sp>
        <p:nvSpPr>
          <p:cNvPr id="17" name="Text 15"/>
          <p:cNvSpPr/>
          <p:nvPr/>
        </p:nvSpPr>
        <p:spPr>
          <a:xfrm>
            <a:off x="868680" y="40873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18" name="Text 16"/>
          <p:cNvSpPr/>
          <p:nvPr/>
        </p:nvSpPr>
        <p:spPr>
          <a:xfrm>
            <a:off x="1371600" y="40782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population gradient descent</a:t>
            </a:r>
            <a:endParaRPr lang="en-US" sz="1700" dirty="0"/>
          </a:p>
        </p:txBody>
      </p:sp>
      <p:sp>
        <p:nvSpPr>
          <p:cNvPr id="19" name="Shape 17"/>
          <p:cNvSpPr/>
          <p:nvPr/>
        </p:nvSpPr>
        <p:spPr>
          <a:xfrm>
            <a:off x="868680" y="4754880"/>
            <a:ext cx="329184" cy="329184"/>
          </a:xfrm>
          <a:prstGeom prst="ellipse">
            <a:avLst/>
          </a:prstGeom>
          <a:solidFill>
            <a:srgbClr val="2563EB"/>
          </a:solidFill>
          <a:ln w="12700">
            <a:solidFill>
              <a:srgbClr val="2563EB"/>
            </a:solidFill>
            <a:prstDash val="solid"/>
          </a:ln>
        </p:spPr>
      </p:sp>
      <p:sp>
        <p:nvSpPr>
          <p:cNvPr id="20" name="Text 18"/>
          <p:cNvSpPr/>
          <p:nvPr/>
        </p:nvSpPr>
        <p:spPr>
          <a:xfrm>
            <a:off x="868680" y="4773168"/>
            <a:ext cx="329184" cy="292608"/>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6</a:t>
            </a:r>
            <a:endParaRPr lang="en-US" sz="1200" dirty="0"/>
          </a:p>
        </p:txBody>
      </p:sp>
      <p:sp>
        <p:nvSpPr>
          <p:cNvPr id="21" name="Text 19"/>
          <p:cNvSpPr/>
          <p:nvPr/>
        </p:nvSpPr>
        <p:spPr>
          <a:xfrm>
            <a:off x="1371600" y="4764024"/>
            <a:ext cx="9692640" cy="347472"/>
          </a:xfrm>
          <a:prstGeom prst="rect">
            <a:avLst/>
          </a:prstGeom>
          <a:noFill/>
          <a:ln/>
        </p:spPr>
        <p:txBody>
          <a:bodyPr wrap="square" lIns="635" tIns="635" rIns="635" bIns="635" rtlCol="0" anchor="ctr">
            <a:normAutofit/>
          </a:bodyPr>
          <a:lstStyle/>
          <a:p>
            <a:pPr algn="l" indent="0" marL="0">
              <a:buNone/>
            </a:pPr>
            <a:r>
              <a:rPr lang="en-US" sz="1700" dirty="0">
                <a:solidFill>
                  <a:srgbClr val="102A43"/>
                </a:solidFill>
                <a:latin typeface="Aptos" pitchFamily="34" charset="0"/>
                <a:ea typeface="Aptos" pitchFamily="34" charset="-122"/>
                <a:cs typeface="Aptos" pitchFamily="34" charset="-120"/>
              </a:rPr>
              <a:t>polynomial learning rate / clipping / precision-or-noise regime</a:t>
            </a:r>
            <a:endParaRPr lang="en-US" sz="1700" dirty="0"/>
          </a:p>
        </p:txBody>
      </p:sp>
      <p:sp>
        <p:nvSpPr>
          <p:cNvPr id="22" name="Shape 20"/>
          <p:cNvSpPr/>
          <p:nvPr/>
        </p:nvSpPr>
        <p:spPr>
          <a:xfrm>
            <a:off x="868680" y="5623560"/>
            <a:ext cx="10241280" cy="530352"/>
          </a:xfrm>
          <a:prstGeom prst="roundRect">
            <a:avLst>
              <a:gd name="adj" fmla="val 10345"/>
            </a:avLst>
          </a:prstGeom>
          <a:solidFill>
            <a:srgbClr val="FFF7ED"/>
          </a:solidFill>
          <a:ln w="12700">
            <a:solidFill>
              <a:srgbClr val="FED7AA"/>
            </a:solidFill>
            <a:prstDash val="solid"/>
          </a:ln>
        </p:spPr>
      </p:sp>
      <p:sp>
        <p:nvSpPr>
          <p:cNvPr id="23" name="Text 21"/>
          <p:cNvSpPr/>
          <p:nvPr/>
        </p:nvSpPr>
        <p:spPr>
          <a:xfrm>
            <a:off x="1097280" y="5742432"/>
            <a:ext cx="9784080" cy="274320"/>
          </a:xfrm>
          <a:prstGeom prst="rect">
            <a:avLst/>
          </a:prstGeom>
          <a:noFill/>
          <a:ln/>
        </p:spPr>
        <p:txBody>
          <a:bodyPr wrap="square" lIns="635" tIns="635" rIns="635" bIns="635" rtlCol="0" anchor="ctr">
            <a:normAutofit/>
          </a:bodyPr>
          <a:lstStyle/>
          <a:p>
            <a:pPr algn="ctr" indent="0" marL="0">
              <a:buNone/>
            </a:pPr>
            <a:r>
              <a:rPr lang="en-US" sz="1400" b="1" dirty="0">
                <a:solidFill>
                  <a:srgbClr val="F97316"/>
                </a:solidFill>
                <a:latin typeface="Aptos" pitchFamily="34" charset="0"/>
                <a:ea typeface="Aptos" pitchFamily="34" charset="-122"/>
                <a:cs typeface="Aptos" pitchFamily="34" charset="-120"/>
              </a:rPr>
              <a:t>So this is a sharp result about a stylized training regime—not a universal impossibility theorem for modern LLMs.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Proof mechanism, in one picture</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hardness comes from symmetry + tiny useful signal + bounded training movement.</a:t>
            </a:r>
            <a:endParaRPr lang="en-US" sz="1200" dirty="0"/>
          </a:p>
        </p:txBody>
      </p:sp>
      <p:sp>
        <p:nvSpPr>
          <p:cNvPr id="4" name="Shape 2"/>
          <p:cNvSpPr/>
          <p:nvPr/>
        </p:nvSpPr>
        <p:spPr>
          <a:xfrm>
            <a:off x="731520" y="1417320"/>
            <a:ext cx="2834640" cy="1645920"/>
          </a:xfrm>
          <a:prstGeom prst="roundRect">
            <a:avLst>
              <a:gd name="adj" fmla="val 3333"/>
            </a:avLst>
          </a:prstGeom>
          <a:solidFill>
            <a:srgbClr val="EEF2FF"/>
          </a:solidFill>
          <a:ln w="12700">
            <a:solidFill>
              <a:srgbClr val="BFDBFE"/>
            </a:solidFill>
            <a:prstDash val="solid"/>
          </a:ln>
        </p:spPr>
      </p:sp>
      <p:sp>
        <p:nvSpPr>
          <p:cNvPr id="5" name="Text 3"/>
          <p:cNvSpPr/>
          <p:nvPr/>
        </p:nvSpPr>
        <p:spPr>
          <a:xfrm>
            <a:off x="1005840" y="1691640"/>
            <a:ext cx="2286000" cy="32004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1. INPUT SYMMETRY</a:t>
            </a:r>
            <a:endParaRPr lang="en-US" sz="1300" dirty="0"/>
          </a:p>
        </p:txBody>
      </p:sp>
      <p:sp>
        <p:nvSpPr>
          <p:cNvPr id="6" name="Text 4"/>
          <p:cNvSpPr/>
          <p:nvPr/>
        </p:nvSpPr>
        <p:spPr>
          <a:xfrm>
            <a:off x="987552" y="2176272"/>
            <a:ext cx="2331720" cy="566928"/>
          </a:xfrm>
          <a:prstGeom prst="rect">
            <a:avLst/>
          </a:prstGeom>
          <a:noFill/>
          <a:ln/>
        </p:spPr>
        <p:txBody>
          <a:bodyPr wrap="square" lIns="635" tIns="635" rIns="635" bIns="635" rtlCol="0" anchor="ctr">
            <a:normAutofit/>
          </a:bodyPr>
          <a:lstStyle/>
          <a:p>
            <a:pPr algn="ctr" indent="0" marL="0">
              <a:buNone/>
            </a:pPr>
            <a:r>
              <a:rPr lang="en-US" sz="1500" dirty="0">
                <a:solidFill>
                  <a:srgbClr val="102A43"/>
                </a:solidFill>
                <a:latin typeface="Aptos" pitchFamily="34" charset="0"/>
                <a:ea typeface="Aptos" pitchFamily="34" charset="-122"/>
                <a:cs typeface="Aptos" pitchFamily="34" charset="-120"/>
              </a:rPr>
              <a:t>Permuting blocks does not change</a:t>
            </a:r>
            <a:endParaRPr lang="en-US" sz="1500" dirty="0"/>
          </a:p>
          <a:p>
            <a:pPr algn="ctr" indent="0" marL="0">
              <a:buNone/>
            </a:pPr>
            <a:r>
              <a:rPr lang="en-US" sz="1500" dirty="0">
                <a:solidFill>
                  <a:srgbClr val="102A43"/>
                </a:solidFill>
                <a:latin typeface="Aptos" pitchFamily="34" charset="0"/>
                <a:ea typeface="Aptos" pitchFamily="34" charset="-122"/>
                <a:cs typeface="Aptos" pitchFamily="34" charset="-120"/>
              </a:rPr>
              <a:t>what the Transformer “sees” statistically.</a:t>
            </a:r>
            <a:endParaRPr lang="en-US" sz="1500" dirty="0"/>
          </a:p>
        </p:txBody>
      </p:sp>
      <p:sp>
        <p:nvSpPr>
          <p:cNvPr id="7" name="Shape 5"/>
          <p:cNvSpPr/>
          <p:nvPr/>
        </p:nvSpPr>
        <p:spPr>
          <a:xfrm>
            <a:off x="3657600" y="2240280"/>
            <a:ext cx="868680" cy="0"/>
          </a:xfrm>
          <a:prstGeom prst="line">
            <a:avLst/>
          </a:prstGeom>
          <a:noFill/>
          <a:ln w="38100">
            <a:solidFill>
              <a:srgbClr val="2563EB"/>
            </a:solidFill>
            <a:prstDash val="solid"/>
            <a:headEnd type="none"/>
            <a:tailEnd type="triangle"/>
          </a:ln>
        </p:spPr>
      </p:sp>
      <p:sp>
        <p:nvSpPr>
          <p:cNvPr id="8" name="Shape 6"/>
          <p:cNvSpPr/>
          <p:nvPr/>
        </p:nvSpPr>
        <p:spPr>
          <a:xfrm>
            <a:off x="4663440" y="1417320"/>
            <a:ext cx="2834640" cy="1645920"/>
          </a:xfrm>
          <a:prstGeom prst="roundRect">
            <a:avLst>
              <a:gd name="adj" fmla="val 3333"/>
            </a:avLst>
          </a:prstGeom>
          <a:solidFill>
            <a:srgbClr val="FEF2F2"/>
          </a:solidFill>
          <a:ln w="12700">
            <a:solidFill>
              <a:srgbClr val="FECACA"/>
            </a:solidFill>
            <a:prstDash val="solid"/>
          </a:ln>
        </p:spPr>
      </p:sp>
      <p:sp>
        <p:nvSpPr>
          <p:cNvPr id="9" name="Text 7"/>
          <p:cNvSpPr/>
          <p:nvPr/>
        </p:nvSpPr>
        <p:spPr>
          <a:xfrm>
            <a:off x="4937760" y="1691640"/>
            <a:ext cx="2286000" cy="32004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2. GRADIENT HIDES Y</a:t>
            </a:r>
            <a:endParaRPr lang="en-US" sz="1300" dirty="0"/>
          </a:p>
        </p:txBody>
      </p:sp>
      <p:sp>
        <p:nvSpPr>
          <p:cNvPr id="10" name="Text 8"/>
          <p:cNvSpPr/>
          <p:nvPr/>
        </p:nvSpPr>
        <p:spPr>
          <a:xfrm>
            <a:off x="4910328" y="2176272"/>
            <a:ext cx="2331720" cy="566928"/>
          </a:xfrm>
          <a:prstGeom prst="rect">
            <a:avLst/>
          </a:prstGeom>
          <a:noFill/>
          <a:ln/>
        </p:spPr>
        <p:txBody>
          <a:bodyPr wrap="square" lIns="635" tIns="635" rIns="635" bIns="635" rtlCol="0" anchor="ctr">
            <a:normAutofit/>
          </a:bodyPr>
          <a:lstStyle/>
          <a:p>
            <a:pPr algn="ctr" indent="0" marL="0">
              <a:buNone/>
            </a:pPr>
            <a:r>
              <a:rPr lang="en-US" sz="1500" dirty="0">
                <a:solidFill>
                  <a:srgbClr val="102A43"/>
                </a:solidFill>
                <a:latin typeface="Aptos" pitchFamily="34" charset="0"/>
                <a:ea typeface="Aptos" pitchFamily="34" charset="-122"/>
                <a:cs typeface="Aptos" pitchFamily="34" charset="-120"/>
              </a:rPr>
              <a:t>Under random-label-like symmetry,</a:t>
            </a:r>
            <a:endParaRPr lang="en-US" sz="1500" dirty="0"/>
          </a:p>
          <a:p>
            <a:pPr algn="ctr" indent="0" marL="0">
              <a:buNone/>
            </a:pPr>
            <a:r>
              <a:rPr lang="en-US" sz="1500" dirty="0">
                <a:solidFill>
                  <a:srgbClr val="102A43"/>
                </a:solidFill>
                <a:latin typeface="Aptos" pitchFamily="34" charset="0"/>
                <a:ea typeface="Aptos" pitchFamily="34" charset="-122"/>
                <a:cs typeface="Aptos" pitchFamily="34" charset="-120"/>
              </a:rPr>
              <a:t>most gradient signal is indistinguishable.</a:t>
            </a:r>
            <a:endParaRPr lang="en-US" sz="1500" dirty="0"/>
          </a:p>
        </p:txBody>
      </p:sp>
      <p:sp>
        <p:nvSpPr>
          <p:cNvPr id="11" name="Shape 9"/>
          <p:cNvSpPr/>
          <p:nvPr/>
        </p:nvSpPr>
        <p:spPr>
          <a:xfrm>
            <a:off x="7589520" y="2240280"/>
            <a:ext cx="868680" cy="0"/>
          </a:xfrm>
          <a:prstGeom prst="line">
            <a:avLst/>
          </a:prstGeom>
          <a:noFill/>
          <a:ln w="38100">
            <a:solidFill>
              <a:srgbClr val="DC2626"/>
            </a:solidFill>
            <a:prstDash val="solid"/>
            <a:headEnd type="none"/>
            <a:tailEnd type="triangle"/>
          </a:ln>
        </p:spPr>
      </p:sp>
      <p:sp>
        <p:nvSpPr>
          <p:cNvPr id="12" name="Shape 10"/>
          <p:cNvSpPr/>
          <p:nvPr/>
        </p:nvSpPr>
        <p:spPr>
          <a:xfrm>
            <a:off x="8595360" y="1417320"/>
            <a:ext cx="2743200" cy="1645920"/>
          </a:xfrm>
          <a:prstGeom prst="roundRect">
            <a:avLst>
              <a:gd name="adj" fmla="val 3333"/>
            </a:avLst>
          </a:prstGeom>
          <a:solidFill>
            <a:srgbClr val="FFF7ED"/>
          </a:solidFill>
          <a:ln w="12700">
            <a:solidFill>
              <a:srgbClr val="FED7AA"/>
            </a:solidFill>
            <a:prstDash val="solid"/>
          </a:ln>
        </p:spPr>
      </p:sp>
      <p:sp>
        <p:nvSpPr>
          <p:cNvPr id="13" name="Text 11"/>
          <p:cNvSpPr/>
          <p:nvPr/>
        </p:nvSpPr>
        <p:spPr>
          <a:xfrm>
            <a:off x="8823960" y="1691640"/>
            <a:ext cx="2286000" cy="32004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3. TRAINING STAYS LOCAL</a:t>
            </a:r>
            <a:endParaRPr lang="en-US" sz="1300" dirty="0"/>
          </a:p>
        </p:txBody>
      </p:sp>
      <p:sp>
        <p:nvSpPr>
          <p:cNvPr id="14" name="Text 12"/>
          <p:cNvSpPr/>
          <p:nvPr/>
        </p:nvSpPr>
        <p:spPr>
          <a:xfrm>
            <a:off x="8796528" y="2176272"/>
            <a:ext cx="2331720" cy="566928"/>
          </a:xfrm>
          <a:prstGeom prst="rect">
            <a:avLst/>
          </a:prstGeom>
          <a:noFill/>
          <a:ln/>
        </p:spPr>
        <p:txBody>
          <a:bodyPr wrap="square" lIns="635" tIns="635" rIns="635" bIns="635" rtlCol="0" anchor="ctr">
            <a:normAutofit/>
          </a:bodyPr>
          <a:lstStyle/>
          <a:p>
            <a:pPr algn="ctr" indent="0" marL="0">
              <a:buNone/>
            </a:pPr>
            <a:r>
              <a:rPr lang="en-US" sz="1500" dirty="0">
                <a:solidFill>
                  <a:srgbClr val="102A43"/>
                </a:solidFill>
                <a:latin typeface="Aptos" pitchFamily="34" charset="0"/>
                <a:ea typeface="Aptos" pitchFamily="34" charset="-122"/>
                <a:cs typeface="Aptos" pitchFamily="34" charset="-120"/>
              </a:rPr>
              <a:t>Polynomial steps cannot amplify</a:t>
            </a:r>
            <a:endParaRPr lang="en-US" sz="1500" dirty="0"/>
          </a:p>
          <a:p>
            <a:pPr algn="ctr" indent="0" marL="0">
              <a:buNone/>
            </a:pPr>
            <a:r>
              <a:rPr lang="en-US" sz="1500" dirty="0">
                <a:solidFill>
                  <a:srgbClr val="102A43"/>
                </a:solidFill>
                <a:latin typeface="Aptos" pitchFamily="34" charset="0"/>
                <a:ea typeface="Aptos" pitchFamily="34" charset="-122"/>
                <a:cs typeface="Aptos" pitchFamily="34" charset="-120"/>
              </a:rPr>
              <a:t>a vanishingly small distinguishing signal.</a:t>
            </a:r>
            <a:endParaRPr lang="en-US" sz="1500" dirty="0"/>
          </a:p>
        </p:txBody>
      </p:sp>
      <p:sp>
        <p:nvSpPr>
          <p:cNvPr id="15" name="Text 13"/>
          <p:cNvSpPr/>
          <p:nvPr/>
        </p:nvSpPr>
        <p:spPr>
          <a:xfrm>
            <a:off x="1005840" y="3703320"/>
            <a:ext cx="10058400" cy="777240"/>
          </a:xfrm>
          <a:prstGeom prst="rect">
            <a:avLst/>
          </a:prstGeom>
          <a:noFill/>
          <a:ln/>
        </p:spPr>
        <p:txBody>
          <a:bodyPr wrap="square" lIns="635" tIns="635" rIns="635" bIns="635" rtlCol="0" anchor="ctr">
            <a:normAutofit/>
          </a:bodyPr>
          <a:lstStyle/>
          <a:p>
            <a:pPr algn="ctr" indent="0" marL="0">
              <a:buNone/>
            </a:pPr>
            <a:r>
              <a:rPr lang="en-US" sz="2400" b="1" dirty="0">
                <a:solidFill>
                  <a:srgbClr val="102A43"/>
                </a:solidFill>
                <a:latin typeface="Aptos" pitchFamily="34" charset="0"/>
                <a:ea typeface="Aptos" pitchFamily="34" charset="-122"/>
                <a:cs typeface="Aptos" pitchFamily="34" charset="-120"/>
              </a:rPr>
              <a:t>Conclusion: the network cannot move far enough, fast enough, in the right direction to learn the global property.</a:t>
            </a:r>
            <a:endParaRPr lang="en-US" sz="2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“random-label” intuition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If training looks statistically like random labels, the model cannot extract the global predicate.</a:t>
            </a:r>
            <a:endParaRPr lang="en-US" sz="1200" dirty="0"/>
          </a:p>
        </p:txBody>
      </p:sp>
      <p:sp>
        <p:nvSpPr>
          <p:cNvPr id="4" name="Text 2"/>
          <p:cNvSpPr/>
          <p:nvPr/>
        </p:nvSpPr>
        <p:spPr>
          <a:xfrm>
            <a:off x="914400" y="1417320"/>
            <a:ext cx="2011680" cy="32004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TRUE LABELS</a:t>
            </a:r>
            <a:endParaRPr lang="en-US" sz="1300" dirty="0"/>
          </a:p>
        </p:txBody>
      </p:sp>
      <p:sp>
        <p:nvSpPr>
          <p:cNvPr id="5" name="Shape 3"/>
          <p:cNvSpPr/>
          <p:nvPr/>
        </p:nvSpPr>
        <p:spPr>
          <a:xfrm>
            <a:off x="822960" y="1965960"/>
            <a:ext cx="640080" cy="384048"/>
          </a:xfrm>
          <a:prstGeom prst="roundRect">
            <a:avLst>
              <a:gd name="adj" fmla="val 19048"/>
            </a:avLst>
          </a:prstGeom>
          <a:solidFill>
            <a:srgbClr val="FFFFFF"/>
          </a:solidFill>
          <a:ln w="12700">
            <a:solidFill>
              <a:srgbClr val="CBD5E1"/>
            </a:solidFill>
            <a:prstDash val="solid"/>
          </a:ln>
        </p:spPr>
      </p:sp>
      <p:sp>
        <p:nvSpPr>
          <p:cNvPr id="6" name="Text 4"/>
          <p:cNvSpPr/>
          <p:nvPr/>
        </p:nvSpPr>
        <p:spPr>
          <a:xfrm>
            <a:off x="822960"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edge0</a:t>
            </a:r>
            <a:endParaRPr lang="en-US" sz="1300" dirty="0"/>
          </a:p>
        </p:txBody>
      </p:sp>
      <p:sp>
        <p:nvSpPr>
          <p:cNvPr id="7" name="Shape 5"/>
          <p:cNvSpPr/>
          <p:nvPr/>
        </p:nvSpPr>
        <p:spPr>
          <a:xfrm>
            <a:off x="1609344" y="1965960"/>
            <a:ext cx="640080" cy="384048"/>
          </a:xfrm>
          <a:prstGeom prst="roundRect">
            <a:avLst>
              <a:gd name="adj" fmla="val 19048"/>
            </a:avLst>
          </a:prstGeom>
          <a:solidFill>
            <a:srgbClr val="FFFFFF"/>
          </a:solidFill>
          <a:ln w="12700">
            <a:solidFill>
              <a:srgbClr val="CBD5E1"/>
            </a:solidFill>
            <a:prstDash val="solid"/>
          </a:ln>
        </p:spPr>
      </p:sp>
      <p:sp>
        <p:nvSpPr>
          <p:cNvPr id="8" name="Text 6"/>
          <p:cNvSpPr/>
          <p:nvPr/>
        </p:nvSpPr>
        <p:spPr>
          <a:xfrm>
            <a:off x="1609344"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edge1</a:t>
            </a:r>
            <a:endParaRPr lang="en-US" sz="1300" dirty="0"/>
          </a:p>
        </p:txBody>
      </p:sp>
      <p:sp>
        <p:nvSpPr>
          <p:cNvPr id="9" name="Shape 7"/>
          <p:cNvSpPr/>
          <p:nvPr/>
        </p:nvSpPr>
        <p:spPr>
          <a:xfrm>
            <a:off x="2395728" y="1965960"/>
            <a:ext cx="640080" cy="384048"/>
          </a:xfrm>
          <a:prstGeom prst="roundRect">
            <a:avLst>
              <a:gd name="adj" fmla="val 19048"/>
            </a:avLst>
          </a:prstGeom>
          <a:solidFill>
            <a:srgbClr val="FFFFFF"/>
          </a:solidFill>
          <a:ln w="12700">
            <a:solidFill>
              <a:srgbClr val="CBD5E1"/>
            </a:solidFill>
            <a:prstDash val="solid"/>
          </a:ln>
        </p:spPr>
      </p:sp>
      <p:sp>
        <p:nvSpPr>
          <p:cNvPr id="10" name="Text 8"/>
          <p:cNvSpPr/>
          <p:nvPr/>
        </p:nvSpPr>
        <p:spPr>
          <a:xfrm>
            <a:off x="2395728"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edge2</a:t>
            </a:r>
            <a:endParaRPr lang="en-US" sz="1300" dirty="0"/>
          </a:p>
        </p:txBody>
      </p:sp>
      <p:sp>
        <p:nvSpPr>
          <p:cNvPr id="11" name="Shape 9"/>
          <p:cNvSpPr/>
          <p:nvPr/>
        </p:nvSpPr>
        <p:spPr>
          <a:xfrm>
            <a:off x="3182112" y="1965960"/>
            <a:ext cx="640080" cy="384048"/>
          </a:xfrm>
          <a:prstGeom prst="roundRect">
            <a:avLst>
              <a:gd name="adj" fmla="val 19048"/>
            </a:avLst>
          </a:prstGeom>
          <a:solidFill>
            <a:srgbClr val="FFFFFF"/>
          </a:solidFill>
          <a:ln w="12700">
            <a:solidFill>
              <a:srgbClr val="CBD5E1"/>
            </a:solidFill>
            <a:prstDash val="solid"/>
          </a:ln>
        </p:spPr>
      </p:sp>
      <p:sp>
        <p:nvSpPr>
          <p:cNvPr id="12" name="Text 10"/>
          <p:cNvSpPr/>
          <p:nvPr/>
        </p:nvSpPr>
        <p:spPr>
          <a:xfrm>
            <a:off x="3182112"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edge3</a:t>
            </a:r>
            <a:endParaRPr lang="en-US" sz="1300" dirty="0"/>
          </a:p>
        </p:txBody>
      </p:sp>
      <p:sp>
        <p:nvSpPr>
          <p:cNvPr id="13" name="Shape 11"/>
          <p:cNvSpPr/>
          <p:nvPr/>
        </p:nvSpPr>
        <p:spPr>
          <a:xfrm>
            <a:off x="3968496" y="1965960"/>
            <a:ext cx="640080" cy="384048"/>
          </a:xfrm>
          <a:prstGeom prst="roundRect">
            <a:avLst>
              <a:gd name="adj" fmla="val 19048"/>
            </a:avLst>
          </a:prstGeom>
          <a:solidFill>
            <a:srgbClr val="FFFFFF"/>
          </a:solidFill>
          <a:ln w="12700">
            <a:solidFill>
              <a:srgbClr val="CBD5E1"/>
            </a:solidFill>
            <a:prstDash val="solid"/>
          </a:ln>
        </p:spPr>
      </p:sp>
      <p:sp>
        <p:nvSpPr>
          <p:cNvPr id="14" name="Text 12"/>
          <p:cNvSpPr/>
          <p:nvPr/>
        </p:nvSpPr>
        <p:spPr>
          <a:xfrm>
            <a:off x="3968496"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edge4</a:t>
            </a:r>
            <a:endParaRPr lang="en-US" sz="1300" dirty="0"/>
          </a:p>
        </p:txBody>
      </p:sp>
      <p:sp>
        <p:nvSpPr>
          <p:cNvPr id="15" name="Shape 13"/>
          <p:cNvSpPr/>
          <p:nvPr/>
        </p:nvSpPr>
        <p:spPr>
          <a:xfrm>
            <a:off x="4754880" y="1965960"/>
            <a:ext cx="640080" cy="384048"/>
          </a:xfrm>
          <a:prstGeom prst="roundRect">
            <a:avLst>
              <a:gd name="adj" fmla="val 19048"/>
            </a:avLst>
          </a:prstGeom>
          <a:solidFill>
            <a:srgbClr val="FFFFFF"/>
          </a:solidFill>
          <a:ln w="12700">
            <a:solidFill>
              <a:srgbClr val="CBD5E1"/>
            </a:solidFill>
            <a:prstDash val="solid"/>
          </a:ln>
        </p:spPr>
      </p:sp>
      <p:sp>
        <p:nvSpPr>
          <p:cNvPr id="16" name="Text 14"/>
          <p:cNvSpPr/>
          <p:nvPr/>
        </p:nvSpPr>
        <p:spPr>
          <a:xfrm>
            <a:off x="4754880"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edge5</a:t>
            </a:r>
            <a:endParaRPr lang="en-US" sz="1300" dirty="0"/>
          </a:p>
        </p:txBody>
      </p:sp>
      <p:sp>
        <p:nvSpPr>
          <p:cNvPr id="17" name="Shape 15"/>
          <p:cNvSpPr/>
          <p:nvPr/>
        </p:nvSpPr>
        <p:spPr>
          <a:xfrm>
            <a:off x="5486400" y="2148840"/>
            <a:ext cx="914400" cy="0"/>
          </a:xfrm>
          <a:prstGeom prst="line">
            <a:avLst/>
          </a:prstGeom>
          <a:noFill/>
          <a:ln w="38100">
            <a:solidFill>
              <a:srgbClr val="2563EB"/>
            </a:solidFill>
            <a:prstDash val="solid"/>
            <a:headEnd type="none"/>
            <a:tailEnd type="triangle"/>
          </a:ln>
        </p:spPr>
      </p:sp>
      <p:sp>
        <p:nvSpPr>
          <p:cNvPr id="18" name="Text 16"/>
          <p:cNvSpPr/>
          <p:nvPr/>
        </p:nvSpPr>
        <p:spPr>
          <a:xfrm>
            <a:off x="6492240" y="1417320"/>
            <a:ext cx="2560320" cy="32004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TRAINED WEIGHTS</a:t>
            </a:r>
            <a:endParaRPr lang="en-US" sz="1300" dirty="0"/>
          </a:p>
        </p:txBody>
      </p:sp>
      <p:sp>
        <p:nvSpPr>
          <p:cNvPr id="19" name="Shape 17"/>
          <p:cNvSpPr/>
          <p:nvPr/>
        </p:nvSpPr>
        <p:spPr>
          <a:xfrm>
            <a:off x="6492240" y="1828800"/>
            <a:ext cx="2560320" cy="1143000"/>
          </a:xfrm>
          <a:prstGeom prst="roundRect">
            <a:avLst>
              <a:gd name="adj" fmla="val 4800"/>
            </a:avLst>
          </a:prstGeom>
          <a:solidFill>
            <a:srgbClr val="FFF7ED"/>
          </a:solidFill>
          <a:ln w="12700">
            <a:solidFill>
              <a:srgbClr val="FED7AA"/>
            </a:solidFill>
            <a:prstDash val="solid"/>
          </a:ln>
        </p:spPr>
      </p:sp>
      <p:sp>
        <p:nvSpPr>
          <p:cNvPr id="20" name="Text 18"/>
          <p:cNvSpPr/>
          <p:nvPr/>
        </p:nvSpPr>
        <p:spPr>
          <a:xfrm>
            <a:off x="6629400" y="2148840"/>
            <a:ext cx="2286000" cy="384048"/>
          </a:xfrm>
          <a:prstGeom prst="rect">
            <a:avLst/>
          </a:prstGeom>
          <a:noFill/>
          <a:ln/>
        </p:spPr>
        <p:txBody>
          <a:bodyPr wrap="square" lIns="635" tIns="635" rIns="635" bIns="635" rtlCol="0" anchor="ctr">
            <a:normAutofit/>
          </a:bodyPr>
          <a:lstStyle/>
          <a:p>
            <a:pPr algn="ctr" indent="0" marL="0">
              <a:buNone/>
            </a:pPr>
            <a:r>
              <a:rPr lang="en-US" sz="2100" b="1" dirty="0">
                <a:solidFill>
                  <a:srgbClr val="F97316"/>
                </a:solidFill>
                <a:latin typeface="Aptos" pitchFamily="34" charset="0"/>
                <a:ea typeface="Aptos" pitchFamily="34" charset="-122"/>
                <a:cs typeface="Aptos" pitchFamily="34" charset="-120"/>
              </a:rPr>
              <a:t>≈ same distribution</a:t>
            </a:r>
            <a:endParaRPr lang="en-US" sz="2100" dirty="0"/>
          </a:p>
        </p:txBody>
      </p:sp>
      <p:sp>
        <p:nvSpPr>
          <p:cNvPr id="21" name="Shape 19"/>
          <p:cNvSpPr/>
          <p:nvPr/>
        </p:nvSpPr>
        <p:spPr>
          <a:xfrm>
            <a:off x="9144000" y="2148840"/>
            <a:ext cx="914400" cy="0"/>
          </a:xfrm>
          <a:prstGeom prst="line">
            <a:avLst/>
          </a:prstGeom>
          <a:noFill/>
          <a:ln w="38100">
            <a:solidFill>
              <a:srgbClr val="DC2626"/>
            </a:solidFill>
            <a:prstDash val="solid"/>
            <a:headEnd type="none"/>
            <a:tailEnd type="triangle"/>
          </a:ln>
        </p:spPr>
      </p:sp>
      <p:sp>
        <p:nvSpPr>
          <p:cNvPr id="22" name="Text 20"/>
          <p:cNvSpPr/>
          <p:nvPr/>
        </p:nvSpPr>
        <p:spPr>
          <a:xfrm>
            <a:off x="9966960" y="1417320"/>
            <a:ext cx="1371600" cy="32004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RANDOM LABELS</a:t>
            </a:r>
            <a:endParaRPr lang="en-US" sz="1300" dirty="0"/>
          </a:p>
        </p:txBody>
      </p:sp>
      <p:sp>
        <p:nvSpPr>
          <p:cNvPr id="23" name="Shape 21"/>
          <p:cNvSpPr/>
          <p:nvPr/>
        </p:nvSpPr>
        <p:spPr>
          <a:xfrm>
            <a:off x="9646920" y="1828800"/>
            <a:ext cx="1645920" cy="1143000"/>
          </a:xfrm>
          <a:prstGeom prst="roundRect">
            <a:avLst>
              <a:gd name="adj" fmla="val 4800"/>
            </a:avLst>
          </a:prstGeom>
          <a:solidFill>
            <a:srgbClr val="FEF2F2"/>
          </a:solidFill>
          <a:ln w="12700">
            <a:solidFill>
              <a:srgbClr val="FECACA"/>
            </a:solidFill>
            <a:prstDash val="solid"/>
          </a:ln>
        </p:spPr>
      </p:sp>
      <p:sp>
        <p:nvSpPr>
          <p:cNvPr id="24" name="Text 22"/>
          <p:cNvSpPr/>
          <p:nvPr/>
        </p:nvSpPr>
        <p:spPr>
          <a:xfrm>
            <a:off x="9784080" y="2075688"/>
            <a:ext cx="1371600" cy="502920"/>
          </a:xfrm>
          <a:prstGeom prst="rect">
            <a:avLst/>
          </a:prstGeom>
          <a:noFill/>
          <a:ln/>
        </p:spPr>
        <p:txBody>
          <a:bodyPr wrap="square" lIns="635" tIns="635" rIns="635" bIns="635" rtlCol="0" anchor="ctr">
            <a:normAutofit/>
          </a:bodyPr>
          <a:lstStyle/>
          <a:p>
            <a:pPr algn="ctr" indent="0" marL="0">
              <a:buNone/>
            </a:pPr>
            <a:r>
              <a:rPr lang="en-US" sz="1900" b="1" dirty="0">
                <a:solidFill>
                  <a:srgbClr val="DC2626"/>
                </a:solidFill>
                <a:latin typeface="Aptos" pitchFamily="34" charset="0"/>
                <a:ea typeface="Aptos" pitchFamily="34" charset="-122"/>
                <a:cs typeface="Aptos" pitchFamily="34" charset="-120"/>
              </a:rPr>
              <a:t>no useful</a:t>
            </a:r>
            <a:endParaRPr lang="en-US" sz="1900" dirty="0"/>
          </a:p>
          <a:p>
            <a:pPr algn="ctr" indent="0" marL="0">
              <a:buNone/>
            </a:pPr>
            <a:r>
              <a:rPr lang="en-US" sz="1900" b="1" dirty="0">
                <a:solidFill>
                  <a:srgbClr val="DC2626"/>
                </a:solidFill>
                <a:latin typeface="Aptos" pitchFamily="34" charset="0"/>
                <a:ea typeface="Aptos" pitchFamily="34" charset="-122"/>
                <a:cs typeface="Aptos" pitchFamily="34" charset="-120"/>
              </a:rPr>
              <a:t>signal</a:t>
            </a:r>
            <a:endParaRPr lang="en-US" sz="1900" dirty="0"/>
          </a:p>
        </p:txBody>
      </p:sp>
      <p:sp>
        <p:nvSpPr>
          <p:cNvPr id="25" name="Text 23"/>
          <p:cNvSpPr/>
          <p:nvPr/>
        </p:nvSpPr>
        <p:spPr>
          <a:xfrm>
            <a:off x="960120" y="3886200"/>
            <a:ext cx="10241280" cy="82296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The proof makes “can’t find the cycle structure” precise through symmetry rather than through an informal attention-count argument.</a:t>
            </a:r>
            <a:endParaRPr lang="en-US" sz="20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Why naive scratchpads are not enough</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Extra memory is not the same thing as useful supervision.</a:t>
            </a:r>
            <a:endParaRPr lang="en-US" sz="1200" dirty="0"/>
          </a:p>
        </p:txBody>
      </p:sp>
      <p:sp>
        <p:nvSpPr>
          <p:cNvPr id="4" name="Shape 2"/>
          <p:cNvSpPr/>
          <p:nvPr/>
        </p:nvSpPr>
        <p:spPr>
          <a:xfrm>
            <a:off x="822960" y="1417320"/>
            <a:ext cx="3108960" cy="1920240"/>
          </a:xfrm>
          <a:prstGeom prst="roundRect">
            <a:avLst>
              <a:gd name="adj" fmla="val 2857"/>
            </a:avLst>
          </a:prstGeom>
          <a:solidFill>
            <a:srgbClr val="F8FAFC"/>
          </a:solidFill>
          <a:ln w="12700">
            <a:solidFill>
              <a:srgbClr val="CBD5E1"/>
            </a:solidFill>
            <a:prstDash val="solid"/>
          </a:ln>
        </p:spPr>
      </p:sp>
      <p:sp>
        <p:nvSpPr>
          <p:cNvPr id="5" name="Text 3"/>
          <p:cNvSpPr/>
          <p:nvPr/>
        </p:nvSpPr>
        <p:spPr>
          <a:xfrm>
            <a:off x="1051560" y="1719072"/>
            <a:ext cx="2606040" cy="274320"/>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AGNOSTIC</a:t>
            </a:r>
            <a:endParaRPr lang="en-US" sz="1300" dirty="0"/>
          </a:p>
        </p:txBody>
      </p:sp>
      <p:sp>
        <p:nvSpPr>
          <p:cNvPr id="6" name="Text 4"/>
          <p:cNvSpPr/>
          <p:nvPr/>
        </p:nvSpPr>
        <p:spPr>
          <a:xfrm>
            <a:off x="1024128" y="2148840"/>
            <a:ext cx="2651760" cy="658368"/>
          </a:xfrm>
          <a:prstGeom prst="rect">
            <a:avLst/>
          </a:prstGeom>
          <a:noFill/>
          <a:ln/>
        </p:spPr>
        <p:txBody>
          <a:bodyPr wrap="square" lIns="635" tIns="635" rIns="635" bIns="635" rtlCol="0" anchor="ctr">
            <a:normAutofit/>
          </a:bodyPr>
          <a:lstStyle/>
          <a:p>
            <a:pPr algn="ctr" indent="0" marL="0">
              <a:buNone/>
            </a:pPr>
            <a:r>
              <a:rPr lang="en-US" sz="1900" b="1" dirty="0">
                <a:solidFill>
                  <a:srgbClr val="102A43"/>
                </a:solidFill>
                <a:latin typeface="Aptos" pitchFamily="34" charset="0"/>
                <a:ea typeface="Aptos" pitchFamily="34" charset="-122"/>
                <a:cs typeface="Aptos" pitchFamily="34" charset="-120"/>
              </a:rPr>
              <a:t>Transformer generates</a:t>
            </a:r>
            <a:endParaRPr lang="en-US" sz="1900" dirty="0"/>
          </a:p>
          <a:p>
            <a:pPr algn="ctr" indent="0" marL="0">
              <a:buNone/>
            </a:pPr>
            <a:r>
              <a:rPr lang="en-US" sz="1900" b="1" dirty="0">
                <a:solidFill>
                  <a:srgbClr val="102A43"/>
                </a:solidFill>
                <a:latin typeface="Aptos" pitchFamily="34" charset="0"/>
                <a:ea typeface="Aptos" pitchFamily="34" charset="-122"/>
                <a:cs typeface="Aptos" pitchFamily="34" charset="-120"/>
              </a:rPr>
              <a:t>its own intermediate tokens</a:t>
            </a:r>
            <a:endParaRPr lang="en-US" sz="1900" dirty="0"/>
          </a:p>
        </p:txBody>
      </p:sp>
      <p:sp>
        <p:nvSpPr>
          <p:cNvPr id="7" name="Shape 5"/>
          <p:cNvSpPr/>
          <p:nvPr/>
        </p:nvSpPr>
        <p:spPr>
          <a:xfrm>
            <a:off x="4160520" y="2331720"/>
            <a:ext cx="731520" cy="0"/>
          </a:xfrm>
          <a:prstGeom prst="line">
            <a:avLst/>
          </a:prstGeom>
          <a:noFill/>
          <a:ln w="38100">
            <a:solidFill>
              <a:srgbClr val="DC2626"/>
            </a:solidFill>
            <a:prstDash val="solid"/>
            <a:headEnd type="none"/>
            <a:tailEnd type="triangle"/>
          </a:ln>
        </p:spPr>
      </p:sp>
      <p:sp>
        <p:nvSpPr>
          <p:cNvPr id="8" name="Shape 6"/>
          <p:cNvSpPr/>
          <p:nvPr/>
        </p:nvSpPr>
        <p:spPr>
          <a:xfrm>
            <a:off x="5074920" y="1417320"/>
            <a:ext cx="2971800" cy="1920240"/>
          </a:xfrm>
          <a:prstGeom prst="roundRect">
            <a:avLst>
              <a:gd name="adj" fmla="val 2857"/>
            </a:avLst>
          </a:prstGeom>
          <a:solidFill>
            <a:srgbClr val="FEF2F2"/>
          </a:solidFill>
          <a:ln w="12700">
            <a:solidFill>
              <a:srgbClr val="FECACA"/>
            </a:solidFill>
            <a:prstDash val="solid"/>
          </a:ln>
        </p:spPr>
      </p:sp>
      <p:sp>
        <p:nvSpPr>
          <p:cNvPr id="9" name="Text 7"/>
          <p:cNvSpPr/>
          <p:nvPr/>
        </p:nvSpPr>
        <p:spPr>
          <a:xfrm>
            <a:off x="5321808" y="1719072"/>
            <a:ext cx="2468880" cy="27432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BARRIER REMAINS</a:t>
            </a:r>
            <a:endParaRPr lang="en-US" sz="1300" dirty="0"/>
          </a:p>
        </p:txBody>
      </p:sp>
      <p:sp>
        <p:nvSpPr>
          <p:cNvPr id="10" name="Text 8"/>
          <p:cNvSpPr/>
          <p:nvPr/>
        </p:nvSpPr>
        <p:spPr>
          <a:xfrm>
            <a:off x="5321808" y="2148840"/>
            <a:ext cx="2423160" cy="658368"/>
          </a:xfrm>
          <a:prstGeom prst="rect">
            <a:avLst/>
          </a:prstGeom>
          <a:noFill/>
          <a:ln/>
        </p:spPr>
        <p:txBody>
          <a:bodyPr wrap="square" lIns="635" tIns="635" rIns="635" bIns="635" rtlCol="0" anchor="ctr">
            <a:normAutofit/>
          </a:bodyPr>
          <a:lstStyle/>
          <a:p>
            <a:pPr algn="ctr" indent="0" marL="0">
              <a:buNone/>
            </a:pPr>
            <a:r>
              <a:rPr lang="en-US" sz="2100" b="1" dirty="0">
                <a:solidFill>
                  <a:srgbClr val="DC2626"/>
                </a:solidFill>
                <a:latin typeface="Aptos" pitchFamily="34" charset="0"/>
                <a:ea typeface="Aptos" pitchFamily="34" charset="-122"/>
                <a:cs typeface="Aptos" pitchFamily="34" charset="-120"/>
              </a:rPr>
              <a:t>More tokens ≠ more</a:t>
            </a:r>
            <a:endParaRPr lang="en-US" sz="2100" dirty="0"/>
          </a:p>
          <a:p>
            <a:pPr algn="ctr" indent="0" marL="0">
              <a:buNone/>
            </a:pPr>
            <a:r>
              <a:rPr lang="en-US" sz="2100" b="1" dirty="0">
                <a:solidFill>
                  <a:srgbClr val="DC2626"/>
                </a:solidFill>
                <a:latin typeface="Aptos" pitchFamily="34" charset="0"/>
                <a:ea typeface="Aptos" pitchFamily="34" charset="-122"/>
                <a:cs typeface="Aptos" pitchFamily="34" charset="-120"/>
              </a:rPr>
              <a:t>learnable signal</a:t>
            </a:r>
            <a:endParaRPr lang="en-US" sz="2100" dirty="0"/>
          </a:p>
        </p:txBody>
      </p:sp>
      <p:sp>
        <p:nvSpPr>
          <p:cNvPr id="11" name="Shape 9"/>
          <p:cNvSpPr/>
          <p:nvPr/>
        </p:nvSpPr>
        <p:spPr>
          <a:xfrm>
            <a:off x="8229600" y="2331720"/>
            <a:ext cx="731520" cy="0"/>
          </a:xfrm>
          <a:prstGeom prst="line">
            <a:avLst/>
          </a:prstGeom>
          <a:noFill/>
          <a:ln w="38100">
            <a:solidFill>
              <a:srgbClr val="F97316"/>
            </a:solidFill>
            <a:prstDash val="solid"/>
            <a:headEnd type="none"/>
            <a:tailEnd type="triangle"/>
          </a:ln>
        </p:spPr>
      </p:sp>
      <p:sp>
        <p:nvSpPr>
          <p:cNvPr id="12" name="Shape 10"/>
          <p:cNvSpPr/>
          <p:nvPr/>
        </p:nvSpPr>
        <p:spPr>
          <a:xfrm>
            <a:off x="9125712" y="1417320"/>
            <a:ext cx="2148840" cy="1920240"/>
          </a:xfrm>
          <a:prstGeom prst="roundRect">
            <a:avLst>
              <a:gd name="adj" fmla="val 2857"/>
            </a:avLst>
          </a:prstGeom>
          <a:solidFill>
            <a:srgbClr val="FFF7ED"/>
          </a:solidFill>
          <a:ln w="12700">
            <a:solidFill>
              <a:srgbClr val="FED7AA"/>
            </a:solidFill>
            <a:prstDash val="solid"/>
          </a:ln>
        </p:spPr>
      </p:sp>
      <p:sp>
        <p:nvSpPr>
          <p:cNvPr id="13" name="Text 11"/>
          <p:cNvSpPr/>
          <p:nvPr/>
        </p:nvSpPr>
        <p:spPr>
          <a:xfrm>
            <a:off x="9326880" y="1719072"/>
            <a:ext cx="1783080" cy="27432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NEED</a:t>
            </a:r>
            <a:endParaRPr lang="en-US" sz="1300" dirty="0"/>
          </a:p>
        </p:txBody>
      </p:sp>
      <p:sp>
        <p:nvSpPr>
          <p:cNvPr id="14" name="Text 12"/>
          <p:cNvSpPr/>
          <p:nvPr/>
        </p:nvSpPr>
        <p:spPr>
          <a:xfrm>
            <a:off x="9308592" y="2148840"/>
            <a:ext cx="1810512" cy="658368"/>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educated</a:t>
            </a:r>
            <a:endParaRPr lang="en-US" sz="1800" dirty="0"/>
          </a:p>
          <a:p>
            <a:pPr algn="ctr" indent="0" marL="0">
              <a:buNone/>
            </a:pPr>
            <a:r>
              <a:rPr lang="en-US" sz="1800" b="1" dirty="0">
                <a:solidFill>
                  <a:srgbClr val="102A43"/>
                </a:solidFill>
                <a:latin typeface="Aptos" pitchFamily="34" charset="0"/>
                <a:ea typeface="Aptos" pitchFamily="34" charset="-122"/>
                <a:cs typeface="Aptos" pitchFamily="34" charset="-120"/>
              </a:rPr>
              <a:t>intermediate targets</a:t>
            </a:r>
            <a:endParaRPr lang="en-US" sz="1800" dirty="0"/>
          </a:p>
        </p:txBody>
      </p:sp>
      <p:sp>
        <p:nvSpPr>
          <p:cNvPr id="15" name="Text 13"/>
          <p:cNvSpPr/>
          <p:nvPr/>
        </p:nvSpPr>
        <p:spPr>
          <a:xfrm>
            <a:off x="914400" y="4160520"/>
            <a:ext cx="10287000" cy="731520"/>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This is a separate result: the paper states a conjecture and proves an extension showing an agnostic scratchpad does not remove the barrier.</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Theorem 2: agnostic scratchpads still fail</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Polynomial scratchpad length does not save the same hard distribution.</a:t>
            </a:r>
            <a:endParaRPr lang="en-US" sz="1200" dirty="0"/>
          </a:p>
        </p:txBody>
      </p:sp>
      <p:sp>
        <p:nvSpPr>
          <p:cNvPr id="4" name="Text 2"/>
          <p:cNvSpPr/>
          <p:nvPr/>
        </p:nvSpPr>
        <p:spPr>
          <a:xfrm>
            <a:off x="822960" y="1417320"/>
            <a:ext cx="3108960" cy="320040"/>
          </a:xfrm>
          <a:prstGeom prst="rect">
            <a:avLst/>
          </a:prstGeom>
          <a:noFill/>
          <a:ln/>
        </p:spPr>
        <p:txBody>
          <a:bodyPr wrap="square" lIns="635" tIns="635" rIns="635" bIns="635" rtlCol="0" anchor="ctr">
            <a:normAutofit/>
          </a:bodyPr>
          <a:lstStyle/>
          <a:p>
            <a:pPr algn="l" indent="0" marL="0">
              <a:buNone/>
            </a:pPr>
            <a:r>
              <a:rPr lang="en-US" sz="1500" b="1" dirty="0">
                <a:solidFill>
                  <a:srgbClr val="2563EB"/>
                </a:solidFill>
                <a:latin typeface="Aptos" pitchFamily="34" charset="0"/>
                <a:ea typeface="Aptos" pitchFamily="34" charset="-122"/>
                <a:cs typeface="Aptos" pitchFamily="34" charset="-120"/>
              </a:rPr>
              <a:t>Same cycle-family construction</a:t>
            </a:r>
            <a:endParaRPr lang="en-US" sz="1500" dirty="0"/>
          </a:p>
        </p:txBody>
      </p:sp>
      <p:sp>
        <p:nvSpPr>
          <p:cNvPr id="5" name="Shape 3"/>
          <p:cNvSpPr/>
          <p:nvPr/>
        </p:nvSpPr>
        <p:spPr>
          <a:xfrm>
            <a:off x="3657600" y="1828800"/>
            <a:ext cx="1005840" cy="0"/>
          </a:xfrm>
          <a:prstGeom prst="line">
            <a:avLst/>
          </a:prstGeom>
          <a:noFill/>
          <a:ln w="38100">
            <a:solidFill>
              <a:srgbClr val="2563EB"/>
            </a:solidFill>
            <a:prstDash val="solid"/>
            <a:headEnd type="none"/>
            <a:tailEnd type="triangle"/>
          </a:ln>
        </p:spPr>
      </p:sp>
      <p:sp>
        <p:nvSpPr>
          <p:cNvPr id="6" name="Text 4"/>
          <p:cNvSpPr/>
          <p:nvPr/>
        </p:nvSpPr>
        <p:spPr>
          <a:xfrm>
            <a:off x="4754880" y="1417320"/>
            <a:ext cx="2926080" cy="320040"/>
          </a:xfrm>
          <a:prstGeom prst="rect">
            <a:avLst/>
          </a:prstGeom>
          <a:noFill/>
          <a:ln/>
        </p:spPr>
        <p:txBody>
          <a:bodyPr wrap="square" lIns="635" tIns="635" rIns="635" bIns="635" rtlCol="0" anchor="ctr">
            <a:normAutofit/>
          </a:bodyPr>
          <a:lstStyle/>
          <a:p>
            <a:pPr algn="ctr" indent="0" marL="0">
              <a:buNone/>
            </a:pPr>
            <a:r>
              <a:rPr lang="en-US" sz="1500" b="1" dirty="0">
                <a:solidFill>
                  <a:srgbClr val="F97316"/>
                </a:solidFill>
                <a:latin typeface="Aptos" pitchFamily="34" charset="0"/>
                <a:ea typeface="Aptos" pitchFamily="34" charset="-122"/>
                <a:cs typeface="Aptos" pitchFamily="34" charset="-120"/>
              </a:rPr>
              <a:t>polynomial-length scratchpad</a:t>
            </a:r>
            <a:endParaRPr lang="en-US" sz="1500" dirty="0"/>
          </a:p>
        </p:txBody>
      </p:sp>
      <p:sp>
        <p:nvSpPr>
          <p:cNvPr id="7" name="Shape 5"/>
          <p:cNvSpPr/>
          <p:nvPr/>
        </p:nvSpPr>
        <p:spPr>
          <a:xfrm>
            <a:off x="7818120" y="1828800"/>
            <a:ext cx="960120" cy="0"/>
          </a:xfrm>
          <a:prstGeom prst="line">
            <a:avLst/>
          </a:prstGeom>
          <a:noFill/>
          <a:ln w="38100">
            <a:solidFill>
              <a:srgbClr val="F97316"/>
            </a:solidFill>
            <a:prstDash val="solid"/>
            <a:headEnd type="none"/>
            <a:tailEnd type="triangle"/>
          </a:ln>
        </p:spPr>
      </p:sp>
      <p:sp>
        <p:nvSpPr>
          <p:cNvPr id="8" name="Text 6"/>
          <p:cNvSpPr/>
          <p:nvPr/>
        </p:nvSpPr>
        <p:spPr>
          <a:xfrm>
            <a:off x="8915400" y="1417320"/>
            <a:ext cx="1920240" cy="320040"/>
          </a:xfrm>
          <a:prstGeom prst="rect">
            <a:avLst/>
          </a:prstGeom>
          <a:noFill/>
          <a:ln/>
        </p:spPr>
        <p:txBody>
          <a:bodyPr wrap="square" lIns="635" tIns="635" rIns="635" bIns="635" rtlCol="0" anchor="ctr">
            <a:normAutofit/>
          </a:bodyPr>
          <a:lstStyle/>
          <a:p>
            <a:pPr algn="ctr" indent="0" marL="0">
              <a:buNone/>
            </a:pPr>
            <a:r>
              <a:rPr lang="en-US" sz="1500" b="1" dirty="0">
                <a:solidFill>
                  <a:srgbClr val="DC2626"/>
                </a:solidFill>
                <a:latin typeface="Aptos" pitchFamily="34" charset="0"/>
                <a:ea typeface="Aptos" pitchFamily="34" charset="-122"/>
                <a:cs typeface="Aptos" pitchFamily="34" charset="-120"/>
              </a:rPr>
              <a:t>population GD</a:t>
            </a:r>
            <a:endParaRPr lang="en-US" sz="1500" dirty="0"/>
          </a:p>
        </p:txBody>
      </p:sp>
      <p:sp>
        <p:nvSpPr>
          <p:cNvPr id="9" name="Shape 7"/>
          <p:cNvSpPr/>
          <p:nvPr/>
        </p:nvSpPr>
        <p:spPr>
          <a:xfrm>
            <a:off x="1417320" y="2834640"/>
            <a:ext cx="9098280" cy="1417320"/>
          </a:xfrm>
          <a:prstGeom prst="roundRect">
            <a:avLst>
              <a:gd name="adj" fmla="val 3871"/>
            </a:avLst>
          </a:prstGeom>
          <a:solidFill>
            <a:srgbClr val="FEF2F2"/>
          </a:solidFill>
          <a:ln w="12700">
            <a:solidFill>
              <a:srgbClr val="FECACA"/>
            </a:solidFill>
            <a:prstDash val="solid"/>
          </a:ln>
        </p:spPr>
      </p:sp>
      <p:sp>
        <p:nvSpPr>
          <p:cNvPr id="10" name="Text 8"/>
          <p:cNvSpPr/>
          <p:nvPr/>
        </p:nvSpPr>
        <p:spPr>
          <a:xfrm>
            <a:off x="1828800" y="3246120"/>
            <a:ext cx="8229600" cy="548640"/>
          </a:xfrm>
          <a:prstGeom prst="rect">
            <a:avLst/>
          </a:prstGeom>
          <a:noFill/>
          <a:ln/>
        </p:spPr>
        <p:txBody>
          <a:bodyPr wrap="square" lIns="635" tIns="635" rIns="635" bIns="635" rtlCol="0" anchor="ctr">
            <a:normAutofit/>
          </a:bodyPr>
          <a:lstStyle/>
          <a:p>
            <a:pPr algn="ctr" indent="0" marL="0">
              <a:buNone/>
            </a:pPr>
            <a:r>
              <a:rPr lang="en-US" sz="2900" b="1" dirty="0">
                <a:solidFill>
                  <a:srgbClr val="DC2626"/>
                </a:solidFill>
                <a:latin typeface="Aptos" pitchFamily="34" charset="0"/>
                <a:ea typeface="Aptos" pitchFamily="34" charset="-122"/>
                <a:cs typeface="Aptos" pitchFamily="34" charset="-120"/>
              </a:rPr>
              <a:t>still fails to weakly learn Y</a:t>
            </a:r>
            <a:endParaRPr lang="en-US" sz="2900" dirty="0"/>
          </a:p>
        </p:txBody>
      </p:sp>
      <p:sp>
        <p:nvSpPr>
          <p:cNvPr id="11" name="Text 9"/>
          <p:cNvSpPr/>
          <p:nvPr/>
        </p:nvSpPr>
        <p:spPr>
          <a:xfrm>
            <a:off x="1143000" y="4663440"/>
            <a:ext cx="9966960" cy="685800"/>
          </a:xfrm>
          <a:prstGeom prst="rect">
            <a:avLst/>
          </a:prstGeom>
          <a:noFill/>
          <a:ln/>
        </p:spPr>
        <p:txBody>
          <a:bodyPr wrap="square" lIns="635" tIns="635" rIns="635" bIns="635" rtlCol="0" anchor="ctr">
            <a:normAutofit/>
          </a:bodyPr>
          <a:lstStyle/>
          <a:p>
            <a:pPr algn="ctr" indent="0" marL="0">
              <a:buNone/>
            </a:pPr>
            <a:r>
              <a:rPr lang="en-US" sz="1800" dirty="0">
                <a:solidFill>
                  <a:srgbClr val="102A43"/>
                </a:solidFill>
                <a:latin typeface="Aptos" pitchFamily="34" charset="0"/>
                <a:ea typeface="Aptos" pitchFamily="34" charset="-122"/>
                <a:cs typeface="Aptos" pitchFamily="34" charset="-120"/>
              </a:rPr>
              <a:t>The scratchpad acts mainly as additional memory/compute; without useful intermediate supervision, the global predicate remains hidden.</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Now the positive direction: educated scratchpads</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A scratchpad helps when every intermediate prediction has low autoregressive globality.</a:t>
            </a:r>
            <a:endParaRPr lang="en-US" sz="1200" dirty="0"/>
          </a:p>
        </p:txBody>
      </p:sp>
      <p:sp>
        <p:nvSpPr>
          <p:cNvPr id="4" name="Text 2"/>
          <p:cNvSpPr/>
          <p:nvPr/>
        </p:nvSpPr>
        <p:spPr>
          <a:xfrm>
            <a:off x="777240" y="1463040"/>
            <a:ext cx="1645920" cy="320040"/>
          </a:xfrm>
          <a:prstGeom prst="rect">
            <a:avLst/>
          </a:prstGeom>
          <a:noFill/>
          <a:ln/>
        </p:spPr>
        <p:txBody>
          <a:bodyPr wrap="square" lIns="635" tIns="635" rIns="635" bIns="635" rtlCol="0" anchor="ctr">
            <a:normAutofit/>
          </a:bodyPr>
          <a:lstStyle/>
          <a:p>
            <a:pPr algn="ctr" indent="0" marL="0">
              <a:buNone/>
            </a:pPr>
            <a:r>
              <a:rPr lang="en-US" sz="1400" b="1" dirty="0">
                <a:solidFill>
                  <a:srgbClr val="DC2626"/>
                </a:solidFill>
                <a:latin typeface="Aptos" pitchFamily="34" charset="0"/>
                <a:ea typeface="Aptos" pitchFamily="34" charset="-122"/>
                <a:cs typeface="Aptos" pitchFamily="34" charset="-120"/>
              </a:rPr>
              <a:t>Hard target</a:t>
            </a:r>
            <a:endParaRPr lang="en-US" sz="1400" dirty="0"/>
          </a:p>
        </p:txBody>
      </p:sp>
      <p:sp>
        <p:nvSpPr>
          <p:cNvPr id="5" name="Shape 3"/>
          <p:cNvSpPr/>
          <p:nvPr/>
        </p:nvSpPr>
        <p:spPr>
          <a:xfrm>
            <a:off x="1325880" y="1965960"/>
            <a:ext cx="640080" cy="384048"/>
          </a:xfrm>
          <a:prstGeom prst="roundRect">
            <a:avLst>
              <a:gd name="adj" fmla="val 19048"/>
            </a:avLst>
          </a:prstGeom>
          <a:solidFill>
            <a:srgbClr val="FEF2F2"/>
          </a:solidFill>
          <a:ln w="12700">
            <a:solidFill>
              <a:srgbClr val="FECACA"/>
            </a:solidFill>
            <a:prstDash val="solid"/>
          </a:ln>
        </p:spPr>
      </p:sp>
      <p:sp>
        <p:nvSpPr>
          <p:cNvPr id="6" name="Text 4"/>
          <p:cNvSpPr/>
          <p:nvPr/>
        </p:nvSpPr>
        <p:spPr>
          <a:xfrm>
            <a:off x="1325880" y="1984248"/>
            <a:ext cx="6400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Y</a:t>
            </a:r>
            <a:endParaRPr lang="en-US" sz="1300" dirty="0"/>
          </a:p>
        </p:txBody>
      </p:sp>
      <p:sp>
        <p:nvSpPr>
          <p:cNvPr id="7" name="Shape 5"/>
          <p:cNvSpPr/>
          <p:nvPr/>
        </p:nvSpPr>
        <p:spPr>
          <a:xfrm>
            <a:off x="2148840" y="2148840"/>
            <a:ext cx="640080" cy="0"/>
          </a:xfrm>
          <a:prstGeom prst="line">
            <a:avLst/>
          </a:prstGeom>
          <a:noFill/>
          <a:ln w="38100">
            <a:solidFill>
              <a:srgbClr val="F97316"/>
            </a:solidFill>
            <a:prstDash val="solid"/>
            <a:headEnd type="none"/>
            <a:tailEnd type="triangle"/>
          </a:ln>
        </p:spPr>
      </p:sp>
      <p:sp>
        <p:nvSpPr>
          <p:cNvPr id="8" name="Shape 6"/>
          <p:cNvSpPr/>
          <p:nvPr/>
        </p:nvSpPr>
        <p:spPr>
          <a:xfrm>
            <a:off x="2926080" y="1965960"/>
            <a:ext cx="749808" cy="384048"/>
          </a:xfrm>
          <a:prstGeom prst="roundRect">
            <a:avLst>
              <a:gd name="adj" fmla="val 19048"/>
            </a:avLst>
          </a:prstGeom>
          <a:solidFill>
            <a:srgbClr val="EFF6FF"/>
          </a:solidFill>
          <a:ln w="12700">
            <a:solidFill>
              <a:srgbClr val="93C5FD"/>
            </a:solidFill>
            <a:prstDash val="solid"/>
          </a:ln>
        </p:spPr>
      </p:sp>
      <p:sp>
        <p:nvSpPr>
          <p:cNvPr id="9" name="Text 7"/>
          <p:cNvSpPr/>
          <p:nvPr/>
        </p:nvSpPr>
        <p:spPr>
          <a:xfrm>
            <a:off x="2926080" y="1984248"/>
            <a:ext cx="74980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Y1</a:t>
            </a:r>
            <a:endParaRPr lang="en-US" sz="1300" dirty="0"/>
          </a:p>
        </p:txBody>
      </p:sp>
      <p:sp>
        <p:nvSpPr>
          <p:cNvPr id="10" name="Shape 8"/>
          <p:cNvSpPr/>
          <p:nvPr/>
        </p:nvSpPr>
        <p:spPr>
          <a:xfrm>
            <a:off x="3685032" y="2148840"/>
            <a:ext cx="722376" cy="0"/>
          </a:xfrm>
          <a:prstGeom prst="line">
            <a:avLst/>
          </a:prstGeom>
          <a:noFill/>
          <a:ln w="25400">
            <a:solidFill>
              <a:srgbClr val="2563EB"/>
            </a:solidFill>
            <a:prstDash val="solid"/>
            <a:headEnd type="none"/>
            <a:tailEnd type="triangle"/>
          </a:ln>
        </p:spPr>
      </p:sp>
      <p:sp>
        <p:nvSpPr>
          <p:cNvPr id="11" name="Shape 9"/>
          <p:cNvSpPr/>
          <p:nvPr/>
        </p:nvSpPr>
        <p:spPr>
          <a:xfrm>
            <a:off x="4526280" y="1965960"/>
            <a:ext cx="749808" cy="384048"/>
          </a:xfrm>
          <a:prstGeom prst="roundRect">
            <a:avLst>
              <a:gd name="adj" fmla="val 19048"/>
            </a:avLst>
          </a:prstGeom>
          <a:solidFill>
            <a:srgbClr val="EFF6FF"/>
          </a:solidFill>
          <a:ln w="12700">
            <a:solidFill>
              <a:srgbClr val="93C5FD"/>
            </a:solidFill>
            <a:prstDash val="solid"/>
          </a:ln>
        </p:spPr>
      </p:sp>
      <p:sp>
        <p:nvSpPr>
          <p:cNvPr id="12" name="Text 10"/>
          <p:cNvSpPr/>
          <p:nvPr/>
        </p:nvSpPr>
        <p:spPr>
          <a:xfrm>
            <a:off x="4526280" y="1984248"/>
            <a:ext cx="74980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Y2</a:t>
            </a:r>
            <a:endParaRPr lang="en-US" sz="1300" dirty="0"/>
          </a:p>
        </p:txBody>
      </p:sp>
      <p:sp>
        <p:nvSpPr>
          <p:cNvPr id="13" name="Shape 11"/>
          <p:cNvSpPr/>
          <p:nvPr/>
        </p:nvSpPr>
        <p:spPr>
          <a:xfrm>
            <a:off x="5285232" y="2148840"/>
            <a:ext cx="722376" cy="0"/>
          </a:xfrm>
          <a:prstGeom prst="line">
            <a:avLst/>
          </a:prstGeom>
          <a:noFill/>
          <a:ln w="25400">
            <a:solidFill>
              <a:srgbClr val="2563EB"/>
            </a:solidFill>
            <a:prstDash val="solid"/>
            <a:headEnd type="none"/>
            <a:tailEnd type="triangle"/>
          </a:ln>
        </p:spPr>
      </p:sp>
      <p:sp>
        <p:nvSpPr>
          <p:cNvPr id="14" name="Shape 12"/>
          <p:cNvSpPr/>
          <p:nvPr/>
        </p:nvSpPr>
        <p:spPr>
          <a:xfrm>
            <a:off x="6126480" y="1965960"/>
            <a:ext cx="749808" cy="384048"/>
          </a:xfrm>
          <a:prstGeom prst="roundRect">
            <a:avLst>
              <a:gd name="adj" fmla="val 19048"/>
            </a:avLst>
          </a:prstGeom>
          <a:solidFill>
            <a:srgbClr val="EFF6FF"/>
          </a:solidFill>
          <a:ln w="12700">
            <a:solidFill>
              <a:srgbClr val="93C5FD"/>
            </a:solidFill>
            <a:prstDash val="solid"/>
          </a:ln>
        </p:spPr>
      </p:sp>
      <p:sp>
        <p:nvSpPr>
          <p:cNvPr id="15" name="Text 13"/>
          <p:cNvSpPr/>
          <p:nvPr/>
        </p:nvSpPr>
        <p:spPr>
          <a:xfrm>
            <a:off x="6126480" y="1984248"/>
            <a:ext cx="74980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Y3</a:t>
            </a:r>
            <a:endParaRPr lang="en-US" sz="1300" dirty="0"/>
          </a:p>
        </p:txBody>
      </p:sp>
      <p:sp>
        <p:nvSpPr>
          <p:cNvPr id="16" name="Shape 14"/>
          <p:cNvSpPr/>
          <p:nvPr/>
        </p:nvSpPr>
        <p:spPr>
          <a:xfrm>
            <a:off x="6885432" y="2148840"/>
            <a:ext cx="722376" cy="0"/>
          </a:xfrm>
          <a:prstGeom prst="line">
            <a:avLst/>
          </a:prstGeom>
          <a:noFill/>
          <a:ln w="25400">
            <a:solidFill>
              <a:srgbClr val="2563EB"/>
            </a:solidFill>
            <a:prstDash val="solid"/>
            <a:headEnd type="none"/>
            <a:tailEnd type="triangle"/>
          </a:ln>
        </p:spPr>
      </p:sp>
      <p:sp>
        <p:nvSpPr>
          <p:cNvPr id="17" name="Shape 15"/>
          <p:cNvSpPr/>
          <p:nvPr/>
        </p:nvSpPr>
        <p:spPr>
          <a:xfrm>
            <a:off x="7726680" y="1965960"/>
            <a:ext cx="749808" cy="384048"/>
          </a:xfrm>
          <a:prstGeom prst="roundRect">
            <a:avLst>
              <a:gd name="adj" fmla="val 19048"/>
            </a:avLst>
          </a:prstGeom>
          <a:solidFill>
            <a:srgbClr val="EFF6FF"/>
          </a:solidFill>
          <a:ln w="12700">
            <a:solidFill>
              <a:srgbClr val="93C5FD"/>
            </a:solidFill>
            <a:prstDash val="solid"/>
          </a:ln>
        </p:spPr>
      </p:sp>
      <p:sp>
        <p:nvSpPr>
          <p:cNvPr id="18" name="Text 16"/>
          <p:cNvSpPr/>
          <p:nvPr/>
        </p:nvSpPr>
        <p:spPr>
          <a:xfrm>
            <a:off x="7726680" y="1984248"/>
            <a:ext cx="749808"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Y4</a:t>
            </a:r>
            <a:endParaRPr lang="en-US" sz="1300" dirty="0"/>
          </a:p>
        </p:txBody>
      </p:sp>
      <p:sp>
        <p:nvSpPr>
          <p:cNvPr id="19" name="Text 17"/>
          <p:cNvSpPr/>
          <p:nvPr/>
        </p:nvSpPr>
        <p:spPr>
          <a:xfrm>
            <a:off x="2514600" y="2788920"/>
            <a:ext cx="7040880" cy="365760"/>
          </a:xfrm>
          <a:prstGeom prst="rect">
            <a:avLst/>
          </a:prstGeom>
          <a:noFill/>
          <a:ln/>
        </p:spPr>
        <p:txBody>
          <a:bodyPr wrap="square" lIns="635" tIns="635" rIns="635" bIns="635" rtlCol="0" anchor="ctr">
            <a:normAutofit/>
          </a:bodyPr>
          <a:lstStyle/>
          <a:p>
            <a:pPr algn="ctr" indent="0" marL="0">
              <a:buNone/>
            </a:pPr>
            <a:r>
              <a:rPr lang="en-US" sz="1700" b="1" dirty="0">
                <a:solidFill>
                  <a:srgbClr val="102A43"/>
                </a:solidFill>
                <a:latin typeface="Aptos" pitchFamily="34" charset="0"/>
                <a:ea typeface="Aptos" pitchFamily="34" charset="-122"/>
                <a:cs typeface="Aptos" pitchFamily="34" charset="-120"/>
              </a:rPr>
              <a:t>each step uses only a small relevant subset</a:t>
            </a:r>
            <a:endParaRPr lang="en-US" sz="1700" dirty="0"/>
          </a:p>
        </p:txBody>
      </p:sp>
      <p:sp>
        <p:nvSpPr>
          <p:cNvPr id="20" name="Shape 18"/>
          <p:cNvSpPr/>
          <p:nvPr/>
        </p:nvSpPr>
        <p:spPr>
          <a:xfrm>
            <a:off x="914400" y="3749040"/>
            <a:ext cx="10058400" cy="1417320"/>
          </a:xfrm>
          <a:prstGeom prst="roundRect">
            <a:avLst>
              <a:gd name="adj" fmla="val 3871"/>
            </a:avLst>
          </a:prstGeom>
          <a:solidFill>
            <a:srgbClr val="F0FDF4"/>
          </a:solidFill>
          <a:ln w="12700">
            <a:solidFill>
              <a:srgbClr val="BBF7D0"/>
            </a:solidFill>
            <a:prstDash val="solid"/>
          </a:ln>
        </p:spPr>
      </p:sp>
      <p:sp>
        <p:nvSpPr>
          <p:cNvPr id="21" name="Text 19"/>
          <p:cNvSpPr/>
          <p:nvPr/>
        </p:nvSpPr>
        <p:spPr>
          <a:xfrm>
            <a:off x="1188720" y="4160520"/>
            <a:ext cx="9509760" cy="566928"/>
          </a:xfrm>
          <a:prstGeom prst="rect">
            <a:avLst/>
          </a:prstGeom>
          <a:noFill/>
          <a:ln/>
        </p:spPr>
        <p:txBody>
          <a:bodyPr wrap="square" lIns="635" tIns="635" rIns="635" bIns="635" rtlCol="0" anchor="ctr">
            <a:normAutofit/>
          </a:bodyPr>
          <a:lstStyle/>
          <a:p>
            <a:pPr algn="ctr" indent="0" marL="0">
              <a:buNone/>
            </a:pPr>
            <a:r>
              <a:rPr lang="en-US" sz="2500" b="1" dirty="0">
                <a:solidFill>
                  <a:srgbClr val="15803D"/>
                </a:solidFill>
                <a:latin typeface="Aptos" pitchFamily="34" charset="0"/>
                <a:ea typeface="Aptos" pitchFamily="34" charset="-122"/>
                <a:cs typeface="Aptos" pitchFamily="34" charset="-120"/>
              </a:rPr>
              <a:t>Original globality can be high while autoregressive globality stays constant.</a:t>
            </a:r>
            <a:endParaRPr lang="en-US" sz="25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Parity makes the idea almost embarrassingly clear</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Globality k → cumulative-product scratchpad → globality 2.</a:t>
            </a:r>
            <a:endParaRPr lang="en-US" sz="1200" dirty="0"/>
          </a:p>
        </p:txBody>
      </p:sp>
      <p:sp>
        <p:nvSpPr>
          <p:cNvPr id="4" name="Text 2"/>
          <p:cNvSpPr/>
          <p:nvPr/>
        </p:nvSpPr>
        <p:spPr>
          <a:xfrm>
            <a:off x="822960" y="1325880"/>
            <a:ext cx="2103120" cy="320040"/>
          </a:xfrm>
          <a:prstGeom prst="rect">
            <a:avLst/>
          </a:prstGeom>
          <a:noFill/>
          <a:ln/>
        </p:spPr>
        <p:txBody>
          <a:bodyPr wrap="square" lIns="635" tIns="635" rIns="635" bIns="635" rtlCol="0" anchor="ctr">
            <a:normAutofit/>
          </a:bodyPr>
          <a:lstStyle/>
          <a:p>
            <a:pPr algn="l" indent="0" marL="0">
              <a:buNone/>
            </a:pPr>
            <a:r>
              <a:rPr lang="en-US" sz="1500" b="1" dirty="0">
                <a:solidFill>
                  <a:srgbClr val="DC2626"/>
                </a:solidFill>
                <a:latin typeface="Aptos" pitchFamily="34" charset="0"/>
                <a:ea typeface="Aptos" pitchFamily="34" charset="-122"/>
                <a:cs typeface="Aptos" pitchFamily="34" charset="-120"/>
              </a:rPr>
              <a:t>Without scratchpad:</a:t>
            </a:r>
            <a:endParaRPr lang="en-US" sz="1500" dirty="0"/>
          </a:p>
        </p:txBody>
      </p:sp>
      <p:sp>
        <p:nvSpPr>
          <p:cNvPr id="5" name="Text 3"/>
          <p:cNvSpPr/>
          <p:nvPr/>
        </p:nvSpPr>
        <p:spPr>
          <a:xfrm>
            <a:off x="914400" y="1847088"/>
            <a:ext cx="2834640" cy="502920"/>
          </a:xfrm>
          <a:prstGeom prst="rect">
            <a:avLst/>
          </a:prstGeom>
          <a:noFill/>
          <a:ln/>
        </p:spPr>
        <p:txBody>
          <a:bodyPr wrap="square" lIns="635" tIns="635" rIns="635" bIns="635" rtlCol="0" anchor="ctr">
            <a:normAutofit/>
          </a:bodyPr>
          <a:lstStyle/>
          <a:p>
            <a:pPr algn="ctr" indent="0" marL="0">
              <a:buNone/>
            </a:pPr>
            <a:r>
              <a:rPr lang="en-US" sz="2700" b="1" dirty="0">
                <a:solidFill>
                  <a:srgbClr val="DC2626"/>
                </a:solidFill>
                <a:latin typeface="Aptos" pitchFamily="34" charset="0"/>
                <a:ea typeface="Aptos" pitchFamily="34" charset="-122"/>
                <a:cs typeface="Aptos" pitchFamily="34" charset="-120"/>
              </a:rPr>
              <a:t>y = x₁ x₂ … xₖ</a:t>
            </a:r>
            <a:endParaRPr lang="en-US" sz="2700" dirty="0"/>
          </a:p>
        </p:txBody>
      </p:sp>
      <p:sp>
        <p:nvSpPr>
          <p:cNvPr id="6" name="Text 4"/>
          <p:cNvSpPr/>
          <p:nvPr/>
        </p:nvSpPr>
        <p:spPr>
          <a:xfrm>
            <a:off x="868680" y="2514600"/>
            <a:ext cx="2926080" cy="50292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Any k−1 coordinates reveal nothing about y.</a:t>
            </a:r>
            <a:endParaRPr lang="en-US" sz="1400" dirty="0"/>
          </a:p>
        </p:txBody>
      </p:sp>
      <p:sp>
        <p:nvSpPr>
          <p:cNvPr id="7" name="Shape 5"/>
          <p:cNvSpPr/>
          <p:nvPr/>
        </p:nvSpPr>
        <p:spPr>
          <a:xfrm>
            <a:off x="3794760" y="2057400"/>
            <a:ext cx="822960" cy="0"/>
          </a:xfrm>
          <a:prstGeom prst="line">
            <a:avLst/>
          </a:prstGeom>
          <a:noFill/>
          <a:ln w="38100">
            <a:solidFill>
              <a:srgbClr val="F97316"/>
            </a:solidFill>
            <a:prstDash val="solid"/>
            <a:headEnd type="none"/>
            <a:tailEnd type="triangle"/>
          </a:ln>
        </p:spPr>
      </p:sp>
      <p:sp>
        <p:nvSpPr>
          <p:cNvPr id="8" name="Text 6"/>
          <p:cNvSpPr/>
          <p:nvPr/>
        </p:nvSpPr>
        <p:spPr>
          <a:xfrm>
            <a:off x="4800600" y="1325880"/>
            <a:ext cx="2103120" cy="320040"/>
          </a:xfrm>
          <a:prstGeom prst="rect">
            <a:avLst/>
          </a:prstGeom>
          <a:noFill/>
          <a:ln/>
        </p:spPr>
        <p:txBody>
          <a:bodyPr wrap="square" lIns="635" tIns="635" rIns="635" bIns="635" rtlCol="0" anchor="ctr">
            <a:normAutofit/>
          </a:bodyPr>
          <a:lstStyle/>
          <a:p>
            <a:pPr algn="l" indent="0" marL="0">
              <a:buNone/>
            </a:pPr>
            <a:r>
              <a:rPr lang="en-US" sz="1500" b="1" dirty="0">
                <a:solidFill>
                  <a:srgbClr val="15803D"/>
                </a:solidFill>
                <a:latin typeface="Aptos" pitchFamily="34" charset="0"/>
                <a:ea typeface="Aptos" pitchFamily="34" charset="-122"/>
                <a:cs typeface="Aptos" pitchFamily="34" charset="-120"/>
              </a:rPr>
              <a:t>With scratchpad:</a:t>
            </a:r>
            <a:endParaRPr lang="en-US" sz="1500" dirty="0"/>
          </a:p>
        </p:txBody>
      </p:sp>
      <p:sp>
        <p:nvSpPr>
          <p:cNvPr id="9" name="Shape 7"/>
          <p:cNvSpPr/>
          <p:nvPr/>
        </p:nvSpPr>
        <p:spPr>
          <a:xfrm>
            <a:off x="4709160" y="1847088"/>
            <a:ext cx="1051560" cy="384048"/>
          </a:xfrm>
          <a:prstGeom prst="roundRect">
            <a:avLst>
              <a:gd name="adj" fmla="val 19048"/>
            </a:avLst>
          </a:prstGeom>
          <a:solidFill>
            <a:srgbClr val="F0FDF4"/>
          </a:solidFill>
          <a:ln w="12700">
            <a:solidFill>
              <a:srgbClr val="86EFAC"/>
            </a:solidFill>
            <a:prstDash val="solid"/>
          </a:ln>
        </p:spPr>
      </p:sp>
      <p:sp>
        <p:nvSpPr>
          <p:cNvPr id="10" name="Text 8"/>
          <p:cNvSpPr/>
          <p:nvPr/>
        </p:nvSpPr>
        <p:spPr>
          <a:xfrm>
            <a:off x="4709160" y="1865376"/>
            <a:ext cx="10515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y₁=x₁</a:t>
            </a:r>
            <a:endParaRPr lang="en-US" sz="1300" dirty="0"/>
          </a:p>
        </p:txBody>
      </p:sp>
      <p:sp>
        <p:nvSpPr>
          <p:cNvPr id="11" name="Shape 9"/>
          <p:cNvSpPr/>
          <p:nvPr/>
        </p:nvSpPr>
        <p:spPr>
          <a:xfrm>
            <a:off x="5943600" y="1847088"/>
            <a:ext cx="1143000" cy="384048"/>
          </a:xfrm>
          <a:prstGeom prst="roundRect">
            <a:avLst>
              <a:gd name="adj" fmla="val 19048"/>
            </a:avLst>
          </a:prstGeom>
          <a:solidFill>
            <a:srgbClr val="F0FDF4"/>
          </a:solidFill>
          <a:ln w="12700">
            <a:solidFill>
              <a:srgbClr val="86EFAC"/>
            </a:solidFill>
            <a:prstDash val="solid"/>
          </a:ln>
        </p:spPr>
      </p:sp>
      <p:sp>
        <p:nvSpPr>
          <p:cNvPr id="12" name="Text 10"/>
          <p:cNvSpPr/>
          <p:nvPr/>
        </p:nvSpPr>
        <p:spPr>
          <a:xfrm>
            <a:off x="5943600" y="1865376"/>
            <a:ext cx="11430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y₂=y₁x₂</a:t>
            </a:r>
            <a:endParaRPr lang="en-US" sz="1300" dirty="0"/>
          </a:p>
        </p:txBody>
      </p:sp>
      <p:sp>
        <p:nvSpPr>
          <p:cNvPr id="13" name="Shape 11"/>
          <p:cNvSpPr/>
          <p:nvPr/>
        </p:nvSpPr>
        <p:spPr>
          <a:xfrm>
            <a:off x="7269480" y="1847088"/>
            <a:ext cx="502920" cy="384048"/>
          </a:xfrm>
          <a:prstGeom prst="roundRect">
            <a:avLst>
              <a:gd name="adj" fmla="val 19048"/>
            </a:avLst>
          </a:prstGeom>
          <a:solidFill>
            <a:srgbClr val="F0FDF4"/>
          </a:solidFill>
          <a:ln w="12700">
            <a:solidFill>
              <a:srgbClr val="86EFAC"/>
            </a:solidFill>
            <a:prstDash val="solid"/>
          </a:ln>
        </p:spPr>
      </p:sp>
      <p:sp>
        <p:nvSpPr>
          <p:cNvPr id="14" name="Text 12"/>
          <p:cNvSpPr/>
          <p:nvPr/>
        </p:nvSpPr>
        <p:spPr>
          <a:xfrm>
            <a:off x="7269480" y="1865376"/>
            <a:ext cx="50292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a:t>
            </a:r>
            <a:endParaRPr lang="en-US" sz="1300" dirty="0"/>
          </a:p>
        </p:txBody>
      </p:sp>
      <p:sp>
        <p:nvSpPr>
          <p:cNvPr id="15" name="Shape 13"/>
          <p:cNvSpPr/>
          <p:nvPr/>
        </p:nvSpPr>
        <p:spPr>
          <a:xfrm>
            <a:off x="8001000" y="1847088"/>
            <a:ext cx="1371600" cy="384048"/>
          </a:xfrm>
          <a:prstGeom prst="roundRect">
            <a:avLst>
              <a:gd name="adj" fmla="val 19048"/>
            </a:avLst>
          </a:prstGeom>
          <a:solidFill>
            <a:srgbClr val="F0FDF4"/>
          </a:solidFill>
          <a:ln w="12700">
            <a:solidFill>
              <a:srgbClr val="86EFAC"/>
            </a:solidFill>
            <a:prstDash val="solid"/>
          </a:ln>
        </p:spPr>
      </p:sp>
      <p:sp>
        <p:nvSpPr>
          <p:cNvPr id="16" name="Text 14"/>
          <p:cNvSpPr/>
          <p:nvPr/>
        </p:nvSpPr>
        <p:spPr>
          <a:xfrm>
            <a:off x="8001000" y="1865376"/>
            <a:ext cx="13716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yₖ=yₖ₋₁xₖ</a:t>
            </a:r>
            <a:endParaRPr lang="en-US" sz="1300" dirty="0"/>
          </a:p>
        </p:txBody>
      </p:sp>
      <p:sp>
        <p:nvSpPr>
          <p:cNvPr id="17" name="Text 15"/>
          <p:cNvSpPr/>
          <p:nvPr/>
        </p:nvSpPr>
        <p:spPr>
          <a:xfrm>
            <a:off x="4709160" y="2788920"/>
            <a:ext cx="4663440" cy="411480"/>
          </a:xfrm>
          <a:prstGeom prst="rect">
            <a:avLst/>
          </a:prstGeom>
          <a:noFill/>
          <a:ln/>
        </p:spPr>
        <p:txBody>
          <a:bodyPr wrap="square" lIns="635" tIns="635" rIns="635" bIns="635" rtlCol="0" anchor="ctr">
            <a:normAutofit/>
          </a:bodyPr>
          <a:lstStyle/>
          <a:p>
            <a:pPr algn="ctr" indent="0" marL="0">
              <a:buNone/>
            </a:pPr>
            <a:r>
              <a:rPr lang="en-US" sz="1600" b="1" dirty="0">
                <a:solidFill>
                  <a:srgbClr val="102A43"/>
                </a:solidFill>
                <a:latin typeface="Aptos" pitchFamily="34" charset="0"/>
                <a:ea typeface="Aptos" pitchFamily="34" charset="-122"/>
                <a:cs typeface="Aptos" pitchFamily="34" charset="-120"/>
              </a:rPr>
              <a:t>Every step depends on only two previous tokens.</a:t>
            </a:r>
            <a:endParaRPr lang="en-US" sz="1600" dirty="0"/>
          </a:p>
        </p:txBody>
      </p:sp>
      <p:sp>
        <p:nvSpPr>
          <p:cNvPr id="18" name="Shape 16"/>
          <p:cNvSpPr/>
          <p:nvPr/>
        </p:nvSpPr>
        <p:spPr>
          <a:xfrm>
            <a:off x="4709160" y="3794760"/>
            <a:ext cx="1143000" cy="347472"/>
          </a:xfrm>
          <a:prstGeom prst="roundRect">
            <a:avLst>
              <a:gd name="adj" fmla="val 31579"/>
            </a:avLst>
          </a:prstGeom>
          <a:solidFill>
            <a:srgbClr val="15803D"/>
          </a:solidFill>
          <a:ln w="12700">
            <a:solidFill>
              <a:srgbClr val="15803D">
                <a:alpha val="0"/>
              </a:srgbClr>
            </a:solidFill>
            <a:prstDash val="solid"/>
          </a:ln>
        </p:spPr>
      </p:sp>
      <p:sp>
        <p:nvSpPr>
          <p:cNvPr id="19" name="Text 17"/>
          <p:cNvSpPr/>
          <p:nvPr/>
        </p:nvSpPr>
        <p:spPr>
          <a:xfrm>
            <a:off x="4709160" y="3803904"/>
            <a:ext cx="11430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Lemma 2</a:t>
            </a:r>
            <a:endParaRPr lang="en-US" sz="1000" dirty="0"/>
          </a:p>
        </p:txBody>
      </p:sp>
      <p:sp>
        <p:nvSpPr>
          <p:cNvPr id="20" name="Text 18"/>
          <p:cNvSpPr/>
          <p:nvPr/>
        </p:nvSpPr>
        <p:spPr>
          <a:xfrm>
            <a:off x="6080760" y="3712464"/>
            <a:ext cx="2377440" cy="502920"/>
          </a:xfrm>
          <a:prstGeom prst="rect">
            <a:avLst/>
          </a:prstGeom>
          <a:noFill/>
          <a:ln/>
        </p:spPr>
        <p:txBody>
          <a:bodyPr wrap="square" lIns="635" tIns="635" rIns="635" bIns="635" rtlCol="0" anchor="ctr">
            <a:normAutofit/>
          </a:bodyPr>
          <a:lstStyle/>
          <a:p>
            <a:pPr algn="l" indent="0" marL="0">
              <a:buNone/>
            </a:pPr>
            <a:r>
              <a:rPr lang="en-US" sz="2400" b="1" dirty="0">
                <a:solidFill>
                  <a:srgbClr val="15803D"/>
                </a:solidFill>
                <a:latin typeface="Aptos" pitchFamily="34" charset="0"/>
                <a:ea typeface="Aptos" pitchFamily="34" charset="-122"/>
                <a:cs typeface="Aptos" pitchFamily="34" charset="-120"/>
              </a:rPr>
              <a:t>globality = 2</a:t>
            </a:r>
            <a:endParaRPr lang="en-US" sz="2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Cycle task + educated scratchpad</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Depth-first search (DFS) turns global connectivity into local next-step prediction.</a:t>
            </a:r>
            <a:endParaRPr lang="en-US" sz="1200" dirty="0"/>
          </a:p>
        </p:txBody>
      </p:sp>
      <p:sp>
        <p:nvSpPr>
          <p:cNvPr id="4" name="Text 2"/>
          <p:cNvSpPr/>
          <p:nvPr/>
        </p:nvSpPr>
        <p:spPr>
          <a:xfrm>
            <a:off x="822960" y="1325880"/>
            <a:ext cx="1097280" cy="27432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INPUT</a:t>
            </a:r>
            <a:endParaRPr lang="en-US" sz="1300" dirty="0"/>
          </a:p>
        </p:txBody>
      </p:sp>
      <p:sp>
        <p:nvSpPr>
          <p:cNvPr id="5" name="Shape 3"/>
          <p:cNvSpPr/>
          <p:nvPr/>
        </p:nvSpPr>
        <p:spPr>
          <a:xfrm>
            <a:off x="685800" y="1828800"/>
            <a:ext cx="685800" cy="384048"/>
          </a:xfrm>
          <a:prstGeom prst="roundRect">
            <a:avLst>
              <a:gd name="adj" fmla="val 19048"/>
            </a:avLst>
          </a:prstGeom>
          <a:solidFill>
            <a:srgbClr val="FFFFFF"/>
          </a:solidFill>
          <a:ln w="12700">
            <a:solidFill>
              <a:srgbClr val="CBD5E1"/>
            </a:solidFill>
            <a:prstDash val="solid"/>
          </a:ln>
        </p:spPr>
      </p:sp>
      <p:sp>
        <p:nvSpPr>
          <p:cNvPr id="6" name="Text 4"/>
          <p:cNvSpPr/>
          <p:nvPr/>
        </p:nvSpPr>
        <p:spPr>
          <a:xfrm>
            <a:off x="68580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a&gt;x</a:t>
            </a:r>
            <a:endParaRPr lang="en-US" sz="1300" dirty="0"/>
          </a:p>
        </p:txBody>
      </p:sp>
      <p:sp>
        <p:nvSpPr>
          <p:cNvPr id="7" name="Shape 5"/>
          <p:cNvSpPr/>
          <p:nvPr/>
        </p:nvSpPr>
        <p:spPr>
          <a:xfrm>
            <a:off x="1463040" y="1828800"/>
            <a:ext cx="685800" cy="384048"/>
          </a:xfrm>
          <a:prstGeom prst="roundRect">
            <a:avLst>
              <a:gd name="adj" fmla="val 19048"/>
            </a:avLst>
          </a:prstGeom>
          <a:solidFill>
            <a:srgbClr val="FFFFFF"/>
          </a:solidFill>
          <a:ln w="12700">
            <a:solidFill>
              <a:srgbClr val="CBD5E1"/>
            </a:solidFill>
            <a:prstDash val="solid"/>
          </a:ln>
        </p:spPr>
      </p:sp>
      <p:sp>
        <p:nvSpPr>
          <p:cNvPr id="8" name="Text 6"/>
          <p:cNvSpPr/>
          <p:nvPr/>
        </p:nvSpPr>
        <p:spPr>
          <a:xfrm>
            <a:off x="146304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x&gt;q</a:t>
            </a:r>
            <a:endParaRPr lang="en-US" sz="1300" dirty="0"/>
          </a:p>
        </p:txBody>
      </p:sp>
      <p:sp>
        <p:nvSpPr>
          <p:cNvPr id="9" name="Shape 7"/>
          <p:cNvSpPr/>
          <p:nvPr/>
        </p:nvSpPr>
        <p:spPr>
          <a:xfrm>
            <a:off x="2240280" y="1828800"/>
            <a:ext cx="685800" cy="384048"/>
          </a:xfrm>
          <a:prstGeom prst="roundRect">
            <a:avLst>
              <a:gd name="adj" fmla="val 19048"/>
            </a:avLst>
          </a:prstGeom>
          <a:solidFill>
            <a:srgbClr val="FFFFFF"/>
          </a:solidFill>
          <a:ln w="12700">
            <a:solidFill>
              <a:srgbClr val="CBD5E1"/>
            </a:solidFill>
            <a:prstDash val="solid"/>
          </a:ln>
        </p:spPr>
      </p:sp>
      <p:sp>
        <p:nvSpPr>
          <p:cNvPr id="10" name="Text 8"/>
          <p:cNvSpPr/>
          <p:nvPr/>
        </p:nvSpPr>
        <p:spPr>
          <a:xfrm>
            <a:off x="224028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q&gt;a</a:t>
            </a:r>
            <a:endParaRPr lang="en-US" sz="1300" dirty="0"/>
          </a:p>
        </p:txBody>
      </p:sp>
      <p:sp>
        <p:nvSpPr>
          <p:cNvPr id="11" name="Shape 9"/>
          <p:cNvSpPr/>
          <p:nvPr/>
        </p:nvSpPr>
        <p:spPr>
          <a:xfrm>
            <a:off x="3017520" y="1828800"/>
            <a:ext cx="685800" cy="384048"/>
          </a:xfrm>
          <a:prstGeom prst="roundRect">
            <a:avLst>
              <a:gd name="adj" fmla="val 19048"/>
            </a:avLst>
          </a:prstGeom>
          <a:solidFill>
            <a:srgbClr val="FFFFFF"/>
          </a:solidFill>
          <a:ln w="12700">
            <a:solidFill>
              <a:srgbClr val="CBD5E1"/>
            </a:solidFill>
            <a:prstDash val="solid"/>
          </a:ln>
        </p:spPr>
      </p:sp>
      <p:sp>
        <p:nvSpPr>
          <p:cNvPr id="12" name="Text 10"/>
          <p:cNvSpPr/>
          <p:nvPr/>
        </p:nvSpPr>
        <p:spPr>
          <a:xfrm>
            <a:off x="301752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t&gt;n</a:t>
            </a:r>
            <a:endParaRPr lang="en-US" sz="1300" dirty="0"/>
          </a:p>
        </p:txBody>
      </p:sp>
      <p:sp>
        <p:nvSpPr>
          <p:cNvPr id="13" name="Shape 11"/>
          <p:cNvSpPr/>
          <p:nvPr/>
        </p:nvSpPr>
        <p:spPr>
          <a:xfrm>
            <a:off x="3794760" y="1828800"/>
            <a:ext cx="685800" cy="384048"/>
          </a:xfrm>
          <a:prstGeom prst="roundRect">
            <a:avLst>
              <a:gd name="adj" fmla="val 19048"/>
            </a:avLst>
          </a:prstGeom>
          <a:solidFill>
            <a:srgbClr val="FFFFFF"/>
          </a:solidFill>
          <a:ln w="12700">
            <a:solidFill>
              <a:srgbClr val="CBD5E1"/>
            </a:solidFill>
            <a:prstDash val="solid"/>
          </a:ln>
        </p:spPr>
      </p:sp>
      <p:sp>
        <p:nvSpPr>
          <p:cNvPr id="14" name="Text 12"/>
          <p:cNvSpPr/>
          <p:nvPr/>
        </p:nvSpPr>
        <p:spPr>
          <a:xfrm>
            <a:off x="379476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n&gt;y</a:t>
            </a:r>
            <a:endParaRPr lang="en-US" sz="1300" dirty="0"/>
          </a:p>
        </p:txBody>
      </p:sp>
      <p:sp>
        <p:nvSpPr>
          <p:cNvPr id="15" name="Shape 13"/>
          <p:cNvSpPr/>
          <p:nvPr/>
        </p:nvSpPr>
        <p:spPr>
          <a:xfrm>
            <a:off x="4617720" y="1828800"/>
            <a:ext cx="502920" cy="384048"/>
          </a:xfrm>
          <a:prstGeom prst="roundRect">
            <a:avLst>
              <a:gd name="adj" fmla="val 19048"/>
            </a:avLst>
          </a:prstGeom>
          <a:solidFill>
            <a:srgbClr val="FFFFFF"/>
          </a:solidFill>
          <a:ln w="12700">
            <a:solidFill>
              <a:srgbClr val="CBD5E1"/>
            </a:solidFill>
            <a:prstDash val="solid"/>
          </a:ln>
        </p:spPr>
      </p:sp>
      <p:sp>
        <p:nvSpPr>
          <p:cNvPr id="16" name="Text 14"/>
          <p:cNvSpPr/>
          <p:nvPr/>
        </p:nvSpPr>
        <p:spPr>
          <a:xfrm>
            <a:off x="4617720" y="1847088"/>
            <a:ext cx="50292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t>
            </a:r>
            <a:endParaRPr lang="en-US" sz="1300" dirty="0"/>
          </a:p>
        </p:txBody>
      </p:sp>
      <p:sp>
        <p:nvSpPr>
          <p:cNvPr id="17" name="Shape 15"/>
          <p:cNvSpPr/>
          <p:nvPr/>
        </p:nvSpPr>
        <p:spPr>
          <a:xfrm>
            <a:off x="5394960" y="2029968"/>
            <a:ext cx="868680" cy="0"/>
          </a:xfrm>
          <a:prstGeom prst="line">
            <a:avLst/>
          </a:prstGeom>
          <a:noFill/>
          <a:ln w="38100">
            <a:solidFill>
              <a:srgbClr val="F97316"/>
            </a:solidFill>
            <a:prstDash val="solid"/>
            <a:headEnd type="none"/>
            <a:tailEnd type="triangle"/>
          </a:ln>
        </p:spPr>
      </p:sp>
      <p:sp>
        <p:nvSpPr>
          <p:cNvPr id="18" name="Text 16"/>
          <p:cNvSpPr/>
          <p:nvPr/>
        </p:nvSpPr>
        <p:spPr>
          <a:xfrm>
            <a:off x="6355080" y="1325880"/>
            <a:ext cx="1828800" cy="27432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DFS STATE</a:t>
            </a:r>
            <a:endParaRPr lang="en-US" sz="1300" dirty="0"/>
          </a:p>
        </p:txBody>
      </p:sp>
      <p:sp>
        <p:nvSpPr>
          <p:cNvPr id="19" name="Shape 17"/>
          <p:cNvSpPr/>
          <p:nvPr/>
        </p:nvSpPr>
        <p:spPr>
          <a:xfrm>
            <a:off x="6355080" y="1828800"/>
            <a:ext cx="594360" cy="384048"/>
          </a:xfrm>
          <a:prstGeom prst="roundRect">
            <a:avLst>
              <a:gd name="adj" fmla="val 19048"/>
            </a:avLst>
          </a:prstGeom>
          <a:solidFill>
            <a:srgbClr val="FFF7ED"/>
          </a:solidFill>
          <a:ln w="12700">
            <a:solidFill>
              <a:srgbClr val="FDBA74"/>
            </a:solidFill>
            <a:prstDash val="solid"/>
          </a:ln>
        </p:spPr>
      </p:sp>
      <p:sp>
        <p:nvSpPr>
          <p:cNvPr id="20" name="Text 18"/>
          <p:cNvSpPr/>
          <p:nvPr/>
        </p:nvSpPr>
        <p:spPr>
          <a:xfrm>
            <a:off x="6355080" y="184708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a</a:t>
            </a:r>
            <a:endParaRPr lang="en-US" sz="1300" dirty="0"/>
          </a:p>
        </p:txBody>
      </p:sp>
      <p:sp>
        <p:nvSpPr>
          <p:cNvPr id="21" name="Shape 19"/>
          <p:cNvSpPr/>
          <p:nvPr/>
        </p:nvSpPr>
        <p:spPr>
          <a:xfrm>
            <a:off x="6995160" y="2029968"/>
            <a:ext cx="548640" cy="0"/>
          </a:xfrm>
          <a:prstGeom prst="line">
            <a:avLst/>
          </a:prstGeom>
          <a:noFill/>
          <a:ln w="25400">
            <a:solidFill>
              <a:srgbClr val="F97316"/>
            </a:solidFill>
            <a:prstDash val="solid"/>
            <a:headEnd type="none"/>
            <a:tailEnd type="triangle"/>
          </a:ln>
        </p:spPr>
      </p:sp>
      <p:sp>
        <p:nvSpPr>
          <p:cNvPr id="22" name="Shape 20"/>
          <p:cNvSpPr/>
          <p:nvPr/>
        </p:nvSpPr>
        <p:spPr>
          <a:xfrm>
            <a:off x="7635240" y="1828800"/>
            <a:ext cx="594360" cy="384048"/>
          </a:xfrm>
          <a:prstGeom prst="roundRect">
            <a:avLst>
              <a:gd name="adj" fmla="val 19048"/>
            </a:avLst>
          </a:prstGeom>
          <a:solidFill>
            <a:srgbClr val="FFF7ED"/>
          </a:solidFill>
          <a:ln w="12700">
            <a:solidFill>
              <a:srgbClr val="FDBA74"/>
            </a:solidFill>
            <a:prstDash val="solid"/>
          </a:ln>
        </p:spPr>
      </p:sp>
      <p:sp>
        <p:nvSpPr>
          <p:cNvPr id="23" name="Text 21"/>
          <p:cNvSpPr/>
          <p:nvPr/>
        </p:nvSpPr>
        <p:spPr>
          <a:xfrm>
            <a:off x="7635240" y="184708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x</a:t>
            </a:r>
            <a:endParaRPr lang="en-US" sz="1300" dirty="0"/>
          </a:p>
        </p:txBody>
      </p:sp>
      <p:sp>
        <p:nvSpPr>
          <p:cNvPr id="24" name="Shape 22"/>
          <p:cNvSpPr/>
          <p:nvPr/>
        </p:nvSpPr>
        <p:spPr>
          <a:xfrm>
            <a:off x="8275320" y="2029968"/>
            <a:ext cx="548640" cy="0"/>
          </a:xfrm>
          <a:prstGeom prst="line">
            <a:avLst/>
          </a:prstGeom>
          <a:noFill/>
          <a:ln w="25400">
            <a:solidFill>
              <a:srgbClr val="F97316"/>
            </a:solidFill>
            <a:prstDash val="solid"/>
            <a:headEnd type="none"/>
            <a:tailEnd type="triangle"/>
          </a:ln>
        </p:spPr>
      </p:sp>
      <p:sp>
        <p:nvSpPr>
          <p:cNvPr id="25" name="Shape 23"/>
          <p:cNvSpPr/>
          <p:nvPr/>
        </p:nvSpPr>
        <p:spPr>
          <a:xfrm>
            <a:off x="8915400" y="1828800"/>
            <a:ext cx="594360" cy="384048"/>
          </a:xfrm>
          <a:prstGeom prst="roundRect">
            <a:avLst>
              <a:gd name="adj" fmla="val 19048"/>
            </a:avLst>
          </a:prstGeom>
          <a:solidFill>
            <a:srgbClr val="FFF7ED"/>
          </a:solidFill>
          <a:ln w="12700">
            <a:solidFill>
              <a:srgbClr val="FDBA74"/>
            </a:solidFill>
            <a:prstDash val="solid"/>
          </a:ln>
        </p:spPr>
      </p:sp>
      <p:sp>
        <p:nvSpPr>
          <p:cNvPr id="26" name="Text 24"/>
          <p:cNvSpPr/>
          <p:nvPr/>
        </p:nvSpPr>
        <p:spPr>
          <a:xfrm>
            <a:off x="8915400" y="184708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q</a:t>
            </a:r>
            <a:endParaRPr lang="en-US" sz="1300" dirty="0"/>
          </a:p>
        </p:txBody>
      </p:sp>
      <p:sp>
        <p:nvSpPr>
          <p:cNvPr id="27" name="Shape 25"/>
          <p:cNvSpPr/>
          <p:nvPr/>
        </p:nvSpPr>
        <p:spPr>
          <a:xfrm>
            <a:off x="9555480" y="2029968"/>
            <a:ext cx="502920" cy="0"/>
          </a:xfrm>
          <a:prstGeom prst="line">
            <a:avLst/>
          </a:prstGeom>
          <a:noFill/>
          <a:ln w="25400">
            <a:solidFill>
              <a:srgbClr val="F97316"/>
            </a:solidFill>
            <a:prstDash val="solid"/>
            <a:headEnd type="none"/>
            <a:tailEnd type="triangle"/>
          </a:ln>
        </p:spPr>
      </p:sp>
      <p:sp>
        <p:nvSpPr>
          <p:cNvPr id="28" name="Shape 26"/>
          <p:cNvSpPr/>
          <p:nvPr/>
        </p:nvSpPr>
        <p:spPr>
          <a:xfrm>
            <a:off x="10149840" y="1828800"/>
            <a:ext cx="594360" cy="384048"/>
          </a:xfrm>
          <a:prstGeom prst="roundRect">
            <a:avLst>
              <a:gd name="adj" fmla="val 19048"/>
            </a:avLst>
          </a:prstGeom>
          <a:solidFill>
            <a:srgbClr val="FFF7ED"/>
          </a:solidFill>
          <a:ln w="12700">
            <a:solidFill>
              <a:srgbClr val="FDBA74"/>
            </a:solidFill>
            <a:prstDash val="solid"/>
          </a:ln>
        </p:spPr>
      </p:sp>
      <p:sp>
        <p:nvSpPr>
          <p:cNvPr id="29" name="Text 27"/>
          <p:cNvSpPr/>
          <p:nvPr/>
        </p:nvSpPr>
        <p:spPr>
          <a:xfrm>
            <a:off x="10149840" y="184708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a</a:t>
            </a:r>
            <a:endParaRPr lang="en-US" sz="1300" dirty="0"/>
          </a:p>
        </p:txBody>
      </p:sp>
      <p:sp>
        <p:nvSpPr>
          <p:cNvPr id="30" name="Text 28"/>
          <p:cNvSpPr/>
          <p:nvPr/>
        </p:nvSpPr>
        <p:spPr>
          <a:xfrm>
            <a:off x="2743200" y="2971800"/>
            <a:ext cx="6583680" cy="411480"/>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each next node is a low-globality subproblem</a:t>
            </a:r>
            <a:endParaRPr lang="en-US" sz="1800" dirty="0"/>
          </a:p>
        </p:txBody>
      </p:sp>
      <p:sp>
        <p:nvSpPr>
          <p:cNvPr id="31" name="Shape 29"/>
          <p:cNvSpPr/>
          <p:nvPr/>
        </p:nvSpPr>
        <p:spPr>
          <a:xfrm>
            <a:off x="914400" y="3886200"/>
            <a:ext cx="10149840" cy="1234440"/>
          </a:xfrm>
          <a:prstGeom prst="roundRect">
            <a:avLst>
              <a:gd name="adj" fmla="val 4444"/>
            </a:avLst>
          </a:prstGeom>
          <a:solidFill>
            <a:srgbClr val="F0FDF4"/>
          </a:solidFill>
          <a:ln w="12700">
            <a:solidFill>
              <a:srgbClr val="BBF7D0"/>
            </a:solidFill>
            <a:prstDash val="solid"/>
          </a:ln>
        </p:spPr>
      </p:sp>
      <p:sp>
        <p:nvSpPr>
          <p:cNvPr id="32" name="Text 30"/>
          <p:cNvSpPr/>
          <p:nvPr/>
        </p:nvSpPr>
        <p:spPr>
          <a:xfrm>
            <a:off x="1280160" y="4187952"/>
            <a:ext cx="9509760" cy="502920"/>
          </a:xfrm>
          <a:prstGeom prst="rect">
            <a:avLst/>
          </a:prstGeom>
          <a:noFill/>
          <a:ln/>
        </p:spPr>
        <p:txBody>
          <a:bodyPr wrap="square" lIns="635" tIns="635" rIns="635" bIns="635" rtlCol="0" anchor="ctr">
            <a:normAutofit/>
          </a:bodyPr>
          <a:lstStyle/>
          <a:p>
            <a:pPr algn="ctr" indent="0" marL="0">
              <a:buNone/>
            </a:pPr>
            <a:r>
              <a:rPr lang="en-US" sz="2300" b="1" dirty="0">
                <a:solidFill>
                  <a:srgbClr val="15803D"/>
                </a:solidFill>
                <a:latin typeface="Aptos" pitchFamily="34" charset="0"/>
                <a:ea typeface="Aptos" pitchFamily="34" charset="-122"/>
                <a:cs typeface="Aptos" pitchFamily="34" charset="-120"/>
              </a:rPr>
              <a:t>Lemma 3: the DFS scratchpad has globality 3.</a:t>
            </a:r>
            <a:endParaRPr lang="en-US" sz="23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But an educated scratchpad can overfit</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Low training globality does not automatically imply OOD length generalization.</a:t>
            </a:r>
            <a:endParaRPr lang="en-US" sz="1200" dirty="0"/>
          </a:p>
        </p:txBody>
      </p:sp>
      <p:sp>
        <p:nvSpPr>
          <p:cNvPr id="4" name="Shape 2"/>
          <p:cNvSpPr/>
          <p:nvPr/>
        </p:nvSpPr>
        <p:spPr>
          <a:xfrm>
            <a:off x="822960" y="1371600"/>
            <a:ext cx="4480560" cy="3474720"/>
          </a:xfrm>
          <a:prstGeom prst="roundRect">
            <a:avLst>
              <a:gd name="adj" fmla="val 1579"/>
            </a:avLst>
          </a:prstGeom>
          <a:solidFill>
            <a:srgbClr val="EFF6FF"/>
          </a:solidFill>
          <a:ln w="12700">
            <a:solidFill>
              <a:srgbClr val="BFDBFE"/>
            </a:solidFill>
            <a:prstDash val="solid"/>
          </a:ln>
        </p:spPr>
      </p:sp>
      <p:sp>
        <p:nvSpPr>
          <p:cNvPr id="5" name="Text 3"/>
          <p:cNvSpPr/>
          <p:nvPr/>
        </p:nvSpPr>
        <p:spPr>
          <a:xfrm>
            <a:off x="1143000" y="1664208"/>
            <a:ext cx="3840480" cy="27432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TRAIN</a:t>
            </a:r>
            <a:endParaRPr lang="en-US" sz="1300" dirty="0"/>
          </a:p>
        </p:txBody>
      </p:sp>
      <p:sp>
        <p:nvSpPr>
          <p:cNvPr id="6" name="Text 4"/>
          <p:cNvSpPr/>
          <p:nvPr/>
        </p:nvSpPr>
        <p:spPr>
          <a:xfrm>
            <a:off x="1828800" y="2148840"/>
            <a:ext cx="2468880" cy="457200"/>
          </a:xfrm>
          <a:prstGeom prst="rect">
            <a:avLst/>
          </a:prstGeom>
          <a:noFill/>
          <a:ln/>
        </p:spPr>
        <p:txBody>
          <a:bodyPr wrap="square" lIns="635" tIns="635" rIns="635" bIns="635" rtlCol="0" anchor="ctr">
            <a:normAutofit/>
          </a:bodyPr>
          <a:lstStyle/>
          <a:p>
            <a:pPr algn="ctr" indent="0" marL="0">
              <a:buNone/>
            </a:pPr>
            <a:r>
              <a:rPr lang="en-US" sz="2600" b="1" dirty="0">
                <a:solidFill>
                  <a:srgbClr val="102A43"/>
                </a:solidFill>
                <a:latin typeface="Aptos" pitchFamily="34" charset="0"/>
                <a:ea typeface="Aptos" pitchFamily="34" charset="-122"/>
                <a:cs typeface="Aptos" pitchFamily="34" charset="-120"/>
              </a:rPr>
              <a:t>distance = 6</a:t>
            </a:r>
            <a:endParaRPr lang="en-US" sz="2600" dirty="0"/>
          </a:p>
        </p:txBody>
      </p:sp>
      <p:sp>
        <p:nvSpPr>
          <p:cNvPr id="7" name="Text 5"/>
          <p:cNvSpPr/>
          <p:nvPr/>
        </p:nvSpPr>
        <p:spPr>
          <a:xfrm>
            <a:off x="1143000" y="2816352"/>
            <a:ext cx="1280160" cy="274320"/>
          </a:xfrm>
          <a:prstGeom prst="rect">
            <a:avLst/>
          </a:prstGeom>
          <a:noFill/>
          <a:ln/>
        </p:spPr>
        <p:txBody>
          <a:bodyPr wrap="square" lIns="635" tIns="635" rIns="635" bIns="635" rtlCol="0" anchor="ctr">
            <a:normAutofit/>
          </a:bodyPr>
          <a:lstStyle/>
          <a:p>
            <a:pPr algn="l" indent="0" marL="0">
              <a:buNone/>
            </a:pPr>
            <a:r>
              <a:rPr lang="en-US" sz="1300" dirty="0">
                <a:solidFill>
                  <a:srgbClr val="52606D"/>
                </a:solidFill>
                <a:latin typeface="Aptos" pitchFamily="34" charset="0"/>
                <a:ea typeface="Aptos" pitchFamily="34" charset="-122"/>
                <a:cs typeface="Aptos" pitchFamily="34" charset="-120"/>
              </a:rPr>
              <a:t>DFS steps:</a:t>
            </a:r>
            <a:endParaRPr lang="en-US" sz="1300" dirty="0"/>
          </a:p>
        </p:txBody>
      </p:sp>
      <p:sp>
        <p:nvSpPr>
          <p:cNvPr id="8" name="Text 6"/>
          <p:cNvSpPr/>
          <p:nvPr/>
        </p:nvSpPr>
        <p:spPr>
          <a:xfrm>
            <a:off x="1143000" y="3154680"/>
            <a:ext cx="3566160" cy="411480"/>
          </a:xfrm>
          <a:prstGeom prst="rect">
            <a:avLst/>
          </a:prstGeom>
          <a:noFill/>
          <a:ln/>
        </p:spPr>
        <p:txBody>
          <a:bodyPr wrap="square" lIns="635" tIns="635" rIns="635" bIns="635" rtlCol="0" anchor="ctr">
            <a:normAutofit/>
          </a:bodyPr>
          <a:lstStyle/>
          <a:p>
            <a:pPr algn="ctr" indent="0" marL="0">
              <a:buNone/>
            </a:pPr>
            <a:r>
              <a:rPr lang="en-US" sz="2300" b="1" dirty="0">
                <a:solidFill>
                  <a:srgbClr val="2563EB"/>
                </a:solidFill>
                <a:latin typeface="Aptos" pitchFamily="34" charset="0"/>
                <a:ea typeface="Aptos" pitchFamily="34" charset="-122"/>
                <a:cs typeface="Aptos" pitchFamily="34" charset="-120"/>
              </a:rPr>
              <a:t>a → x → q → a</a:t>
            </a:r>
            <a:endParaRPr lang="en-US" sz="2300" dirty="0"/>
          </a:p>
        </p:txBody>
      </p:sp>
      <p:sp>
        <p:nvSpPr>
          <p:cNvPr id="9" name="Text 7"/>
          <p:cNvSpPr/>
          <p:nvPr/>
        </p:nvSpPr>
        <p:spPr>
          <a:xfrm>
            <a:off x="1188720" y="3840480"/>
            <a:ext cx="3657600" cy="50292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The model sees a fixed reasoning depth.</a:t>
            </a:r>
            <a:endParaRPr lang="en-US" sz="1500" dirty="0"/>
          </a:p>
        </p:txBody>
      </p:sp>
      <p:sp>
        <p:nvSpPr>
          <p:cNvPr id="10" name="Shape 8"/>
          <p:cNvSpPr/>
          <p:nvPr/>
        </p:nvSpPr>
        <p:spPr>
          <a:xfrm>
            <a:off x="5577840" y="2926080"/>
            <a:ext cx="914400" cy="0"/>
          </a:xfrm>
          <a:prstGeom prst="line">
            <a:avLst/>
          </a:prstGeom>
          <a:noFill/>
          <a:ln w="50800">
            <a:solidFill>
              <a:srgbClr val="DC2626"/>
            </a:solidFill>
            <a:prstDash val="solid"/>
            <a:headEnd type="none"/>
            <a:tailEnd type="triangle"/>
          </a:ln>
        </p:spPr>
      </p:sp>
      <p:sp>
        <p:nvSpPr>
          <p:cNvPr id="11" name="Shape 9"/>
          <p:cNvSpPr/>
          <p:nvPr/>
        </p:nvSpPr>
        <p:spPr>
          <a:xfrm>
            <a:off x="6812280" y="1371600"/>
            <a:ext cx="4480560" cy="3474720"/>
          </a:xfrm>
          <a:prstGeom prst="roundRect">
            <a:avLst>
              <a:gd name="adj" fmla="val 1579"/>
            </a:avLst>
          </a:prstGeom>
          <a:solidFill>
            <a:srgbClr val="FEF2F2"/>
          </a:solidFill>
          <a:ln w="12700">
            <a:solidFill>
              <a:srgbClr val="FECACA"/>
            </a:solidFill>
            <a:prstDash val="solid"/>
          </a:ln>
        </p:spPr>
      </p:sp>
      <p:sp>
        <p:nvSpPr>
          <p:cNvPr id="12" name="Text 10"/>
          <p:cNvSpPr/>
          <p:nvPr/>
        </p:nvSpPr>
        <p:spPr>
          <a:xfrm>
            <a:off x="7132320" y="1664208"/>
            <a:ext cx="3840480" cy="27432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TEST</a:t>
            </a:r>
            <a:endParaRPr lang="en-US" sz="1300" dirty="0"/>
          </a:p>
        </p:txBody>
      </p:sp>
      <p:sp>
        <p:nvSpPr>
          <p:cNvPr id="13" name="Text 11"/>
          <p:cNvSpPr/>
          <p:nvPr/>
        </p:nvSpPr>
        <p:spPr>
          <a:xfrm>
            <a:off x="7498080" y="2148840"/>
            <a:ext cx="3108960" cy="457200"/>
          </a:xfrm>
          <a:prstGeom prst="rect">
            <a:avLst/>
          </a:prstGeom>
          <a:noFill/>
          <a:ln/>
        </p:spPr>
        <p:txBody>
          <a:bodyPr wrap="square" lIns="635" tIns="635" rIns="635" bIns="635" rtlCol="0" anchor="ctr">
            <a:normAutofit/>
          </a:bodyPr>
          <a:lstStyle/>
          <a:p>
            <a:pPr algn="ctr" indent="0" marL="0">
              <a:buNone/>
            </a:pPr>
            <a:r>
              <a:rPr lang="en-US" sz="2600" b="1" dirty="0">
                <a:solidFill>
                  <a:srgbClr val="102A43"/>
                </a:solidFill>
                <a:latin typeface="Aptos" pitchFamily="34" charset="0"/>
                <a:ea typeface="Aptos" pitchFamily="34" charset="-122"/>
                <a:cs typeface="Aptos" pitchFamily="34" charset="-120"/>
              </a:rPr>
              <a:t>distance = 12</a:t>
            </a:r>
            <a:endParaRPr lang="en-US" sz="2600" dirty="0"/>
          </a:p>
        </p:txBody>
      </p:sp>
      <p:sp>
        <p:nvSpPr>
          <p:cNvPr id="14" name="Text 12"/>
          <p:cNvSpPr/>
          <p:nvPr/>
        </p:nvSpPr>
        <p:spPr>
          <a:xfrm>
            <a:off x="7132320" y="2816352"/>
            <a:ext cx="1280160" cy="274320"/>
          </a:xfrm>
          <a:prstGeom prst="rect">
            <a:avLst/>
          </a:prstGeom>
          <a:noFill/>
          <a:ln/>
        </p:spPr>
        <p:txBody>
          <a:bodyPr wrap="square" lIns="635" tIns="635" rIns="635" bIns="635" rtlCol="0" anchor="ctr">
            <a:normAutofit/>
          </a:bodyPr>
          <a:lstStyle/>
          <a:p>
            <a:pPr algn="l" indent="0" marL="0">
              <a:buNone/>
            </a:pPr>
            <a:r>
              <a:rPr lang="en-US" sz="1300" dirty="0">
                <a:solidFill>
                  <a:srgbClr val="52606D"/>
                </a:solidFill>
                <a:latin typeface="Aptos" pitchFamily="34" charset="0"/>
                <a:ea typeface="Aptos" pitchFamily="34" charset="-122"/>
                <a:cs typeface="Aptos" pitchFamily="34" charset="-120"/>
              </a:rPr>
              <a:t>DFS steps:</a:t>
            </a:r>
            <a:endParaRPr lang="en-US" sz="1300" dirty="0"/>
          </a:p>
        </p:txBody>
      </p:sp>
      <p:sp>
        <p:nvSpPr>
          <p:cNvPr id="15" name="Text 13"/>
          <p:cNvSpPr/>
          <p:nvPr/>
        </p:nvSpPr>
        <p:spPr>
          <a:xfrm>
            <a:off x="7452360" y="3154680"/>
            <a:ext cx="3291840" cy="411480"/>
          </a:xfrm>
          <a:prstGeom prst="rect">
            <a:avLst/>
          </a:prstGeom>
          <a:noFill/>
          <a:ln/>
        </p:spPr>
        <p:txBody>
          <a:bodyPr wrap="square" lIns="635" tIns="635" rIns="635" bIns="635" rtlCol="0" anchor="ctr">
            <a:normAutofit/>
          </a:bodyPr>
          <a:lstStyle/>
          <a:p>
            <a:pPr algn="ctr" indent="0" marL="0">
              <a:buNone/>
            </a:pPr>
            <a:r>
              <a:rPr lang="en-US" sz="2300" b="1" dirty="0">
                <a:solidFill>
                  <a:srgbClr val="DC2626"/>
                </a:solidFill>
                <a:latin typeface="Aptos" pitchFamily="34" charset="0"/>
                <a:ea typeface="Aptos" pitchFamily="34" charset="-122"/>
                <a:cs typeface="Aptos" pitchFamily="34" charset="-120"/>
              </a:rPr>
              <a:t>a → … → t</a:t>
            </a:r>
            <a:endParaRPr lang="en-US" sz="2300" dirty="0"/>
          </a:p>
        </p:txBody>
      </p:sp>
      <p:sp>
        <p:nvSpPr>
          <p:cNvPr id="16" name="Text 14"/>
          <p:cNvSpPr/>
          <p:nvPr/>
        </p:nvSpPr>
        <p:spPr>
          <a:xfrm>
            <a:off x="7132320" y="3840480"/>
            <a:ext cx="3749040" cy="50292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The learned mapping can fail to extrapolate the number of steps.</a:t>
            </a:r>
            <a:endParaRPr lang="en-US" sz="15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Inductive scratchpad: the key fix</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Learn the transition rule once, then iterate it.</a:t>
            </a:r>
            <a:endParaRPr lang="en-US" sz="1200" dirty="0"/>
          </a:p>
        </p:txBody>
      </p:sp>
      <p:sp>
        <p:nvSpPr>
          <p:cNvPr id="4" name="Text 2"/>
          <p:cNvSpPr/>
          <p:nvPr/>
        </p:nvSpPr>
        <p:spPr>
          <a:xfrm>
            <a:off x="731520" y="1298448"/>
            <a:ext cx="3931920" cy="320040"/>
          </a:xfrm>
          <a:prstGeom prst="rect">
            <a:avLst/>
          </a:prstGeom>
          <a:noFill/>
          <a:ln/>
        </p:spPr>
        <p:txBody>
          <a:bodyPr wrap="square" lIns="635" tIns="635" rIns="635" bIns="635" rtlCol="0" anchor="ctr">
            <a:normAutofit/>
          </a:bodyPr>
          <a:lstStyle/>
          <a:p>
            <a:pPr algn="ctr" indent="0" marL="0">
              <a:buNone/>
            </a:pPr>
            <a:r>
              <a:rPr lang="en-US" sz="1500" b="1" dirty="0">
                <a:solidFill>
                  <a:srgbClr val="52606D"/>
                </a:solidFill>
                <a:latin typeface="Aptos" pitchFamily="34" charset="0"/>
                <a:ea typeface="Aptos" pitchFamily="34" charset="-122"/>
                <a:cs typeface="Aptos" pitchFamily="34" charset="-120"/>
              </a:rPr>
              <a:t>Fully educated scratchpad</a:t>
            </a:r>
            <a:endParaRPr lang="en-US" sz="1500" dirty="0"/>
          </a:p>
        </p:txBody>
      </p:sp>
      <p:sp>
        <p:nvSpPr>
          <p:cNvPr id="5" name="Shape 3"/>
          <p:cNvSpPr/>
          <p:nvPr/>
        </p:nvSpPr>
        <p:spPr>
          <a:xfrm>
            <a:off x="914400" y="1828800"/>
            <a:ext cx="685800" cy="384048"/>
          </a:xfrm>
          <a:prstGeom prst="roundRect">
            <a:avLst>
              <a:gd name="adj" fmla="val 19048"/>
            </a:avLst>
          </a:prstGeom>
          <a:solidFill>
            <a:srgbClr val="FFFFFF"/>
          </a:solidFill>
          <a:ln w="12700">
            <a:solidFill>
              <a:srgbClr val="CBD5E1"/>
            </a:solidFill>
            <a:prstDash val="solid"/>
          </a:ln>
        </p:spPr>
      </p:sp>
      <p:sp>
        <p:nvSpPr>
          <p:cNvPr id="6" name="Text 4"/>
          <p:cNvSpPr/>
          <p:nvPr/>
        </p:nvSpPr>
        <p:spPr>
          <a:xfrm>
            <a:off x="91440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s₁</a:t>
            </a:r>
            <a:endParaRPr lang="en-US" sz="1300" dirty="0"/>
          </a:p>
        </p:txBody>
      </p:sp>
      <p:sp>
        <p:nvSpPr>
          <p:cNvPr id="7" name="Shape 5"/>
          <p:cNvSpPr/>
          <p:nvPr/>
        </p:nvSpPr>
        <p:spPr>
          <a:xfrm>
            <a:off x="1664208" y="2029968"/>
            <a:ext cx="484632" cy="0"/>
          </a:xfrm>
          <a:prstGeom prst="line">
            <a:avLst/>
          </a:prstGeom>
          <a:noFill/>
          <a:ln w="22860">
            <a:solidFill>
              <a:srgbClr val="52606D"/>
            </a:solidFill>
            <a:prstDash val="solid"/>
            <a:headEnd type="none"/>
            <a:tailEnd type="triangle"/>
          </a:ln>
        </p:spPr>
      </p:sp>
      <p:sp>
        <p:nvSpPr>
          <p:cNvPr id="8" name="Shape 6"/>
          <p:cNvSpPr/>
          <p:nvPr/>
        </p:nvSpPr>
        <p:spPr>
          <a:xfrm>
            <a:off x="2240280" y="1828800"/>
            <a:ext cx="685800" cy="384048"/>
          </a:xfrm>
          <a:prstGeom prst="roundRect">
            <a:avLst>
              <a:gd name="adj" fmla="val 19048"/>
            </a:avLst>
          </a:prstGeom>
          <a:solidFill>
            <a:srgbClr val="FFFFFF"/>
          </a:solidFill>
          <a:ln w="12700">
            <a:solidFill>
              <a:srgbClr val="CBD5E1"/>
            </a:solidFill>
            <a:prstDash val="solid"/>
          </a:ln>
        </p:spPr>
      </p:sp>
      <p:sp>
        <p:nvSpPr>
          <p:cNvPr id="9" name="Text 7"/>
          <p:cNvSpPr/>
          <p:nvPr/>
        </p:nvSpPr>
        <p:spPr>
          <a:xfrm>
            <a:off x="224028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s₂</a:t>
            </a:r>
            <a:endParaRPr lang="en-US" sz="1300" dirty="0"/>
          </a:p>
        </p:txBody>
      </p:sp>
      <p:sp>
        <p:nvSpPr>
          <p:cNvPr id="10" name="Shape 8"/>
          <p:cNvSpPr/>
          <p:nvPr/>
        </p:nvSpPr>
        <p:spPr>
          <a:xfrm>
            <a:off x="2990088" y="2029968"/>
            <a:ext cx="484632" cy="0"/>
          </a:xfrm>
          <a:prstGeom prst="line">
            <a:avLst/>
          </a:prstGeom>
          <a:noFill/>
          <a:ln w="22860">
            <a:solidFill>
              <a:srgbClr val="52606D"/>
            </a:solidFill>
            <a:prstDash val="solid"/>
            <a:headEnd type="none"/>
            <a:tailEnd type="triangle"/>
          </a:ln>
        </p:spPr>
      </p:sp>
      <p:sp>
        <p:nvSpPr>
          <p:cNvPr id="11" name="Shape 9"/>
          <p:cNvSpPr/>
          <p:nvPr/>
        </p:nvSpPr>
        <p:spPr>
          <a:xfrm>
            <a:off x="3566160" y="1828800"/>
            <a:ext cx="685800" cy="384048"/>
          </a:xfrm>
          <a:prstGeom prst="roundRect">
            <a:avLst>
              <a:gd name="adj" fmla="val 19048"/>
            </a:avLst>
          </a:prstGeom>
          <a:solidFill>
            <a:srgbClr val="FFFFFF"/>
          </a:solidFill>
          <a:ln w="12700">
            <a:solidFill>
              <a:srgbClr val="CBD5E1"/>
            </a:solidFill>
            <a:prstDash val="solid"/>
          </a:ln>
        </p:spPr>
      </p:sp>
      <p:sp>
        <p:nvSpPr>
          <p:cNvPr id="12" name="Text 10"/>
          <p:cNvSpPr/>
          <p:nvPr/>
        </p:nvSpPr>
        <p:spPr>
          <a:xfrm>
            <a:off x="356616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s₃</a:t>
            </a:r>
            <a:endParaRPr lang="en-US" sz="1300" dirty="0"/>
          </a:p>
        </p:txBody>
      </p:sp>
      <p:sp>
        <p:nvSpPr>
          <p:cNvPr id="13" name="Shape 11"/>
          <p:cNvSpPr/>
          <p:nvPr/>
        </p:nvSpPr>
        <p:spPr>
          <a:xfrm>
            <a:off x="4315968" y="2029968"/>
            <a:ext cx="484632" cy="0"/>
          </a:xfrm>
          <a:prstGeom prst="line">
            <a:avLst/>
          </a:prstGeom>
          <a:noFill/>
          <a:ln w="22860">
            <a:solidFill>
              <a:srgbClr val="52606D"/>
            </a:solidFill>
            <a:prstDash val="solid"/>
            <a:headEnd type="none"/>
            <a:tailEnd type="triangle"/>
          </a:ln>
        </p:spPr>
      </p:sp>
      <p:sp>
        <p:nvSpPr>
          <p:cNvPr id="14" name="Shape 12"/>
          <p:cNvSpPr/>
          <p:nvPr/>
        </p:nvSpPr>
        <p:spPr>
          <a:xfrm>
            <a:off x="4937760" y="1828800"/>
            <a:ext cx="502920" cy="384048"/>
          </a:xfrm>
          <a:prstGeom prst="roundRect">
            <a:avLst>
              <a:gd name="adj" fmla="val 19048"/>
            </a:avLst>
          </a:prstGeom>
          <a:solidFill>
            <a:srgbClr val="FFFFFF"/>
          </a:solidFill>
          <a:ln w="12700">
            <a:solidFill>
              <a:srgbClr val="CBD5E1"/>
            </a:solidFill>
            <a:prstDash val="solid"/>
          </a:ln>
        </p:spPr>
      </p:sp>
      <p:sp>
        <p:nvSpPr>
          <p:cNvPr id="15" name="Text 13"/>
          <p:cNvSpPr/>
          <p:nvPr/>
        </p:nvSpPr>
        <p:spPr>
          <a:xfrm>
            <a:off x="4937760" y="1847088"/>
            <a:ext cx="50292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t>
            </a:r>
            <a:endParaRPr lang="en-US" sz="1300" dirty="0"/>
          </a:p>
        </p:txBody>
      </p:sp>
      <p:sp>
        <p:nvSpPr>
          <p:cNvPr id="16" name="Text 14"/>
          <p:cNvSpPr/>
          <p:nvPr/>
        </p:nvSpPr>
        <p:spPr>
          <a:xfrm>
            <a:off x="6400800" y="1298448"/>
            <a:ext cx="3931920" cy="320040"/>
          </a:xfrm>
          <a:prstGeom prst="rect">
            <a:avLst/>
          </a:prstGeom>
          <a:noFill/>
          <a:ln/>
        </p:spPr>
        <p:txBody>
          <a:bodyPr wrap="square" lIns="635" tIns="635" rIns="635" bIns="635" rtlCol="0" anchor="ctr">
            <a:normAutofit/>
          </a:bodyPr>
          <a:lstStyle/>
          <a:p>
            <a:pPr algn="ctr" indent="0" marL="0">
              <a:buNone/>
            </a:pPr>
            <a:r>
              <a:rPr lang="en-US" sz="1500" b="1" dirty="0">
                <a:solidFill>
                  <a:srgbClr val="15803D"/>
                </a:solidFill>
                <a:latin typeface="Aptos" pitchFamily="34" charset="0"/>
                <a:ea typeface="Aptos" pitchFamily="34" charset="-122"/>
                <a:cs typeface="Aptos" pitchFamily="34" charset="-120"/>
              </a:rPr>
              <a:t>Inductive scratchpad</a:t>
            </a:r>
            <a:endParaRPr lang="en-US" sz="1500" dirty="0"/>
          </a:p>
        </p:txBody>
      </p:sp>
      <p:sp>
        <p:nvSpPr>
          <p:cNvPr id="17" name="Shape 15"/>
          <p:cNvSpPr/>
          <p:nvPr/>
        </p:nvSpPr>
        <p:spPr>
          <a:xfrm>
            <a:off x="6583680" y="1828800"/>
            <a:ext cx="685800" cy="384048"/>
          </a:xfrm>
          <a:prstGeom prst="roundRect">
            <a:avLst>
              <a:gd name="adj" fmla="val 19048"/>
            </a:avLst>
          </a:prstGeom>
          <a:solidFill>
            <a:srgbClr val="F0FDF4"/>
          </a:solidFill>
          <a:ln w="12700">
            <a:solidFill>
              <a:srgbClr val="86EFAC"/>
            </a:solidFill>
            <a:prstDash val="solid"/>
          </a:ln>
        </p:spPr>
      </p:sp>
      <p:sp>
        <p:nvSpPr>
          <p:cNvPr id="18" name="Text 16"/>
          <p:cNvSpPr/>
          <p:nvPr/>
        </p:nvSpPr>
        <p:spPr>
          <a:xfrm>
            <a:off x="6583680" y="1847088"/>
            <a:ext cx="68580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sᵢ</a:t>
            </a:r>
            <a:endParaRPr lang="en-US" sz="1300" dirty="0"/>
          </a:p>
        </p:txBody>
      </p:sp>
      <p:sp>
        <p:nvSpPr>
          <p:cNvPr id="19" name="Shape 17"/>
          <p:cNvSpPr/>
          <p:nvPr/>
        </p:nvSpPr>
        <p:spPr>
          <a:xfrm>
            <a:off x="7342632" y="2029968"/>
            <a:ext cx="612648" cy="0"/>
          </a:xfrm>
          <a:prstGeom prst="line">
            <a:avLst/>
          </a:prstGeom>
          <a:noFill/>
          <a:ln w="31750">
            <a:solidFill>
              <a:srgbClr val="15803D"/>
            </a:solidFill>
            <a:prstDash val="solid"/>
            <a:headEnd type="none"/>
            <a:tailEnd type="triangle"/>
          </a:ln>
        </p:spPr>
      </p:sp>
      <p:sp>
        <p:nvSpPr>
          <p:cNvPr id="20" name="Shape 18"/>
          <p:cNvSpPr/>
          <p:nvPr/>
        </p:nvSpPr>
        <p:spPr>
          <a:xfrm>
            <a:off x="8092440" y="1828800"/>
            <a:ext cx="1325880" cy="384048"/>
          </a:xfrm>
          <a:prstGeom prst="roundRect">
            <a:avLst>
              <a:gd name="adj" fmla="val 19048"/>
            </a:avLst>
          </a:prstGeom>
          <a:solidFill>
            <a:srgbClr val="F0FDF4"/>
          </a:solidFill>
          <a:ln w="12700">
            <a:solidFill>
              <a:srgbClr val="86EFAC"/>
            </a:solidFill>
            <a:prstDash val="solid"/>
          </a:ln>
        </p:spPr>
      </p:sp>
      <p:sp>
        <p:nvSpPr>
          <p:cNvPr id="21" name="Text 19"/>
          <p:cNvSpPr/>
          <p:nvPr/>
        </p:nvSpPr>
        <p:spPr>
          <a:xfrm>
            <a:off x="8092440" y="1847088"/>
            <a:ext cx="13258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g(Q,sᵢ)</a:t>
            </a:r>
            <a:endParaRPr lang="en-US" sz="1300" dirty="0"/>
          </a:p>
        </p:txBody>
      </p:sp>
      <p:sp>
        <p:nvSpPr>
          <p:cNvPr id="22" name="Shape 20"/>
          <p:cNvSpPr/>
          <p:nvPr/>
        </p:nvSpPr>
        <p:spPr>
          <a:xfrm>
            <a:off x="9491472" y="2029968"/>
            <a:ext cx="475488" cy="0"/>
          </a:xfrm>
          <a:prstGeom prst="line">
            <a:avLst/>
          </a:prstGeom>
          <a:noFill/>
          <a:ln w="31750">
            <a:solidFill>
              <a:srgbClr val="15803D"/>
            </a:solidFill>
            <a:prstDash val="solid"/>
            <a:headEnd type="none"/>
            <a:tailEnd type="triangle"/>
          </a:ln>
        </p:spPr>
      </p:sp>
      <p:sp>
        <p:nvSpPr>
          <p:cNvPr id="23" name="Shape 21"/>
          <p:cNvSpPr/>
          <p:nvPr/>
        </p:nvSpPr>
        <p:spPr>
          <a:xfrm>
            <a:off x="10076688" y="1828800"/>
            <a:ext cx="822960" cy="384048"/>
          </a:xfrm>
          <a:prstGeom prst="roundRect">
            <a:avLst>
              <a:gd name="adj" fmla="val 19048"/>
            </a:avLst>
          </a:prstGeom>
          <a:solidFill>
            <a:srgbClr val="F0FDF4"/>
          </a:solidFill>
          <a:ln w="12700">
            <a:solidFill>
              <a:srgbClr val="86EFAC"/>
            </a:solidFill>
            <a:prstDash val="solid"/>
          </a:ln>
        </p:spPr>
      </p:sp>
      <p:sp>
        <p:nvSpPr>
          <p:cNvPr id="24" name="Text 22"/>
          <p:cNvSpPr/>
          <p:nvPr/>
        </p:nvSpPr>
        <p:spPr>
          <a:xfrm>
            <a:off x="10076688" y="1847088"/>
            <a:ext cx="8229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sᵢ₊₁</a:t>
            </a:r>
            <a:endParaRPr lang="en-US" sz="1300" dirty="0"/>
          </a:p>
        </p:txBody>
      </p:sp>
      <p:sp>
        <p:nvSpPr>
          <p:cNvPr id="25" name="Shape 23"/>
          <p:cNvSpPr/>
          <p:nvPr/>
        </p:nvSpPr>
        <p:spPr>
          <a:xfrm>
            <a:off x="1005840" y="3108960"/>
            <a:ext cx="9966960" cy="1737360"/>
          </a:xfrm>
          <a:prstGeom prst="roundRect">
            <a:avLst>
              <a:gd name="adj" fmla="val 3158"/>
            </a:avLst>
          </a:prstGeom>
          <a:solidFill>
            <a:srgbClr val="F0FDF4"/>
          </a:solidFill>
          <a:ln w="12700">
            <a:solidFill>
              <a:srgbClr val="BBF7D0"/>
            </a:solidFill>
            <a:prstDash val="solid"/>
          </a:ln>
        </p:spPr>
      </p:sp>
      <p:sp>
        <p:nvSpPr>
          <p:cNvPr id="26" name="Text 24"/>
          <p:cNvSpPr/>
          <p:nvPr/>
        </p:nvSpPr>
        <p:spPr>
          <a:xfrm>
            <a:off x="1371600" y="3456432"/>
            <a:ext cx="9235440" cy="475488"/>
          </a:xfrm>
          <a:prstGeom prst="rect">
            <a:avLst/>
          </a:prstGeom>
          <a:noFill/>
          <a:ln/>
        </p:spPr>
        <p:txBody>
          <a:bodyPr wrap="square" lIns="635" tIns="635" rIns="635" bIns="635" rtlCol="0" anchor="ctr">
            <a:normAutofit/>
          </a:bodyPr>
          <a:lstStyle/>
          <a:p>
            <a:pPr algn="ctr" indent="0" marL="0">
              <a:buNone/>
            </a:pPr>
            <a:r>
              <a:rPr lang="en-US" sz="2500" b="1" dirty="0">
                <a:solidFill>
                  <a:srgbClr val="15803D"/>
                </a:solidFill>
                <a:latin typeface="Aptos" pitchFamily="34" charset="0"/>
                <a:ea typeface="Aptos" pitchFamily="34" charset="-122"/>
                <a:cs typeface="Aptos" pitchFamily="34" charset="-120"/>
              </a:rPr>
              <a:t>Same local transition at every step</a:t>
            </a:r>
            <a:endParaRPr lang="en-US" sz="2500" dirty="0"/>
          </a:p>
        </p:txBody>
      </p:sp>
      <p:sp>
        <p:nvSpPr>
          <p:cNvPr id="27" name="Text 25"/>
          <p:cNvSpPr/>
          <p:nvPr/>
        </p:nvSpPr>
        <p:spPr>
          <a:xfrm>
            <a:off x="1325880" y="4096512"/>
            <a:ext cx="9326880" cy="384048"/>
          </a:xfrm>
          <a:prstGeom prst="rect">
            <a:avLst/>
          </a:prstGeom>
          <a:noFill/>
          <a:ln/>
        </p:spPr>
        <p:txBody>
          <a:bodyPr wrap="square" lIns="635" tIns="635" rIns="635" bIns="635" rtlCol="0" anchor="ctr">
            <a:normAutofit/>
          </a:bodyPr>
          <a:lstStyle/>
          <a:p>
            <a:pPr algn="ctr" indent="0" marL="0">
              <a:buNone/>
            </a:pPr>
            <a:r>
              <a:rPr lang="en-US" sz="1600" dirty="0">
                <a:solidFill>
                  <a:srgbClr val="102A43"/>
                </a:solidFill>
                <a:latin typeface="Aptos" pitchFamily="34" charset="0"/>
                <a:ea typeface="Aptos" pitchFamily="34" charset="-122"/>
                <a:cs typeface="Aptos" pitchFamily="34" charset="-120"/>
              </a:rPr>
              <a:t>→ the model learns induction, not the specific training-time proof length</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Why induction should generalize</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representation of state is invariant to how many times the transition has been applied.</a:t>
            </a:r>
            <a:endParaRPr lang="en-US" sz="1200" dirty="0"/>
          </a:p>
        </p:txBody>
      </p:sp>
      <p:sp>
        <p:nvSpPr>
          <p:cNvPr id="4" name="Shape 2"/>
          <p:cNvSpPr/>
          <p:nvPr/>
        </p:nvSpPr>
        <p:spPr>
          <a:xfrm>
            <a:off x="960120" y="1828800"/>
            <a:ext cx="530352" cy="530352"/>
          </a:xfrm>
          <a:prstGeom prst="ellipse">
            <a:avLst/>
          </a:prstGeom>
          <a:solidFill>
            <a:srgbClr val="15803D"/>
          </a:solidFill>
          <a:ln w="12700">
            <a:solidFill>
              <a:srgbClr val="15803D"/>
            </a:solidFill>
            <a:prstDash val="solid"/>
          </a:ln>
        </p:spPr>
      </p:sp>
      <p:sp>
        <p:nvSpPr>
          <p:cNvPr id="5" name="Text 3"/>
          <p:cNvSpPr/>
          <p:nvPr/>
        </p:nvSpPr>
        <p:spPr>
          <a:xfrm>
            <a:off x="960120" y="1847088"/>
            <a:ext cx="530352" cy="4937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s1</a:t>
            </a:r>
            <a:endParaRPr lang="en-US" sz="1200" dirty="0"/>
          </a:p>
        </p:txBody>
      </p:sp>
      <p:sp>
        <p:nvSpPr>
          <p:cNvPr id="6" name="Shape 4"/>
          <p:cNvSpPr/>
          <p:nvPr/>
        </p:nvSpPr>
        <p:spPr>
          <a:xfrm>
            <a:off x="1508760" y="2084832"/>
            <a:ext cx="548640" cy="0"/>
          </a:xfrm>
          <a:prstGeom prst="line">
            <a:avLst/>
          </a:prstGeom>
          <a:noFill/>
          <a:ln w="31750">
            <a:solidFill>
              <a:srgbClr val="15803D"/>
            </a:solidFill>
            <a:prstDash val="solid"/>
            <a:headEnd type="none"/>
            <a:tailEnd type="triangle"/>
          </a:ln>
        </p:spPr>
      </p:sp>
      <p:sp>
        <p:nvSpPr>
          <p:cNvPr id="7" name="Shape 5"/>
          <p:cNvSpPr/>
          <p:nvPr/>
        </p:nvSpPr>
        <p:spPr>
          <a:xfrm>
            <a:off x="2194560" y="1828800"/>
            <a:ext cx="530352" cy="530352"/>
          </a:xfrm>
          <a:prstGeom prst="ellipse">
            <a:avLst/>
          </a:prstGeom>
          <a:solidFill>
            <a:srgbClr val="15803D"/>
          </a:solidFill>
          <a:ln w="12700">
            <a:solidFill>
              <a:srgbClr val="15803D"/>
            </a:solidFill>
            <a:prstDash val="solid"/>
          </a:ln>
        </p:spPr>
      </p:sp>
      <p:sp>
        <p:nvSpPr>
          <p:cNvPr id="8" name="Text 6"/>
          <p:cNvSpPr/>
          <p:nvPr/>
        </p:nvSpPr>
        <p:spPr>
          <a:xfrm>
            <a:off x="2194560" y="1847088"/>
            <a:ext cx="530352" cy="4937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s2</a:t>
            </a:r>
            <a:endParaRPr lang="en-US" sz="1200" dirty="0"/>
          </a:p>
        </p:txBody>
      </p:sp>
      <p:sp>
        <p:nvSpPr>
          <p:cNvPr id="9" name="Shape 7"/>
          <p:cNvSpPr/>
          <p:nvPr/>
        </p:nvSpPr>
        <p:spPr>
          <a:xfrm>
            <a:off x="2743200" y="2084832"/>
            <a:ext cx="548640" cy="0"/>
          </a:xfrm>
          <a:prstGeom prst="line">
            <a:avLst/>
          </a:prstGeom>
          <a:noFill/>
          <a:ln w="31750">
            <a:solidFill>
              <a:srgbClr val="15803D"/>
            </a:solidFill>
            <a:prstDash val="solid"/>
            <a:headEnd type="none"/>
            <a:tailEnd type="triangle"/>
          </a:ln>
        </p:spPr>
      </p:sp>
      <p:sp>
        <p:nvSpPr>
          <p:cNvPr id="10" name="Shape 8"/>
          <p:cNvSpPr/>
          <p:nvPr/>
        </p:nvSpPr>
        <p:spPr>
          <a:xfrm>
            <a:off x="3429000" y="1828800"/>
            <a:ext cx="530352" cy="530352"/>
          </a:xfrm>
          <a:prstGeom prst="ellipse">
            <a:avLst/>
          </a:prstGeom>
          <a:solidFill>
            <a:srgbClr val="15803D"/>
          </a:solidFill>
          <a:ln w="12700">
            <a:solidFill>
              <a:srgbClr val="15803D"/>
            </a:solidFill>
            <a:prstDash val="solid"/>
          </a:ln>
        </p:spPr>
      </p:sp>
      <p:sp>
        <p:nvSpPr>
          <p:cNvPr id="11" name="Text 9"/>
          <p:cNvSpPr/>
          <p:nvPr/>
        </p:nvSpPr>
        <p:spPr>
          <a:xfrm>
            <a:off x="3429000" y="1847088"/>
            <a:ext cx="530352" cy="4937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s3</a:t>
            </a:r>
            <a:endParaRPr lang="en-US" sz="1200" dirty="0"/>
          </a:p>
        </p:txBody>
      </p:sp>
      <p:sp>
        <p:nvSpPr>
          <p:cNvPr id="12" name="Shape 10"/>
          <p:cNvSpPr/>
          <p:nvPr/>
        </p:nvSpPr>
        <p:spPr>
          <a:xfrm>
            <a:off x="3977640" y="2084832"/>
            <a:ext cx="548640" cy="0"/>
          </a:xfrm>
          <a:prstGeom prst="line">
            <a:avLst/>
          </a:prstGeom>
          <a:noFill/>
          <a:ln w="31750">
            <a:solidFill>
              <a:srgbClr val="15803D"/>
            </a:solidFill>
            <a:prstDash val="solid"/>
            <a:headEnd type="none"/>
            <a:tailEnd type="triangle"/>
          </a:ln>
        </p:spPr>
      </p:sp>
      <p:sp>
        <p:nvSpPr>
          <p:cNvPr id="13" name="Shape 11"/>
          <p:cNvSpPr/>
          <p:nvPr/>
        </p:nvSpPr>
        <p:spPr>
          <a:xfrm>
            <a:off x="4663440" y="1828800"/>
            <a:ext cx="530352" cy="530352"/>
          </a:xfrm>
          <a:prstGeom prst="ellipse">
            <a:avLst/>
          </a:prstGeom>
          <a:solidFill>
            <a:srgbClr val="15803D"/>
          </a:solidFill>
          <a:ln w="12700">
            <a:solidFill>
              <a:srgbClr val="15803D"/>
            </a:solidFill>
            <a:prstDash val="solid"/>
          </a:ln>
        </p:spPr>
      </p:sp>
      <p:sp>
        <p:nvSpPr>
          <p:cNvPr id="14" name="Text 12"/>
          <p:cNvSpPr/>
          <p:nvPr/>
        </p:nvSpPr>
        <p:spPr>
          <a:xfrm>
            <a:off x="4663440" y="1847088"/>
            <a:ext cx="530352" cy="4937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s4</a:t>
            </a:r>
            <a:endParaRPr lang="en-US" sz="1200" dirty="0"/>
          </a:p>
        </p:txBody>
      </p:sp>
      <p:sp>
        <p:nvSpPr>
          <p:cNvPr id="15" name="Shape 13"/>
          <p:cNvSpPr/>
          <p:nvPr/>
        </p:nvSpPr>
        <p:spPr>
          <a:xfrm>
            <a:off x="5212080" y="2084832"/>
            <a:ext cx="548640" cy="0"/>
          </a:xfrm>
          <a:prstGeom prst="line">
            <a:avLst/>
          </a:prstGeom>
          <a:noFill/>
          <a:ln w="31750">
            <a:solidFill>
              <a:srgbClr val="15803D"/>
            </a:solidFill>
            <a:prstDash val="solid"/>
            <a:headEnd type="none"/>
            <a:tailEnd type="triangle"/>
          </a:ln>
        </p:spPr>
      </p:sp>
      <p:sp>
        <p:nvSpPr>
          <p:cNvPr id="16" name="Shape 14"/>
          <p:cNvSpPr/>
          <p:nvPr/>
        </p:nvSpPr>
        <p:spPr>
          <a:xfrm>
            <a:off x="5897880" y="1828800"/>
            <a:ext cx="530352" cy="530352"/>
          </a:xfrm>
          <a:prstGeom prst="ellipse">
            <a:avLst/>
          </a:prstGeom>
          <a:solidFill>
            <a:srgbClr val="15803D"/>
          </a:solidFill>
          <a:ln w="12700">
            <a:solidFill>
              <a:srgbClr val="15803D"/>
            </a:solidFill>
            <a:prstDash val="solid"/>
          </a:ln>
        </p:spPr>
      </p:sp>
      <p:sp>
        <p:nvSpPr>
          <p:cNvPr id="17" name="Text 15"/>
          <p:cNvSpPr/>
          <p:nvPr/>
        </p:nvSpPr>
        <p:spPr>
          <a:xfrm>
            <a:off x="5897880" y="1847088"/>
            <a:ext cx="530352" cy="4937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s5</a:t>
            </a:r>
            <a:endParaRPr lang="en-US" sz="1200" dirty="0"/>
          </a:p>
        </p:txBody>
      </p:sp>
      <p:sp>
        <p:nvSpPr>
          <p:cNvPr id="18" name="Text 16"/>
          <p:cNvSpPr/>
          <p:nvPr/>
        </p:nvSpPr>
        <p:spPr>
          <a:xfrm>
            <a:off x="2194560" y="2633472"/>
            <a:ext cx="219456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5803D"/>
                </a:solidFill>
                <a:latin typeface="Aptos" pitchFamily="34" charset="0"/>
                <a:ea typeface="Aptos" pitchFamily="34" charset="-122"/>
                <a:cs typeface="Aptos" pitchFamily="34" charset="-120"/>
              </a:rPr>
              <a:t>train on 5 steps</a:t>
            </a:r>
            <a:endParaRPr lang="en-US" sz="1400" dirty="0"/>
          </a:p>
        </p:txBody>
      </p:sp>
      <p:sp>
        <p:nvSpPr>
          <p:cNvPr id="19" name="Shape 17"/>
          <p:cNvSpPr/>
          <p:nvPr/>
        </p:nvSpPr>
        <p:spPr>
          <a:xfrm>
            <a:off x="6400800" y="2057400"/>
            <a:ext cx="914400" cy="0"/>
          </a:xfrm>
          <a:prstGeom prst="line">
            <a:avLst/>
          </a:prstGeom>
          <a:noFill/>
          <a:ln w="50800">
            <a:solidFill>
              <a:srgbClr val="F97316"/>
            </a:solidFill>
            <a:prstDash val="solid"/>
            <a:headEnd type="none"/>
            <a:tailEnd type="triangle"/>
          </a:ln>
        </p:spPr>
      </p:sp>
      <p:sp>
        <p:nvSpPr>
          <p:cNvPr id="20" name="Shape 18"/>
          <p:cNvSpPr/>
          <p:nvPr/>
        </p:nvSpPr>
        <p:spPr>
          <a:xfrm>
            <a:off x="7543800" y="1828800"/>
            <a:ext cx="402336" cy="402336"/>
          </a:xfrm>
          <a:prstGeom prst="ellipse">
            <a:avLst/>
          </a:prstGeom>
          <a:solidFill>
            <a:srgbClr val="F97316"/>
          </a:solidFill>
          <a:ln w="12700">
            <a:solidFill>
              <a:srgbClr val="F97316"/>
            </a:solidFill>
            <a:prstDash val="solid"/>
          </a:ln>
        </p:spPr>
      </p:sp>
      <p:sp>
        <p:nvSpPr>
          <p:cNvPr id="21" name="Text 19"/>
          <p:cNvSpPr/>
          <p:nvPr/>
        </p:nvSpPr>
        <p:spPr>
          <a:xfrm>
            <a:off x="754380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s6</a:t>
            </a:r>
            <a:endParaRPr lang="en-US" sz="1200" dirty="0"/>
          </a:p>
        </p:txBody>
      </p:sp>
      <p:sp>
        <p:nvSpPr>
          <p:cNvPr id="22" name="Shape 20"/>
          <p:cNvSpPr/>
          <p:nvPr/>
        </p:nvSpPr>
        <p:spPr>
          <a:xfrm>
            <a:off x="8046720" y="1828800"/>
            <a:ext cx="402336" cy="402336"/>
          </a:xfrm>
          <a:prstGeom prst="ellipse">
            <a:avLst/>
          </a:prstGeom>
          <a:solidFill>
            <a:srgbClr val="F97316"/>
          </a:solidFill>
          <a:ln w="12700">
            <a:solidFill>
              <a:srgbClr val="F97316"/>
            </a:solidFill>
            <a:prstDash val="solid"/>
          </a:ln>
        </p:spPr>
      </p:sp>
      <p:sp>
        <p:nvSpPr>
          <p:cNvPr id="23" name="Text 21"/>
          <p:cNvSpPr/>
          <p:nvPr/>
        </p:nvSpPr>
        <p:spPr>
          <a:xfrm>
            <a:off x="804672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s7</a:t>
            </a:r>
            <a:endParaRPr lang="en-US" sz="1200" dirty="0"/>
          </a:p>
        </p:txBody>
      </p:sp>
      <p:sp>
        <p:nvSpPr>
          <p:cNvPr id="24" name="Shape 22"/>
          <p:cNvSpPr/>
          <p:nvPr/>
        </p:nvSpPr>
        <p:spPr>
          <a:xfrm>
            <a:off x="8549640" y="1828800"/>
            <a:ext cx="402336" cy="402336"/>
          </a:xfrm>
          <a:prstGeom prst="ellipse">
            <a:avLst/>
          </a:prstGeom>
          <a:solidFill>
            <a:srgbClr val="F97316"/>
          </a:solidFill>
          <a:ln w="12700">
            <a:solidFill>
              <a:srgbClr val="F97316"/>
            </a:solidFill>
            <a:prstDash val="solid"/>
          </a:ln>
        </p:spPr>
      </p:sp>
      <p:sp>
        <p:nvSpPr>
          <p:cNvPr id="25" name="Text 23"/>
          <p:cNvSpPr/>
          <p:nvPr/>
        </p:nvSpPr>
        <p:spPr>
          <a:xfrm>
            <a:off x="854964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s8</a:t>
            </a:r>
            <a:endParaRPr lang="en-US" sz="1200" dirty="0"/>
          </a:p>
        </p:txBody>
      </p:sp>
      <p:sp>
        <p:nvSpPr>
          <p:cNvPr id="26" name="Shape 24"/>
          <p:cNvSpPr/>
          <p:nvPr/>
        </p:nvSpPr>
        <p:spPr>
          <a:xfrm>
            <a:off x="9052560" y="1828800"/>
            <a:ext cx="402336" cy="402336"/>
          </a:xfrm>
          <a:prstGeom prst="ellipse">
            <a:avLst/>
          </a:prstGeom>
          <a:solidFill>
            <a:srgbClr val="F97316"/>
          </a:solidFill>
          <a:ln w="12700">
            <a:solidFill>
              <a:srgbClr val="F97316"/>
            </a:solidFill>
            <a:prstDash val="solid"/>
          </a:ln>
        </p:spPr>
      </p:sp>
      <p:sp>
        <p:nvSpPr>
          <p:cNvPr id="27" name="Text 25"/>
          <p:cNvSpPr/>
          <p:nvPr/>
        </p:nvSpPr>
        <p:spPr>
          <a:xfrm>
            <a:off x="905256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s9</a:t>
            </a:r>
            <a:endParaRPr lang="en-US" sz="1200" dirty="0"/>
          </a:p>
        </p:txBody>
      </p:sp>
      <p:sp>
        <p:nvSpPr>
          <p:cNvPr id="28" name="Shape 26"/>
          <p:cNvSpPr/>
          <p:nvPr/>
        </p:nvSpPr>
        <p:spPr>
          <a:xfrm>
            <a:off x="9555480" y="1828800"/>
            <a:ext cx="402336" cy="402336"/>
          </a:xfrm>
          <a:prstGeom prst="ellipse">
            <a:avLst/>
          </a:prstGeom>
          <a:solidFill>
            <a:srgbClr val="F97316"/>
          </a:solidFill>
          <a:ln w="12700">
            <a:solidFill>
              <a:srgbClr val="F97316"/>
            </a:solidFill>
            <a:prstDash val="solid"/>
          </a:ln>
        </p:spPr>
      </p:sp>
      <p:sp>
        <p:nvSpPr>
          <p:cNvPr id="29" name="Text 27"/>
          <p:cNvSpPr/>
          <p:nvPr/>
        </p:nvSpPr>
        <p:spPr>
          <a:xfrm>
            <a:off x="955548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s10</a:t>
            </a:r>
            <a:endParaRPr lang="en-US" sz="1200" dirty="0"/>
          </a:p>
        </p:txBody>
      </p:sp>
      <p:sp>
        <p:nvSpPr>
          <p:cNvPr id="30" name="Shape 28"/>
          <p:cNvSpPr/>
          <p:nvPr/>
        </p:nvSpPr>
        <p:spPr>
          <a:xfrm>
            <a:off x="10058400" y="1828800"/>
            <a:ext cx="402336" cy="402336"/>
          </a:xfrm>
          <a:prstGeom prst="ellipse">
            <a:avLst/>
          </a:prstGeom>
          <a:solidFill>
            <a:srgbClr val="F97316"/>
          </a:solidFill>
          <a:ln w="12700">
            <a:solidFill>
              <a:srgbClr val="F97316"/>
            </a:solidFill>
            <a:prstDash val="solid"/>
          </a:ln>
        </p:spPr>
      </p:sp>
      <p:sp>
        <p:nvSpPr>
          <p:cNvPr id="31" name="Text 29"/>
          <p:cNvSpPr/>
          <p:nvPr/>
        </p:nvSpPr>
        <p:spPr>
          <a:xfrm>
            <a:off x="1005840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s11</a:t>
            </a:r>
            <a:endParaRPr lang="en-US" sz="1200" dirty="0"/>
          </a:p>
        </p:txBody>
      </p:sp>
      <p:sp>
        <p:nvSpPr>
          <p:cNvPr id="32" name="Shape 30"/>
          <p:cNvSpPr/>
          <p:nvPr/>
        </p:nvSpPr>
        <p:spPr>
          <a:xfrm>
            <a:off x="10561320" y="1828800"/>
            <a:ext cx="402336" cy="402336"/>
          </a:xfrm>
          <a:prstGeom prst="ellipse">
            <a:avLst/>
          </a:prstGeom>
          <a:solidFill>
            <a:srgbClr val="F97316"/>
          </a:solidFill>
          <a:ln w="12700">
            <a:solidFill>
              <a:srgbClr val="F97316"/>
            </a:solidFill>
            <a:prstDash val="solid"/>
          </a:ln>
        </p:spPr>
      </p:sp>
      <p:sp>
        <p:nvSpPr>
          <p:cNvPr id="33" name="Text 31"/>
          <p:cNvSpPr/>
          <p:nvPr/>
        </p:nvSpPr>
        <p:spPr>
          <a:xfrm>
            <a:off x="10561320" y="1847088"/>
            <a:ext cx="402336" cy="365760"/>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s12</a:t>
            </a:r>
            <a:endParaRPr lang="en-US" sz="1200" dirty="0"/>
          </a:p>
        </p:txBody>
      </p:sp>
      <p:sp>
        <p:nvSpPr>
          <p:cNvPr id="34" name="Text 32"/>
          <p:cNvSpPr/>
          <p:nvPr/>
        </p:nvSpPr>
        <p:spPr>
          <a:xfrm>
            <a:off x="6995160" y="2633472"/>
            <a:ext cx="3657600" cy="320040"/>
          </a:xfrm>
          <a:prstGeom prst="rect">
            <a:avLst/>
          </a:prstGeom>
          <a:noFill/>
          <a:ln/>
        </p:spPr>
        <p:txBody>
          <a:bodyPr wrap="square" lIns="635" tIns="635" rIns="635" bIns="635" rtlCol="0" anchor="ctr">
            <a:normAutofit/>
          </a:bodyPr>
          <a:lstStyle/>
          <a:p>
            <a:pPr algn="ctr" indent="0" marL="0">
              <a:buNone/>
            </a:pPr>
            <a:r>
              <a:rPr lang="en-US" sz="1400" b="1" dirty="0">
                <a:solidFill>
                  <a:srgbClr val="F97316"/>
                </a:solidFill>
                <a:latin typeface="Aptos" pitchFamily="34" charset="0"/>
                <a:ea typeface="Aptos" pitchFamily="34" charset="-122"/>
                <a:cs typeface="Aptos" pitchFamily="34" charset="-120"/>
              </a:rPr>
              <a:t>reuse same transition for more steps</a:t>
            </a:r>
            <a:endParaRPr lang="en-US" sz="1400" dirty="0"/>
          </a:p>
        </p:txBody>
      </p:sp>
      <p:sp>
        <p:nvSpPr>
          <p:cNvPr id="35" name="Text 33"/>
          <p:cNvSpPr/>
          <p:nvPr/>
        </p:nvSpPr>
        <p:spPr>
          <a:xfrm>
            <a:off x="1371600" y="3703320"/>
            <a:ext cx="9418320" cy="502920"/>
          </a:xfrm>
          <a:prstGeom prst="rect">
            <a:avLst/>
          </a:prstGeom>
          <a:noFill/>
          <a:ln/>
        </p:spPr>
        <p:txBody>
          <a:bodyPr wrap="square" lIns="635" tIns="635" rIns="635" bIns="635" rtlCol="0" anchor="ctr">
            <a:normAutofit/>
          </a:bodyPr>
          <a:lstStyle/>
          <a:p>
            <a:pPr algn="ctr" indent="0" marL="0">
              <a:buNone/>
            </a:pPr>
            <a:r>
              <a:rPr lang="en-US" sz="2500" b="1" dirty="0">
                <a:solidFill>
                  <a:srgbClr val="102A43"/>
                </a:solidFill>
                <a:latin typeface="Aptos" pitchFamily="34" charset="0"/>
                <a:ea typeface="Aptos" pitchFamily="34" charset="-122"/>
                <a:cs typeface="Aptos" pitchFamily="34" charset="-120"/>
              </a:rPr>
              <a:t>That is the mechanism behind length generalization.</a:t>
            </a:r>
            <a:endParaRPr lang="en-US" sz="2500" dirty="0"/>
          </a:p>
        </p:txBody>
      </p:sp>
      <p:sp>
        <p:nvSpPr>
          <p:cNvPr id="36" name="Text 34"/>
          <p:cNvSpPr/>
          <p:nvPr/>
        </p:nvSpPr>
        <p:spPr>
          <a:xfrm>
            <a:off x="1463040" y="4434840"/>
            <a:ext cx="9235440" cy="502920"/>
          </a:xfrm>
          <a:prstGeom prst="rect">
            <a:avLst/>
          </a:prstGeom>
          <a:noFill/>
          <a:ln/>
        </p:spPr>
        <p:txBody>
          <a:bodyPr wrap="square" lIns="635" tIns="635" rIns="635" bIns="635" rtlCol="0" anchor="ctr">
            <a:normAutofit/>
          </a:bodyPr>
          <a:lstStyle/>
          <a:p>
            <a:pPr algn="ctr" indent="0" marL="0">
              <a:buNone/>
            </a:pPr>
            <a:r>
              <a:rPr lang="en-US" sz="1700" dirty="0">
                <a:solidFill>
                  <a:srgbClr val="52606D"/>
                </a:solidFill>
                <a:latin typeface="Aptos" pitchFamily="34" charset="0"/>
                <a:ea typeface="Aptos" pitchFamily="34" charset="-122"/>
                <a:cs typeface="Aptos" pitchFamily="34" charset="-120"/>
              </a:rPr>
              <a:t>It is a representational choice about the scratchpad—not just “more chain-of-thought tokens.”</a:t>
            </a:r>
            <a:endParaRPr lang="en-US" sz="17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Inductive scratchpad on the cycle task</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State = current node in the traversal.</a:t>
            </a:r>
            <a:endParaRPr lang="en-US" sz="1200" dirty="0"/>
          </a:p>
        </p:txBody>
      </p:sp>
      <p:sp>
        <p:nvSpPr>
          <p:cNvPr id="4" name="Shape 2"/>
          <p:cNvSpPr/>
          <p:nvPr/>
        </p:nvSpPr>
        <p:spPr>
          <a:xfrm>
            <a:off x="822960" y="1325880"/>
            <a:ext cx="10058400" cy="1828800"/>
          </a:xfrm>
          <a:prstGeom prst="roundRect">
            <a:avLst>
              <a:gd name="adj" fmla="val 3000"/>
            </a:avLst>
          </a:prstGeom>
          <a:solidFill>
            <a:srgbClr val="F8FAFC"/>
          </a:solidFill>
          <a:ln w="12700">
            <a:solidFill>
              <a:srgbClr val="CBD5E1"/>
            </a:solidFill>
            <a:prstDash val="solid"/>
          </a:ln>
        </p:spPr>
      </p:sp>
      <p:sp>
        <p:nvSpPr>
          <p:cNvPr id="5" name="Text 3"/>
          <p:cNvSpPr/>
          <p:nvPr/>
        </p:nvSpPr>
        <p:spPr>
          <a:xfrm>
            <a:off x="1143000" y="1600200"/>
            <a:ext cx="1463040" cy="274320"/>
          </a:xfrm>
          <a:prstGeom prst="rect">
            <a:avLst/>
          </a:prstGeom>
          <a:noFill/>
          <a:ln/>
        </p:spPr>
        <p:txBody>
          <a:bodyPr wrap="square" lIns="635" tIns="635" rIns="635" bIns="635" rtlCol="0" anchor="ctr">
            <a:normAutofit/>
          </a:bodyPr>
          <a:lstStyle/>
          <a:p>
            <a:pPr algn="l" indent="0" marL="0">
              <a:buNone/>
            </a:pPr>
            <a:r>
              <a:rPr lang="en-US" sz="1300" b="1" dirty="0">
                <a:solidFill>
                  <a:srgbClr val="52606D"/>
                </a:solidFill>
                <a:latin typeface="Aptos" pitchFamily="34" charset="0"/>
                <a:ea typeface="Aptos" pitchFamily="34" charset="-122"/>
                <a:cs typeface="Aptos" pitchFamily="34" charset="-120"/>
              </a:rPr>
              <a:t>Question Q</a:t>
            </a:r>
            <a:endParaRPr lang="en-US" sz="1300" dirty="0"/>
          </a:p>
        </p:txBody>
      </p:sp>
      <p:sp>
        <p:nvSpPr>
          <p:cNvPr id="6" name="Shape 4"/>
          <p:cNvSpPr/>
          <p:nvPr/>
        </p:nvSpPr>
        <p:spPr>
          <a:xfrm>
            <a:off x="1828800" y="1527048"/>
            <a:ext cx="1097280" cy="384048"/>
          </a:xfrm>
          <a:prstGeom prst="roundRect">
            <a:avLst>
              <a:gd name="adj" fmla="val 19048"/>
            </a:avLst>
          </a:prstGeom>
          <a:solidFill>
            <a:srgbClr val="FFFFFF"/>
          </a:solidFill>
          <a:ln w="12700">
            <a:solidFill>
              <a:srgbClr val="CBD5E1"/>
            </a:solidFill>
            <a:prstDash val="solid"/>
          </a:ln>
        </p:spPr>
      </p:sp>
      <p:sp>
        <p:nvSpPr>
          <p:cNvPr id="7" name="Text 5"/>
          <p:cNvSpPr/>
          <p:nvPr/>
        </p:nvSpPr>
        <p:spPr>
          <a:xfrm>
            <a:off x="1828800" y="1545336"/>
            <a:ext cx="109728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02A43"/>
                </a:solidFill>
                <a:latin typeface="Aptos" pitchFamily="34" charset="0"/>
                <a:ea typeface="Aptos" pitchFamily="34" charset="-122"/>
                <a:cs typeface="Aptos" pitchFamily="34" charset="-120"/>
              </a:rPr>
              <a:t>a ? t</a:t>
            </a:r>
            <a:endParaRPr lang="en-US" sz="1300" dirty="0"/>
          </a:p>
        </p:txBody>
      </p:sp>
      <p:sp>
        <p:nvSpPr>
          <p:cNvPr id="8" name="Text 6"/>
          <p:cNvSpPr/>
          <p:nvPr/>
        </p:nvSpPr>
        <p:spPr>
          <a:xfrm>
            <a:off x="3429000" y="1600200"/>
            <a:ext cx="914400" cy="274320"/>
          </a:xfrm>
          <a:prstGeom prst="rect">
            <a:avLst/>
          </a:prstGeom>
          <a:noFill/>
          <a:ln/>
        </p:spPr>
        <p:txBody>
          <a:bodyPr wrap="square" lIns="635" tIns="635" rIns="635" bIns="635" rtlCol="0" anchor="ctr">
            <a:normAutofit/>
          </a:bodyPr>
          <a:lstStyle/>
          <a:p>
            <a:pPr algn="l" indent="0" marL="0">
              <a:buNone/>
            </a:pPr>
            <a:r>
              <a:rPr lang="en-US" sz="1300" b="1" dirty="0">
                <a:solidFill>
                  <a:srgbClr val="52606D"/>
                </a:solidFill>
                <a:latin typeface="Aptos" pitchFamily="34" charset="0"/>
                <a:ea typeface="Aptos" pitchFamily="34" charset="-122"/>
                <a:cs typeface="Aptos" pitchFamily="34" charset="-120"/>
              </a:rPr>
              <a:t>State</a:t>
            </a:r>
            <a:endParaRPr lang="en-US" sz="1300" dirty="0"/>
          </a:p>
        </p:txBody>
      </p:sp>
      <p:sp>
        <p:nvSpPr>
          <p:cNvPr id="9" name="Shape 7"/>
          <p:cNvSpPr/>
          <p:nvPr/>
        </p:nvSpPr>
        <p:spPr>
          <a:xfrm>
            <a:off x="4114800" y="1527048"/>
            <a:ext cx="502920" cy="384048"/>
          </a:xfrm>
          <a:prstGeom prst="roundRect">
            <a:avLst>
              <a:gd name="adj" fmla="val 19048"/>
            </a:avLst>
          </a:prstGeom>
          <a:solidFill>
            <a:srgbClr val="EFF6FF"/>
          </a:solidFill>
          <a:ln w="12700">
            <a:solidFill>
              <a:srgbClr val="93C5FD"/>
            </a:solidFill>
            <a:prstDash val="solid"/>
          </a:ln>
        </p:spPr>
      </p:sp>
      <p:sp>
        <p:nvSpPr>
          <p:cNvPr id="10" name="Text 8"/>
          <p:cNvSpPr/>
          <p:nvPr/>
        </p:nvSpPr>
        <p:spPr>
          <a:xfrm>
            <a:off x="4114800" y="1545336"/>
            <a:ext cx="502920" cy="329184"/>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a</a:t>
            </a:r>
            <a:endParaRPr lang="en-US" sz="1300" dirty="0"/>
          </a:p>
        </p:txBody>
      </p:sp>
      <p:sp>
        <p:nvSpPr>
          <p:cNvPr id="11" name="Shape 9"/>
          <p:cNvSpPr/>
          <p:nvPr/>
        </p:nvSpPr>
        <p:spPr>
          <a:xfrm>
            <a:off x="4754880" y="1728216"/>
            <a:ext cx="868680" cy="0"/>
          </a:xfrm>
          <a:prstGeom prst="line">
            <a:avLst/>
          </a:prstGeom>
          <a:noFill/>
          <a:ln w="38100">
            <a:solidFill>
              <a:srgbClr val="15803D"/>
            </a:solidFill>
            <a:prstDash val="solid"/>
            <a:headEnd type="none"/>
            <a:tailEnd type="triangle"/>
          </a:ln>
        </p:spPr>
      </p:sp>
      <p:sp>
        <p:nvSpPr>
          <p:cNvPr id="12" name="Text 10"/>
          <p:cNvSpPr/>
          <p:nvPr/>
        </p:nvSpPr>
        <p:spPr>
          <a:xfrm>
            <a:off x="5715000" y="1554480"/>
            <a:ext cx="2011680" cy="274320"/>
          </a:xfrm>
          <a:prstGeom prst="rect">
            <a:avLst/>
          </a:prstGeom>
          <a:noFill/>
          <a:ln/>
        </p:spPr>
        <p:txBody>
          <a:bodyPr wrap="square" lIns="635" tIns="635" rIns="635" bIns="635" rtlCol="0" anchor="ctr">
            <a:normAutofit/>
          </a:bodyPr>
          <a:lstStyle/>
          <a:p>
            <a:pPr algn="ctr" indent="0" marL="0">
              <a:buNone/>
            </a:pPr>
            <a:r>
              <a:rPr lang="en-US" sz="1400" b="1" dirty="0">
                <a:solidFill>
                  <a:srgbClr val="15803D"/>
                </a:solidFill>
                <a:latin typeface="Aptos" pitchFamily="34" charset="0"/>
                <a:ea typeface="Aptos" pitchFamily="34" charset="-122"/>
                <a:cs typeface="Aptos" pitchFamily="34" charset="-120"/>
              </a:rPr>
              <a:t>apply g(Q, state)</a:t>
            </a:r>
            <a:endParaRPr lang="en-US" sz="1400" dirty="0"/>
          </a:p>
        </p:txBody>
      </p:sp>
      <p:sp>
        <p:nvSpPr>
          <p:cNvPr id="13" name="Shape 11"/>
          <p:cNvSpPr/>
          <p:nvPr/>
        </p:nvSpPr>
        <p:spPr>
          <a:xfrm>
            <a:off x="7772400" y="1728216"/>
            <a:ext cx="822960" cy="0"/>
          </a:xfrm>
          <a:prstGeom prst="line">
            <a:avLst/>
          </a:prstGeom>
          <a:noFill/>
          <a:ln w="38100">
            <a:solidFill>
              <a:srgbClr val="15803D"/>
            </a:solidFill>
            <a:prstDash val="solid"/>
            <a:headEnd type="none"/>
            <a:tailEnd type="triangle"/>
          </a:ln>
        </p:spPr>
      </p:sp>
      <p:sp>
        <p:nvSpPr>
          <p:cNvPr id="14" name="Shape 12"/>
          <p:cNvSpPr/>
          <p:nvPr/>
        </p:nvSpPr>
        <p:spPr>
          <a:xfrm>
            <a:off x="8732520" y="1527048"/>
            <a:ext cx="502920" cy="384048"/>
          </a:xfrm>
          <a:prstGeom prst="roundRect">
            <a:avLst>
              <a:gd name="adj" fmla="val 19048"/>
            </a:avLst>
          </a:prstGeom>
          <a:solidFill>
            <a:srgbClr val="F0FDF4"/>
          </a:solidFill>
          <a:ln w="12700">
            <a:solidFill>
              <a:srgbClr val="86EFAC"/>
            </a:solidFill>
            <a:prstDash val="solid"/>
          </a:ln>
        </p:spPr>
      </p:sp>
      <p:sp>
        <p:nvSpPr>
          <p:cNvPr id="15" name="Text 13"/>
          <p:cNvSpPr/>
          <p:nvPr/>
        </p:nvSpPr>
        <p:spPr>
          <a:xfrm>
            <a:off x="8732520" y="1545336"/>
            <a:ext cx="502920" cy="329184"/>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x</a:t>
            </a:r>
            <a:endParaRPr lang="en-US" sz="1300" dirty="0"/>
          </a:p>
        </p:txBody>
      </p:sp>
      <p:sp>
        <p:nvSpPr>
          <p:cNvPr id="16" name="Text 14"/>
          <p:cNvSpPr/>
          <p:nvPr/>
        </p:nvSpPr>
        <p:spPr>
          <a:xfrm>
            <a:off x="2331720" y="2606040"/>
            <a:ext cx="6766560" cy="36576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repeat until EOS / destination found</a:t>
            </a:r>
            <a:endParaRPr lang="en-US" sz="1600" dirty="0"/>
          </a:p>
        </p:txBody>
      </p:sp>
      <p:sp>
        <p:nvSpPr>
          <p:cNvPr id="17" name="Text 15"/>
          <p:cNvSpPr/>
          <p:nvPr/>
        </p:nvSpPr>
        <p:spPr>
          <a:xfrm>
            <a:off x="914400" y="3840480"/>
            <a:ext cx="2103120" cy="27432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Paper implementation sketch:</a:t>
            </a:r>
            <a:endParaRPr lang="en-US" sz="1400" dirty="0"/>
          </a:p>
        </p:txBody>
      </p:sp>
      <p:sp>
        <p:nvSpPr>
          <p:cNvPr id="18" name="Text 16"/>
          <p:cNvSpPr/>
          <p:nvPr/>
        </p:nvSpPr>
        <p:spPr>
          <a:xfrm>
            <a:off x="960120" y="4315968"/>
            <a:ext cx="9509760" cy="457200"/>
          </a:xfrm>
          <a:prstGeom prst="rect">
            <a:avLst/>
          </a:prstGeom>
          <a:noFill/>
          <a:ln/>
        </p:spPr>
        <p:txBody>
          <a:bodyPr wrap="square" lIns="635" tIns="635" rIns="635" bIns="635" rtlCol="0" anchor="ctr">
            <a:normAutofit/>
          </a:bodyPr>
          <a:lstStyle/>
          <a:p>
            <a:pPr algn="ctr" indent="0" marL="0">
              <a:buNone/>
            </a:pPr>
            <a:r>
              <a:rPr lang="en-US" sz="2400" b="1" dirty="0">
                <a:solidFill>
                  <a:srgbClr val="F97316"/>
                </a:solidFill>
                <a:latin typeface="Aptos" pitchFamily="34" charset="0"/>
                <a:ea typeface="Aptos" pitchFamily="34" charset="-122"/>
                <a:cs typeface="Aptos" pitchFamily="34" charset="-120"/>
              </a:rPr>
              <a:t>&lt;START&gt; a # x # q # a ; 0 &lt;EOS&gt;</a:t>
            </a:r>
            <a:endParaRPr lang="en-US" sz="2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result on OOD reasoning length</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inductive scratchpad generalizes where the fully educated one fails.</a:t>
            </a:r>
            <a:endParaRPr lang="en-US" sz="1200" dirty="0"/>
          </a:p>
        </p:txBody>
      </p:sp>
      <p:sp>
        <p:nvSpPr>
          <p:cNvPr id="4" name="Text 2"/>
          <p:cNvSpPr/>
          <p:nvPr/>
        </p:nvSpPr>
        <p:spPr>
          <a:xfrm>
            <a:off x="914400" y="1371600"/>
            <a:ext cx="1371600" cy="274320"/>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Training</a:t>
            </a:r>
            <a:endParaRPr lang="en-US" sz="1300" dirty="0"/>
          </a:p>
        </p:txBody>
      </p:sp>
      <p:sp>
        <p:nvSpPr>
          <p:cNvPr id="5" name="Text 3"/>
          <p:cNvSpPr/>
          <p:nvPr/>
        </p:nvSpPr>
        <p:spPr>
          <a:xfrm>
            <a:off x="914400" y="2926080"/>
            <a:ext cx="1371600" cy="274320"/>
          </a:xfrm>
          <a:prstGeom prst="rect">
            <a:avLst/>
          </a:prstGeom>
          <a:noFill/>
          <a:ln/>
        </p:spPr>
        <p:txBody>
          <a:bodyPr wrap="square" lIns="635" tIns="635" rIns="635" bIns="635" rtlCol="0" anchor="ctr">
            <a:normAutofit/>
          </a:bodyPr>
          <a:lstStyle/>
          <a:p>
            <a:pPr algn="ctr" indent="0" marL="0">
              <a:buNone/>
            </a:pPr>
            <a:r>
              <a:rPr lang="en-US" sz="1300" b="1" dirty="0">
                <a:solidFill>
                  <a:srgbClr val="52606D"/>
                </a:solidFill>
                <a:latin typeface="Aptos" pitchFamily="34" charset="0"/>
                <a:ea typeface="Aptos" pitchFamily="34" charset="-122"/>
                <a:cs typeface="Aptos" pitchFamily="34" charset="-120"/>
              </a:rPr>
              <a:t>Test</a:t>
            </a:r>
            <a:endParaRPr lang="en-US" sz="1300" dirty="0"/>
          </a:p>
        </p:txBody>
      </p:sp>
      <p:sp>
        <p:nvSpPr>
          <p:cNvPr id="6" name="Shape 4"/>
          <p:cNvSpPr/>
          <p:nvPr/>
        </p:nvSpPr>
        <p:spPr>
          <a:xfrm>
            <a:off x="2057400" y="1417320"/>
            <a:ext cx="3840480" cy="822960"/>
          </a:xfrm>
          <a:prstGeom prst="roundRect">
            <a:avLst>
              <a:gd name="adj" fmla="val 6667"/>
            </a:avLst>
          </a:prstGeom>
          <a:solidFill>
            <a:srgbClr val="EFF6FF"/>
          </a:solidFill>
          <a:ln w="12700">
            <a:solidFill>
              <a:srgbClr val="BFDBFE"/>
            </a:solidFill>
            <a:prstDash val="solid"/>
          </a:ln>
        </p:spPr>
      </p:sp>
      <p:sp>
        <p:nvSpPr>
          <p:cNvPr id="7" name="Text 5"/>
          <p:cNvSpPr/>
          <p:nvPr/>
        </p:nvSpPr>
        <p:spPr>
          <a:xfrm>
            <a:off x="2194560" y="1645920"/>
            <a:ext cx="3566160" cy="365760"/>
          </a:xfrm>
          <a:prstGeom prst="rect">
            <a:avLst/>
          </a:prstGeom>
          <a:noFill/>
          <a:ln/>
        </p:spPr>
        <p:txBody>
          <a:bodyPr wrap="square" lIns="635" tIns="635" rIns="635" bIns="635" rtlCol="0" anchor="ctr">
            <a:normAutofit/>
          </a:bodyPr>
          <a:lstStyle/>
          <a:p>
            <a:pPr algn="ctr" indent="0" marL="0">
              <a:buNone/>
            </a:pPr>
            <a:r>
              <a:rPr lang="en-US" sz="2300" b="1" dirty="0">
                <a:solidFill>
                  <a:srgbClr val="2563EB"/>
                </a:solidFill>
                <a:latin typeface="Aptos" pitchFamily="34" charset="0"/>
                <a:ea typeface="Aptos" pitchFamily="34" charset="-122"/>
                <a:cs typeface="Aptos" pitchFamily="34" charset="-120"/>
              </a:rPr>
              <a:t>6 reasoning steps</a:t>
            </a:r>
            <a:endParaRPr lang="en-US" sz="2300" dirty="0"/>
          </a:p>
        </p:txBody>
      </p:sp>
      <p:sp>
        <p:nvSpPr>
          <p:cNvPr id="8" name="Shape 6"/>
          <p:cNvSpPr/>
          <p:nvPr/>
        </p:nvSpPr>
        <p:spPr>
          <a:xfrm>
            <a:off x="2057400" y="2971800"/>
            <a:ext cx="3840480" cy="822960"/>
          </a:xfrm>
          <a:prstGeom prst="roundRect">
            <a:avLst>
              <a:gd name="adj" fmla="val 6667"/>
            </a:avLst>
          </a:prstGeom>
          <a:solidFill>
            <a:srgbClr val="FEF2F2"/>
          </a:solidFill>
          <a:ln w="12700">
            <a:solidFill>
              <a:srgbClr val="FECACA"/>
            </a:solidFill>
            <a:prstDash val="solid"/>
          </a:ln>
        </p:spPr>
      </p:sp>
      <p:sp>
        <p:nvSpPr>
          <p:cNvPr id="9" name="Text 7"/>
          <p:cNvSpPr/>
          <p:nvPr/>
        </p:nvSpPr>
        <p:spPr>
          <a:xfrm>
            <a:off x="2194560" y="3200400"/>
            <a:ext cx="3566160" cy="365760"/>
          </a:xfrm>
          <a:prstGeom prst="rect">
            <a:avLst/>
          </a:prstGeom>
          <a:noFill/>
          <a:ln/>
        </p:spPr>
        <p:txBody>
          <a:bodyPr wrap="square" lIns="635" tIns="635" rIns="635" bIns="635" rtlCol="0" anchor="ctr">
            <a:normAutofit/>
          </a:bodyPr>
          <a:lstStyle/>
          <a:p>
            <a:pPr algn="ctr" indent="0" marL="0">
              <a:buNone/>
            </a:pPr>
            <a:r>
              <a:rPr lang="en-US" sz="2300" b="1" dirty="0">
                <a:solidFill>
                  <a:srgbClr val="DC2626"/>
                </a:solidFill>
                <a:latin typeface="Aptos" pitchFamily="34" charset="0"/>
                <a:ea typeface="Aptos" pitchFamily="34" charset="-122"/>
                <a:cs typeface="Aptos" pitchFamily="34" charset="-120"/>
              </a:rPr>
              <a:t>12 reasoning steps</a:t>
            </a:r>
            <a:endParaRPr lang="en-US" sz="2300" dirty="0"/>
          </a:p>
        </p:txBody>
      </p:sp>
      <p:sp>
        <p:nvSpPr>
          <p:cNvPr id="10" name="Text 8"/>
          <p:cNvSpPr/>
          <p:nvPr/>
        </p:nvSpPr>
        <p:spPr>
          <a:xfrm>
            <a:off x="6492240" y="1572768"/>
            <a:ext cx="1920240" cy="274320"/>
          </a:xfrm>
          <a:prstGeom prst="rect">
            <a:avLst/>
          </a:prstGeom>
          <a:noFill/>
          <a:ln/>
        </p:spPr>
        <p:txBody>
          <a:bodyPr wrap="square" lIns="635" tIns="635" rIns="635" bIns="635" rtlCol="0" anchor="ctr">
            <a:normAutofit/>
          </a:bodyPr>
          <a:lstStyle/>
          <a:p>
            <a:pPr algn="ctr" indent="0" marL="0">
              <a:buNone/>
            </a:pPr>
            <a:r>
              <a:rPr lang="en-US" sz="1400" b="1" dirty="0">
                <a:solidFill>
                  <a:srgbClr val="DC2626"/>
                </a:solidFill>
                <a:latin typeface="Aptos" pitchFamily="34" charset="0"/>
                <a:ea typeface="Aptos" pitchFamily="34" charset="-122"/>
                <a:cs typeface="Aptos" pitchFamily="34" charset="-120"/>
              </a:rPr>
              <a:t>DFS scratchpad</a:t>
            </a:r>
            <a:endParaRPr lang="en-US" sz="1400" dirty="0"/>
          </a:p>
        </p:txBody>
      </p:sp>
      <p:sp>
        <p:nvSpPr>
          <p:cNvPr id="11" name="Text 9"/>
          <p:cNvSpPr/>
          <p:nvPr/>
        </p:nvSpPr>
        <p:spPr>
          <a:xfrm>
            <a:off x="6446520" y="1965960"/>
            <a:ext cx="2011680" cy="365760"/>
          </a:xfrm>
          <a:prstGeom prst="rect">
            <a:avLst/>
          </a:prstGeom>
          <a:noFill/>
          <a:ln/>
        </p:spPr>
        <p:txBody>
          <a:bodyPr wrap="square" lIns="635" tIns="635" rIns="635" bIns="635" rtlCol="0" anchor="ctr">
            <a:normAutofit/>
          </a:bodyPr>
          <a:lstStyle/>
          <a:p>
            <a:pPr algn="ctr" indent="0" marL="0">
              <a:buNone/>
            </a:pPr>
            <a:r>
              <a:rPr lang="en-US" sz="2000" b="1" dirty="0">
                <a:solidFill>
                  <a:srgbClr val="DC2626"/>
                </a:solidFill>
                <a:latin typeface="Aptos" pitchFamily="34" charset="0"/>
                <a:ea typeface="Aptos" pitchFamily="34" charset="-122"/>
                <a:cs typeface="Aptos" pitchFamily="34" charset="-120"/>
              </a:rPr>
              <a:t>fails OOD</a:t>
            </a:r>
            <a:endParaRPr lang="en-US" sz="2000" dirty="0"/>
          </a:p>
        </p:txBody>
      </p:sp>
      <p:sp>
        <p:nvSpPr>
          <p:cNvPr id="12" name="Text 10"/>
          <p:cNvSpPr/>
          <p:nvPr/>
        </p:nvSpPr>
        <p:spPr>
          <a:xfrm>
            <a:off x="8641080" y="1572768"/>
            <a:ext cx="2377440" cy="274320"/>
          </a:xfrm>
          <a:prstGeom prst="rect">
            <a:avLst/>
          </a:prstGeom>
          <a:noFill/>
          <a:ln/>
        </p:spPr>
        <p:txBody>
          <a:bodyPr wrap="square" lIns="635" tIns="635" rIns="635" bIns="635" rtlCol="0" anchor="ctr">
            <a:normAutofit/>
          </a:bodyPr>
          <a:lstStyle/>
          <a:p>
            <a:pPr algn="ctr" indent="0" marL="0">
              <a:buNone/>
            </a:pPr>
            <a:r>
              <a:rPr lang="en-US" sz="1400" b="1" dirty="0">
                <a:solidFill>
                  <a:srgbClr val="15803D"/>
                </a:solidFill>
                <a:latin typeface="Aptos" pitchFamily="34" charset="0"/>
                <a:ea typeface="Aptos" pitchFamily="34" charset="-122"/>
                <a:cs typeface="Aptos" pitchFamily="34" charset="-120"/>
              </a:rPr>
              <a:t>Inductive scratchpad</a:t>
            </a:r>
            <a:endParaRPr lang="en-US" sz="1400" dirty="0"/>
          </a:p>
        </p:txBody>
      </p:sp>
      <p:sp>
        <p:nvSpPr>
          <p:cNvPr id="13" name="Text 11"/>
          <p:cNvSpPr/>
          <p:nvPr/>
        </p:nvSpPr>
        <p:spPr>
          <a:xfrm>
            <a:off x="8549640" y="1965960"/>
            <a:ext cx="2560320" cy="365760"/>
          </a:xfrm>
          <a:prstGeom prst="rect">
            <a:avLst/>
          </a:prstGeom>
          <a:noFill/>
          <a:ln/>
        </p:spPr>
        <p:txBody>
          <a:bodyPr wrap="square" lIns="635" tIns="635" rIns="635" bIns="635" rtlCol="0" anchor="ctr">
            <a:normAutofit/>
          </a:bodyPr>
          <a:lstStyle/>
          <a:p>
            <a:pPr algn="ctr" indent="0" marL="0">
              <a:buNone/>
            </a:pPr>
            <a:r>
              <a:rPr lang="en-US" sz="2000" b="1" dirty="0">
                <a:solidFill>
                  <a:srgbClr val="15803D"/>
                </a:solidFill>
                <a:latin typeface="Aptos" pitchFamily="34" charset="0"/>
                <a:ea typeface="Aptos" pitchFamily="34" charset="-122"/>
                <a:cs typeface="Aptos" pitchFamily="34" charset="-120"/>
              </a:rPr>
              <a:t>generalizes OOD</a:t>
            </a:r>
            <a:endParaRPr lang="en-US" sz="2000" dirty="0"/>
          </a:p>
        </p:txBody>
      </p:sp>
      <p:sp>
        <p:nvSpPr>
          <p:cNvPr id="14" name="Text 12"/>
          <p:cNvSpPr/>
          <p:nvPr/>
        </p:nvSpPr>
        <p:spPr>
          <a:xfrm>
            <a:off x="1143000" y="4572000"/>
            <a:ext cx="9875520" cy="658368"/>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This is the strongest practical result in the paper: the scratchpad design changes extrapolation behavior.</a:t>
            </a:r>
            <a:endParaRPr lang="en-US" sz="20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Parity: length generalization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Train up to 30 bits; inductive scratchpads reach roughly 50–55.</a:t>
            </a:r>
            <a:endParaRPr lang="en-US" sz="1200" dirty="0"/>
          </a:p>
        </p:txBody>
      </p:sp>
      <p:sp>
        <p:nvSpPr>
          <p:cNvPr id="4" name="Shape 2"/>
          <p:cNvSpPr/>
          <p:nvPr/>
        </p:nvSpPr>
        <p:spPr>
          <a:xfrm>
            <a:off x="1005840" y="5166360"/>
            <a:ext cx="5760720" cy="0"/>
          </a:xfrm>
          <a:prstGeom prst="line">
            <a:avLst/>
          </a:prstGeom>
          <a:noFill/>
          <a:ln w="19050">
            <a:solidFill>
              <a:srgbClr val="94A3B8"/>
            </a:solidFill>
            <a:prstDash val="solid"/>
          </a:ln>
        </p:spPr>
      </p:sp>
      <p:sp>
        <p:nvSpPr>
          <p:cNvPr id="5" name="Shape 3"/>
          <p:cNvSpPr/>
          <p:nvPr/>
        </p:nvSpPr>
        <p:spPr>
          <a:xfrm>
            <a:off x="1005840" y="5166360"/>
            <a:ext cx="0" cy="-2834640"/>
          </a:xfrm>
          <a:prstGeom prst="line">
            <a:avLst/>
          </a:prstGeom>
          <a:noFill/>
          <a:ln w="19050">
            <a:solidFill>
              <a:srgbClr val="94A3B8"/>
            </a:solidFill>
            <a:prstDash val="solid"/>
          </a:ln>
        </p:spPr>
      </p:sp>
      <p:sp>
        <p:nvSpPr>
          <p:cNvPr id="6" name="Shape 4"/>
          <p:cNvSpPr/>
          <p:nvPr/>
        </p:nvSpPr>
        <p:spPr>
          <a:xfrm>
            <a:off x="960120" y="2468880"/>
            <a:ext cx="91440" cy="91440"/>
          </a:xfrm>
          <a:prstGeom prst="ellipse">
            <a:avLst/>
          </a:prstGeom>
          <a:solidFill>
            <a:srgbClr val="15803D"/>
          </a:solidFill>
          <a:ln w="12700">
            <a:solidFill>
              <a:srgbClr val="15803D"/>
            </a:solidFill>
            <a:prstDash val="solid"/>
          </a:ln>
        </p:spPr>
      </p:sp>
      <p:sp>
        <p:nvSpPr>
          <p:cNvPr id="7" name="Shape 5"/>
          <p:cNvSpPr/>
          <p:nvPr/>
        </p:nvSpPr>
        <p:spPr>
          <a:xfrm>
            <a:off x="1005840" y="2514600"/>
            <a:ext cx="960120" cy="53035"/>
          </a:xfrm>
          <a:prstGeom prst="line">
            <a:avLst/>
          </a:prstGeom>
          <a:noFill/>
          <a:ln w="31750">
            <a:solidFill>
              <a:srgbClr val="15803D"/>
            </a:solidFill>
            <a:prstDash val="solid"/>
            <a:headEnd type="none"/>
            <a:tailEnd type="triangle"/>
          </a:ln>
        </p:spPr>
      </p:sp>
      <p:sp>
        <p:nvSpPr>
          <p:cNvPr id="8" name="Shape 6"/>
          <p:cNvSpPr/>
          <p:nvPr/>
        </p:nvSpPr>
        <p:spPr>
          <a:xfrm>
            <a:off x="1920240" y="2521915"/>
            <a:ext cx="91440" cy="91440"/>
          </a:xfrm>
          <a:prstGeom prst="ellipse">
            <a:avLst/>
          </a:prstGeom>
          <a:solidFill>
            <a:srgbClr val="15803D"/>
          </a:solidFill>
          <a:ln w="12700">
            <a:solidFill>
              <a:srgbClr val="15803D"/>
            </a:solidFill>
            <a:prstDash val="solid"/>
          </a:ln>
        </p:spPr>
      </p:sp>
      <p:sp>
        <p:nvSpPr>
          <p:cNvPr id="9" name="Shape 7"/>
          <p:cNvSpPr/>
          <p:nvPr/>
        </p:nvSpPr>
        <p:spPr>
          <a:xfrm>
            <a:off x="1965960" y="2567635"/>
            <a:ext cx="960120" cy="53035"/>
          </a:xfrm>
          <a:prstGeom prst="line">
            <a:avLst/>
          </a:prstGeom>
          <a:noFill/>
          <a:ln w="31750">
            <a:solidFill>
              <a:srgbClr val="15803D"/>
            </a:solidFill>
            <a:prstDash val="solid"/>
            <a:headEnd type="none"/>
            <a:tailEnd type="triangle"/>
          </a:ln>
        </p:spPr>
      </p:sp>
      <p:sp>
        <p:nvSpPr>
          <p:cNvPr id="10" name="Shape 8"/>
          <p:cNvSpPr/>
          <p:nvPr/>
        </p:nvSpPr>
        <p:spPr>
          <a:xfrm>
            <a:off x="2880360" y="2574950"/>
            <a:ext cx="91440" cy="91440"/>
          </a:xfrm>
          <a:prstGeom prst="ellipse">
            <a:avLst/>
          </a:prstGeom>
          <a:solidFill>
            <a:srgbClr val="15803D"/>
          </a:solidFill>
          <a:ln w="12700">
            <a:solidFill>
              <a:srgbClr val="15803D"/>
            </a:solidFill>
            <a:prstDash val="solid"/>
          </a:ln>
        </p:spPr>
      </p:sp>
      <p:sp>
        <p:nvSpPr>
          <p:cNvPr id="11" name="Shape 9"/>
          <p:cNvSpPr/>
          <p:nvPr/>
        </p:nvSpPr>
        <p:spPr>
          <a:xfrm>
            <a:off x="2926080" y="2620670"/>
            <a:ext cx="960120" cy="106070"/>
          </a:xfrm>
          <a:prstGeom prst="line">
            <a:avLst/>
          </a:prstGeom>
          <a:noFill/>
          <a:ln w="31750">
            <a:solidFill>
              <a:srgbClr val="15803D"/>
            </a:solidFill>
            <a:prstDash val="solid"/>
            <a:headEnd type="none"/>
            <a:tailEnd type="triangle"/>
          </a:ln>
        </p:spPr>
      </p:sp>
      <p:sp>
        <p:nvSpPr>
          <p:cNvPr id="12" name="Shape 10"/>
          <p:cNvSpPr/>
          <p:nvPr/>
        </p:nvSpPr>
        <p:spPr>
          <a:xfrm>
            <a:off x="3840480" y="2681021"/>
            <a:ext cx="91440" cy="91440"/>
          </a:xfrm>
          <a:prstGeom prst="ellipse">
            <a:avLst/>
          </a:prstGeom>
          <a:solidFill>
            <a:srgbClr val="15803D"/>
          </a:solidFill>
          <a:ln w="12700">
            <a:solidFill>
              <a:srgbClr val="15803D"/>
            </a:solidFill>
            <a:prstDash val="solid"/>
          </a:ln>
        </p:spPr>
      </p:sp>
      <p:sp>
        <p:nvSpPr>
          <p:cNvPr id="13" name="Shape 11"/>
          <p:cNvSpPr/>
          <p:nvPr/>
        </p:nvSpPr>
        <p:spPr>
          <a:xfrm>
            <a:off x="3886200" y="2726741"/>
            <a:ext cx="960120" cy="159106"/>
          </a:xfrm>
          <a:prstGeom prst="line">
            <a:avLst/>
          </a:prstGeom>
          <a:noFill/>
          <a:ln w="31750">
            <a:solidFill>
              <a:srgbClr val="15803D"/>
            </a:solidFill>
            <a:prstDash val="solid"/>
            <a:headEnd type="none"/>
            <a:tailEnd type="triangle"/>
          </a:ln>
        </p:spPr>
      </p:sp>
      <p:sp>
        <p:nvSpPr>
          <p:cNvPr id="14" name="Shape 12"/>
          <p:cNvSpPr/>
          <p:nvPr/>
        </p:nvSpPr>
        <p:spPr>
          <a:xfrm>
            <a:off x="4800600" y="2840126"/>
            <a:ext cx="91440" cy="91440"/>
          </a:xfrm>
          <a:prstGeom prst="ellipse">
            <a:avLst/>
          </a:prstGeom>
          <a:solidFill>
            <a:srgbClr val="15803D"/>
          </a:solidFill>
          <a:ln w="12700">
            <a:solidFill>
              <a:srgbClr val="15803D"/>
            </a:solidFill>
            <a:prstDash val="solid"/>
          </a:ln>
        </p:spPr>
      </p:sp>
      <p:sp>
        <p:nvSpPr>
          <p:cNvPr id="15" name="Shape 13"/>
          <p:cNvSpPr/>
          <p:nvPr/>
        </p:nvSpPr>
        <p:spPr>
          <a:xfrm>
            <a:off x="4846320" y="2885846"/>
            <a:ext cx="960120" cy="424282"/>
          </a:xfrm>
          <a:prstGeom prst="line">
            <a:avLst/>
          </a:prstGeom>
          <a:noFill/>
          <a:ln w="31750">
            <a:solidFill>
              <a:srgbClr val="15803D"/>
            </a:solidFill>
            <a:prstDash val="solid"/>
            <a:headEnd type="none"/>
            <a:tailEnd type="triangle"/>
          </a:ln>
        </p:spPr>
      </p:sp>
      <p:sp>
        <p:nvSpPr>
          <p:cNvPr id="16" name="Shape 14"/>
          <p:cNvSpPr/>
          <p:nvPr/>
        </p:nvSpPr>
        <p:spPr>
          <a:xfrm>
            <a:off x="5760720" y="3264408"/>
            <a:ext cx="91440" cy="91440"/>
          </a:xfrm>
          <a:prstGeom prst="ellipse">
            <a:avLst/>
          </a:prstGeom>
          <a:solidFill>
            <a:srgbClr val="15803D"/>
          </a:solidFill>
          <a:ln w="12700">
            <a:solidFill>
              <a:srgbClr val="15803D"/>
            </a:solidFill>
            <a:prstDash val="solid"/>
          </a:ln>
        </p:spPr>
      </p:sp>
      <p:sp>
        <p:nvSpPr>
          <p:cNvPr id="17" name="Shape 15"/>
          <p:cNvSpPr/>
          <p:nvPr/>
        </p:nvSpPr>
        <p:spPr>
          <a:xfrm>
            <a:off x="5806440" y="3310128"/>
            <a:ext cx="960120" cy="1193292"/>
          </a:xfrm>
          <a:prstGeom prst="line">
            <a:avLst/>
          </a:prstGeom>
          <a:noFill/>
          <a:ln w="31750">
            <a:solidFill>
              <a:srgbClr val="15803D"/>
            </a:solidFill>
            <a:prstDash val="solid"/>
            <a:headEnd type="none"/>
            <a:tailEnd type="triangle"/>
          </a:ln>
        </p:spPr>
      </p:sp>
      <p:sp>
        <p:nvSpPr>
          <p:cNvPr id="18" name="Shape 16"/>
          <p:cNvSpPr/>
          <p:nvPr/>
        </p:nvSpPr>
        <p:spPr>
          <a:xfrm>
            <a:off x="6720840" y="4457700"/>
            <a:ext cx="91440" cy="91440"/>
          </a:xfrm>
          <a:prstGeom prst="ellipse">
            <a:avLst/>
          </a:prstGeom>
          <a:solidFill>
            <a:srgbClr val="15803D"/>
          </a:solidFill>
          <a:ln w="12700">
            <a:solidFill>
              <a:srgbClr val="15803D"/>
            </a:solidFill>
            <a:prstDash val="solid"/>
          </a:ln>
        </p:spPr>
      </p:sp>
      <p:sp>
        <p:nvSpPr>
          <p:cNvPr id="19" name="Text 17"/>
          <p:cNvSpPr/>
          <p:nvPr/>
        </p:nvSpPr>
        <p:spPr>
          <a:xfrm>
            <a:off x="2834640" y="5504688"/>
            <a:ext cx="2103120" cy="2743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 bits</a:t>
            </a:r>
            <a:endParaRPr lang="en-US" sz="1200" dirty="0"/>
          </a:p>
        </p:txBody>
      </p:sp>
      <p:sp>
        <p:nvSpPr>
          <p:cNvPr id="20" name="Text 18"/>
          <p:cNvSpPr/>
          <p:nvPr/>
        </p:nvSpPr>
        <p:spPr>
          <a:xfrm>
            <a:off x="228600" y="3429000"/>
            <a:ext cx="640080" cy="2743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accuracy</a:t>
            </a:r>
            <a:endParaRPr lang="en-US" sz="1200" dirty="0"/>
          </a:p>
        </p:txBody>
      </p:sp>
      <p:sp>
        <p:nvSpPr>
          <p:cNvPr id="21" name="Shape 19"/>
          <p:cNvSpPr/>
          <p:nvPr/>
        </p:nvSpPr>
        <p:spPr>
          <a:xfrm>
            <a:off x="7360920" y="1417320"/>
            <a:ext cx="3383280" cy="2194560"/>
          </a:xfrm>
          <a:prstGeom prst="roundRect">
            <a:avLst>
              <a:gd name="adj" fmla="val 2500"/>
            </a:avLst>
          </a:prstGeom>
          <a:solidFill>
            <a:srgbClr val="F0FDF4"/>
          </a:solidFill>
          <a:ln w="12700">
            <a:solidFill>
              <a:srgbClr val="BBF7D0"/>
            </a:solidFill>
            <a:prstDash val="solid"/>
          </a:ln>
        </p:spPr>
      </p:sp>
      <p:sp>
        <p:nvSpPr>
          <p:cNvPr id="22" name="Text 20"/>
          <p:cNvSpPr/>
          <p:nvPr/>
        </p:nvSpPr>
        <p:spPr>
          <a:xfrm>
            <a:off x="7635240" y="1828800"/>
            <a:ext cx="2834640" cy="502920"/>
          </a:xfrm>
          <a:prstGeom prst="rect">
            <a:avLst/>
          </a:prstGeom>
          <a:noFill/>
          <a:ln/>
        </p:spPr>
        <p:txBody>
          <a:bodyPr wrap="square" lIns="635" tIns="635" rIns="635" bIns="635" rtlCol="0" anchor="ctr">
            <a:normAutofit/>
          </a:bodyPr>
          <a:lstStyle/>
          <a:p>
            <a:pPr algn="ctr" indent="0" marL="0">
              <a:buNone/>
            </a:pPr>
            <a:r>
              <a:rPr lang="en-US" sz="2800" b="1" dirty="0">
                <a:solidFill>
                  <a:srgbClr val="15803D"/>
                </a:solidFill>
                <a:latin typeface="Aptos" pitchFamily="34" charset="0"/>
                <a:ea typeface="Aptos" pitchFamily="34" charset="-122"/>
                <a:cs typeface="Aptos" pitchFamily="34" charset="-120"/>
              </a:rPr>
              <a:t>30 → 50/55</a:t>
            </a:r>
            <a:endParaRPr lang="en-US" sz="2800" dirty="0"/>
          </a:p>
        </p:txBody>
      </p:sp>
      <p:sp>
        <p:nvSpPr>
          <p:cNvPr id="23" name="Text 21"/>
          <p:cNvSpPr/>
          <p:nvPr/>
        </p:nvSpPr>
        <p:spPr>
          <a:xfrm>
            <a:off x="7726680" y="2450592"/>
            <a:ext cx="2651760" cy="320040"/>
          </a:xfrm>
          <a:prstGeom prst="rect">
            <a:avLst/>
          </a:prstGeom>
          <a:noFill/>
          <a:ln/>
        </p:spPr>
        <p:txBody>
          <a:bodyPr wrap="square" lIns="635" tIns="635" rIns="635" bIns="635" rtlCol="0" anchor="ctr">
            <a:normAutofit/>
          </a:bodyPr>
          <a:lstStyle/>
          <a:p>
            <a:pPr algn="ctr" indent="0" marL="0">
              <a:buNone/>
            </a:pPr>
            <a:r>
              <a:rPr lang="en-US" sz="1400" dirty="0">
                <a:solidFill>
                  <a:srgbClr val="52606D"/>
                </a:solidFill>
                <a:latin typeface="Aptos" pitchFamily="34" charset="0"/>
                <a:ea typeface="Aptos" pitchFamily="34" charset="-122"/>
                <a:cs typeface="Aptos" pitchFamily="34" charset="-120"/>
              </a:rPr>
              <a:t>depending on random seed</a:t>
            </a:r>
            <a:endParaRPr lang="en-US" sz="1400" dirty="0"/>
          </a:p>
        </p:txBody>
      </p:sp>
      <p:sp>
        <p:nvSpPr>
          <p:cNvPr id="24" name="Text 22"/>
          <p:cNvSpPr/>
          <p:nvPr/>
        </p:nvSpPr>
        <p:spPr>
          <a:xfrm>
            <a:off x="7269480" y="4069080"/>
            <a:ext cx="3566160" cy="914400"/>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Why this matters: the model learns an iterative parity update instead of memorizing a fixed proof length.</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Addition: formatting becomes part of the algorithm</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Two inductive scratchpads produce different generalization ranges.</a:t>
            </a:r>
            <a:endParaRPr lang="en-US" sz="1200" dirty="0"/>
          </a:p>
        </p:txBody>
      </p:sp>
      <p:sp>
        <p:nvSpPr>
          <p:cNvPr id="4" name="Shape 2"/>
          <p:cNvSpPr/>
          <p:nvPr/>
        </p:nvSpPr>
        <p:spPr>
          <a:xfrm>
            <a:off x="822960" y="1325880"/>
            <a:ext cx="4846320" cy="1920240"/>
          </a:xfrm>
          <a:prstGeom prst="roundRect">
            <a:avLst>
              <a:gd name="adj" fmla="val 2857"/>
            </a:avLst>
          </a:prstGeom>
          <a:solidFill>
            <a:srgbClr val="EFF6FF"/>
          </a:solidFill>
          <a:ln w="12700">
            <a:solidFill>
              <a:srgbClr val="BFDBFE"/>
            </a:solidFill>
            <a:prstDash val="solid"/>
          </a:ln>
        </p:spPr>
      </p:sp>
      <p:sp>
        <p:nvSpPr>
          <p:cNvPr id="5" name="Text 3"/>
          <p:cNvSpPr/>
          <p:nvPr/>
        </p:nvSpPr>
        <p:spPr>
          <a:xfrm>
            <a:off x="1097280" y="1627632"/>
            <a:ext cx="4297680" cy="274320"/>
          </a:xfrm>
          <a:prstGeom prst="rect">
            <a:avLst/>
          </a:prstGeom>
          <a:noFill/>
          <a:ln/>
        </p:spPr>
        <p:txBody>
          <a:bodyPr wrap="square" lIns="635" tIns="635" rIns="635" bIns="635" rtlCol="0" anchor="ctr">
            <a:normAutofit/>
          </a:bodyPr>
          <a:lstStyle/>
          <a:p>
            <a:pPr algn="ctr" indent="0" marL="0">
              <a:buNone/>
            </a:pPr>
            <a:r>
              <a:rPr lang="en-US" sz="1400" b="1" dirty="0">
                <a:solidFill>
                  <a:srgbClr val="2563EB"/>
                </a:solidFill>
                <a:latin typeface="Aptos" pitchFamily="34" charset="0"/>
                <a:ea typeface="Aptos" pitchFamily="34" charset="-122"/>
                <a:cs typeface="Aptos" pitchFamily="34" charset="-120"/>
              </a:rPr>
              <a:t>RANDOM-SPACE</a:t>
            </a:r>
            <a:endParaRPr lang="en-US" sz="1400" dirty="0"/>
          </a:p>
        </p:txBody>
      </p:sp>
      <p:sp>
        <p:nvSpPr>
          <p:cNvPr id="6" name="Text 4"/>
          <p:cNvSpPr/>
          <p:nvPr/>
        </p:nvSpPr>
        <p:spPr>
          <a:xfrm>
            <a:off x="1143000" y="2084832"/>
            <a:ext cx="4206240" cy="457200"/>
          </a:xfrm>
          <a:prstGeom prst="rect">
            <a:avLst/>
          </a:prstGeom>
          <a:noFill/>
          <a:ln/>
        </p:spPr>
        <p:txBody>
          <a:bodyPr wrap="square" lIns="635" tIns="635" rIns="635" bIns="635" rtlCol="0" anchor="ctr">
            <a:normAutofit/>
          </a:bodyPr>
          <a:lstStyle/>
          <a:p>
            <a:pPr algn="ctr" indent="0" marL="0">
              <a:buNone/>
            </a:pPr>
            <a:r>
              <a:rPr lang="en-US" sz="2400" b="1" dirty="0">
                <a:solidFill>
                  <a:srgbClr val="102A43"/>
                </a:solidFill>
                <a:latin typeface="Aptos" pitchFamily="34" charset="0"/>
                <a:ea typeface="Aptos" pitchFamily="34" charset="-122"/>
                <a:cs typeface="Aptos" pitchFamily="34" charset="-120"/>
              </a:rPr>
              <a:t>10 digits → 18 digits</a:t>
            </a:r>
            <a:endParaRPr lang="en-US" sz="2400" dirty="0"/>
          </a:p>
        </p:txBody>
      </p:sp>
      <p:sp>
        <p:nvSpPr>
          <p:cNvPr id="7" name="Text 5"/>
          <p:cNvSpPr/>
          <p:nvPr/>
        </p:nvSpPr>
        <p:spPr>
          <a:xfrm>
            <a:off x="1051560" y="2743200"/>
            <a:ext cx="4389120" cy="411480"/>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uses random spaces + position to update digit-by-digit</a:t>
            </a:r>
            <a:endParaRPr lang="en-US" sz="1300" dirty="0"/>
          </a:p>
        </p:txBody>
      </p:sp>
      <p:sp>
        <p:nvSpPr>
          <p:cNvPr id="8" name="Shape 6"/>
          <p:cNvSpPr/>
          <p:nvPr/>
        </p:nvSpPr>
        <p:spPr>
          <a:xfrm>
            <a:off x="6355080" y="1325880"/>
            <a:ext cx="4846320" cy="1920240"/>
          </a:xfrm>
          <a:prstGeom prst="roundRect">
            <a:avLst>
              <a:gd name="adj" fmla="val 2857"/>
            </a:avLst>
          </a:prstGeom>
          <a:solidFill>
            <a:srgbClr val="FFF7ED"/>
          </a:solidFill>
          <a:ln w="12700">
            <a:solidFill>
              <a:srgbClr val="FED7AA"/>
            </a:solidFill>
            <a:prstDash val="solid"/>
          </a:ln>
        </p:spPr>
      </p:sp>
      <p:sp>
        <p:nvSpPr>
          <p:cNvPr id="9" name="Text 7"/>
          <p:cNvSpPr/>
          <p:nvPr/>
        </p:nvSpPr>
        <p:spPr>
          <a:xfrm>
            <a:off x="6720840" y="1627632"/>
            <a:ext cx="4114800" cy="274320"/>
          </a:xfrm>
          <a:prstGeom prst="rect">
            <a:avLst/>
          </a:prstGeom>
          <a:noFill/>
          <a:ln/>
        </p:spPr>
        <p:txBody>
          <a:bodyPr wrap="square" lIns="635" tIns="635" rIns="635" bIns="635" rtlCol="0" anchor="ctr">
            <a:normAutofit/>
          </a:bodyPr>
          <a:lstStyle/>
          <a:p>
            <a:pPr algn="ctr" indent="0" marL="0">
              <a:buNone/>
            </a:pPr>
            <a:r>
              <a:rPr lang="en-US" sz="1400" b="1" dirty="0">
                <a:solidFill>
                  <a:srgbClr val="F97316"/>
                </a:solidFill>
                <a:latin typeface="Aptos" pitchFamily="34" charset="0"/>
                <a:ea typeface="Aptos" pitchFamily="34" charset="-122"/>
                <a:cs typeface="Aptos" pitchFamily="34" charset="-120"/>
              </a:rPr>
              <a:t>SHIFT</a:t>
            </a:r>
            <a:endParaRPr lang="en-US" sz="1400" dirty="0"/>
          </a:p>
        </p:txBody>
      </p:sp>
      <p:sp>
        <p:nvSpPr>
          <p:cNvPr id="10" name="Text 8"/>
          <p:cNvSpPr/>
          <p:nvPr/>
        </p:nvSpPr>
        <p:spPr>
          <a:xfrm>
            <a:off x="6656832" y="2084832"/>
            <a:ext cx="4297680" cy="457200"/>
          </a:xfrm>
          <a:prstGeom prst="rect">
            <a:avLst/>
          </a:prstGeom>
          <a:noFill/>
          <a:ln/>
        </p:spPr>
        <p:txBody>
          <a:bodyPr wrap="square" lIns="635" tIns="635" rIns="635" bIns="635" rtlCol="0" anchor="ctr">
            <a:normAutofit/>
          </a:bodyPr>
          <a:lstStyle/>
          <a:p>
            <a:pPr algn="ctr" indent="0" marL="0">
              <a:buNone/>
            </a:pPr>
            <a:r>
              <a:rPr lang="en-US" sz="2400" b="1" dirty="0">
                <a:solidFill>
                  <a:srgbClr val="102A43"/>
                </a:solidFill>
                <a:latin typeface="Aptos" pitchFamily="34" charset="0"/>
                <a:ea typeface="Aptos" pitchFamily="34" charset="-122"/>
                <a:cs typeface="Aptos" pitchFamily="34" charset="-120"/>
              </a:rPr>
              <a:t>4 digits → 26 digits</a:t>
            </a:r>
            <a:endParaRPr lang="en-US" sz="2400" dirty="0"/>
          </a:p>
        </p:txBody>
      </p:sp>
      <p:sp>
        <p:nvSpPr>
          <p:cNvPr id="11" name="Text 9"/>
          <p:cNvSpPr/>
          <p:nvPr/>
        </p:nvSpPr>
        <p:spPr>
          <a:xfrm>
            <a:off x="6675120" y="2743200"/>
            <a:ext cx="4206240" cy="411480"/>
          </a:xfrm>
          <a:prstGeom prst="rect">
            <a:avLst/>
          </a:prstGeom>
          <a:noFill/>
          <a:ln/>
        </p:spPr>
        <p:txBody>
          <a:bodyPr wrap="square" lIns="635" tIns="635" rIns="635" bIns="635" rtlCol="0" anchor="ctr">
            <a:normAutofit/>
          </a:bodyPr>
          <a:lstStyle/>
          <a:p>
            <a:pPr algn="ctr" indent="0" marL="0">
              <a:buNone/>
            </a:pPr>
            <a:r>
              <a:rPr lang="en-US" sz="1300" dirty="0">
                <a:solidFill>
                  <a:srgbClr val="52606D"/>
                </a:solidFill>
                <a:latin typeface="Aptos" pitchFamily="34" charset="0"/>
                <a:ea typeface="Aptos" pitchFamily="34" charset="-122"/>
                <a:cs typeface="Aptos" pitchFamily="34" charset="-120"/>
              </a:rPr>
              <a:t>uses random tokens + shifting state</a:t>
            </a:r>
            <a:endParaRPr lang="en-US" sz="1300" dirty="0"/>
          </a:p>
        </p:txBody>
      </p:sp>
      <p:sp>
        <p:nvSpPr>
          <p:cNvPr id="12" name="Text 10"/>
          <p:cNvSpPr/>
          <p:nvPr/>
        </p:nvSpPr>
        <p:spPr>
          <a:xfrm>
            <a:off x="1097280" y="3977640"/>
            <a:ext cx="9875520" cy="411480"/>
          </a:xfrm>
          <a:prstGeom prst="rect">
            <a:avLst/>
          </a:prstGeom>
          <a:noFill/>
          <a:ln/>
        </p:spPr>
        <p:txBody>
          <a:bodyPr wrap="square" lIns="635" tIns="635" rIns="635" bIns="635" rtlCol="0" anchor="ctr">
            <a:normAutofit/>
          </a:bodyPr>
          <a:lstStyle/>
          <a:p>
            <a:pPr algn="ctr" indent="0" marL="0">
              <a:buNone/>
            </a:pPr>
            <a:r>
              <a:rPr lang="en-US" sz="2100" b="1" dirty="0">
                <a:solidFill>
                  <a:srgbClr val="102A43"/>
                </a:solidFill>
                <a:latin typeface="Aptos" pitchFamily="34" charset="0"/>
                <a:ea typeface="Aptos" pitchFamily="34" charset="-122"/>
                <a:cs typeface="Aptos" pitchFamily="34" charset="-120"/>
              </a:rPr>
              <a:t>Same principle, different input representation.</a:t>
            </a:r>
            <a:endParaRPr lang="en-US" sz="2100" dirty="0"/>
          </a:p>
        </p:txBody>
      </p:sp>
      <p:sp>
        <p:nvSpPr>
          <p:cNvPr id="13" name="Text 11"/>
          <p:cNvSpPr/>
          <p:nvPr/>
        </p:nvSpPr>
        <p:spPr>
          <a:xfrm>
            <a:off x="1051560" y="4617720"/>
            <a:ext cx="10012680" cy="50292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The more aggressive generalization comes at the cost of a less natural input format.</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 representative empirical picture</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Train accuracy can look excellent while OOD accuracy separates sharply.</a:t>
            </a:r>
            <a:endParaRPr lang="en-US" sz="1200" dirty="0"/>
          </a:p>
        </p:txBody>
      </p:sp>
      <p:sp>
        <p:nvSpPr>
          <p:cNvPr id="4" name="Shape 2"/>
          <p:cNvSpPr/>
          <p:nvPr/>
        </p:nvSpPr>
        <p:spPr>
          <a:xfrm>
            <a:off x="1005840" y="5212080"/>
            <a:ext cx="5760720" cy="0"/>
          </a:xfrm>
          <a:prstGeom prst="line">
            <a:avLst/>
          </a:prstGeom>
          <a:noFill/>
          <a:ln w="19050">
            <a:solidFill>
              <a:srgbClr val="94A3B8"/>
            </a:solidFill>
            <a:prstDash val="solid"/>
          </a:ln>
        </p:spPr>
      </p:sp>
      <p:sp>
        <p:nvSpPr>
          <p:cNvPr id="5" name="Shape 3"/>
          <p:cNvSpPr/>
          <p:nvPr/>
        </p:nvSpPr>
        <p:spPr>
          <a:xfrm>
            <a:off x="1005840" y="5212080"/>
            <a:ext cx="0" cy="-2743200"/>
          </a:xfrm>
          <a:prstGeom prst="line">
            <a:avLst/>
          </a:prstGeom>
          <a:noFill/>
          <a:ln w="19050">
            <a:solidFill>
              <a:srgbClr val="94A3B8"/>
            </a:solidFill>
            <a:prstDash val="solid"/>
          </a:ln>
        </p:spPr>
      </p:sp>
      <p:sp>
        <p:nvSpPr>
          <p:cNvPr id="6" name="Shape 4"/>
          <p:cNvSpPr/>
          <p:nvPr/>
        </p:nvSpPr>
        <p:spPr>
          <a:xfrm>
            <a:off x="1005840" y="4956048"/>
            <a:ext cx="1440180" cy="-896112"/>
          </a:xfrm>
          <a:prstGeom prst="line">
            <a:avLst/>
          </a:prstGeom>
          <a:noFill/>
          <a:ln w="27940">
            <a:solidFill>
              <a:srgbClr val="2563EB"/>
            </a:solidFill>
            <a:prstDash val="solid"/>
            <a:headEnd type="none"/>
            <a:tailEnd type="triangle"/>
          </a:ln>
        </p:spPr>
      </p:sp>
      <p:sp>
        <p:nvSpPr>
          <p:cNvPr id="7" name="Shape 5"/>
          <p:cNvSpPr/>
          <p:nvPr/>
        </p:nvSpPr>
        <p:spPr>
          <a:xfrm>
            <a:off x="2446020" y="4059936"/>
            <a:ext cx="1440180" cy="-896112"/>
          </a:xfrm>
          <a:prstGeom prst="line">
            <a:avLst/>
          </a:prstGeom>
          <a:noFill/>
          <a:ln w="27940">
            <a:solidFill>
              <a:srgbClr val="2563EB"/>
            </a:solidFill>
            <a:prstDash val="solid"/>
            <a:headEnd type="none"/>
            <a:tailEnd type="triangle"/>
          </a:ln>
        </p:spPr>
      </p:sp>
      <p:sp>
        <p:nvSpPr>
          <p:cNvPr id="8" name="Shape 6"/>
          <p:cNvSpPr/>
          <p:nvPr/>
        </p:nvSpPr>
        <p:spPr>
          <a:xfrm>
            <a:off x="3886200" y="3163824"/>
            <a:ext cx="1440180" cy="-384048"/>
          </a:xfrm>
          <a:prstGeom prst="line">
            <a:avLst/>
          </a:prstGeom>
          <a:noFill/>
          <a:ln w="27940">
            <a:solidFill>
              <a:srgbClr val="2563EB"/>
            </a:solidFill>
            <a:prstDash val="solid"/>
            <a:headEnd type="none"/>
            <a:tailEnd type="triangle"/>
          </a:ln>
        </p:spPr>
      </p:sp>
      <p:sp>
        <p:nvSpPr>
          <p:cNvPr id="9" name="Shape 7"/>
          <p:cNvSpPr/>
          <p:nvPr/>
        </p:nvSpPr>
        <p:spPr>
          <a:xfrm>
            <a:off x="5326380" y="2779776"/>
            <a:ext cx="1440180" cy="-128016"/>
          </a:xfrm>
          <a:prstGeom prst="line">
            <a:avLst/>
          </a:prstGeom>
          <a:noFill/>
          <a:ln w="27940">
            <a:solidFill>
              <a:srgbClr val="2563EB"/>
            </a:solidFill>
            <a:prstDash val="solid"/>
            <a:headEnd type="none"/>
            <a:tailEnd type="triangle"/>
          </a:ln>
        </p:spPr>
      </p:sp>
      <p:sp>
        <p:nvSpPr>
          <p:cNvPr id="10" name="Shape 8"/>
          <p:cNvSpPr/>
          <p:nvPr/>
        </p:nvSpPr>
        <p:spPr>
          <a:xfrm>
            <a:off x="1005840" y="4956048"/>
            <a:ext cx="1440180" cy="-768096"/>
          </a:xfrm>
          <a:prstGeom prst="line">
            <a:avLst/>
          </a:prstGeom>
          <a:noFill/>
          <a:ln w="27940">
            <a:solidFill>
              <a:srgbClr val="DC2626"/>
            </a:solidFill>
            <a:prstDash val="solid"/>
            <a:headEnd type="none"/>
            <a:tailEnd type="triangle"/>
          </a:ln>
        </p:spPr>
      </p:sp>
      <p:sp>
        <p:nvSpPr>
          <p:cNvPr id="11" name="Shape 9"/>
          <p:cNvSpPr/>
          <p:nvPr/>
        </p:nvSpPr>
        <p:spPr>
          <a:xfrm>
            <a:off x="2446020" y="4187952"/>
            <a:ext cx="1440180" cy="-1024128"/>
          </a:xfrm>
          <a:prstGeom prst="line">
            <a:avLst/>
          </a:prstGeom>
          <a:noFill/>
          <a:ln w="27940">
            <a:solidFill>
              <a:srgbClr val="DC2626"/>
            </a:solidFill>
            <a:prstDash val="solid"/>
            <a:headEnd type="none"/>
            <a:tailEnd type="triangle"/>
          </a:ln>
        </p:spPr>
      </p:sp>
      <p:sp>
        <p:nvSpPr>
          <p:cNvPr id="12" name="Shape 10"/>
          <p:cNvSpPr/>
          <p:nvPr/>
        </p:nvSpPr>
        <p:spPr>
          <a:xfrm>
            <a:off x="3886200" y="3163824"/>
            <a:ext cx="1440180" cy="-384048"/>
          </a:xfrm>
          <a:prstGeom prst="line">
            <a:avLst/>
          </a:prstGeom>
          <a:noFill/>
          <a:ln w="27940">
            <a:solidFill>
              <a:srgbClr val="DC2626"/>
            </a:solidFill>
            <a:prstDash val="solid"/>
            <a:headEnd type="none"/>
            <a:tailEnd type="triangle"/>
          </a:ln>
        </p:spPr>
      </p:sp>
      <p:sp>
        <p:nvSpPr>
          <p:cNvPr id="13" name="Shape 11"/>
          <p:cNvSpPr/>
          <p:nvPr/>
        </p:nvSpPr>
        <p:spPr>
          <a:xfrm>
            <a:off x="5326380" y="2779776"/>
            <a:ext cx="1440180" cy="-76810"/>
          </a:xfrm>
          <a:prstGeom prst="line">
            <a:avLst/>
          </a:prstGeom>
          <a:noFill/>
          <a:ln w="27940">
            <a:solidFill>
              <a:srgbClr val="DC2626"/>
            </a:solidFill>
            <a:prstDash val="solid"/>
            <a:headEnd type="none"/>
            <a:tailEnd type="triangle"/>
          </a:ln>
        </p:spPr>
      </p:sp>
      <p:sp>
        <p:nvSpPr>
          <p:cNvPr id="14" name="Shape 12"/>
          <p:cNvSpPr/>
          <p:nvPr/>
        </p:nvSpPr>
        <p:spPr>
          <a:xfrm>
            <a:off x="1005840" y="4956048"/>
            <a:ext cx="1440180" cy="-1024128"/>
          </a:xfrm>
          <a:prstGeom prst="line">
            <a:avLst/>
          </a:prstGeom>
          <a:noFill/>
          <a:ln w="27940">
            <a:solidFill>
              <a:srgbClr val="15803D"/>
            </a:solidFill>
            <a:prstDash val="solid"/>
            <a:headEnd type="none"/>
            <a:tailEnd type="triangle"/>
          </a:ln>
        </p:spPr>
      </p:sp>
      <p:sp>
        <p:nvSpPr>
          <p:cNvPr id="15" name="Shape 13"/>
          <p:cNvSpPr/>
          <p:nvPr/>
        </p:nvSpPr>
        <p:spPr>
          <a:xfrm>
            <a:off x="2446020" y="3931920"/>
            <a:ext cx="1440180" cy="-896112"/>
          </a:xfrm>
          <a:prstGeom prst="line">
            <a:avLst/>
          </a:prstGeom>
          <a:noFill/>
          <a:ln w="27940">
            <a:solidFill>
              <a:srgbClr val="15803D"/>
            </a:solidFill>
            <a:prstDash val="solid"/>
            <a:headEnd type="none"/>
            <a:tailEnd type="triangle"/>
          </a:ln>
        </p:spPr>
      </p:sp>
      <p:sp>
        <p:nvSpPr>
          <p:cNvPr id="16" name="Shape 14"/>
          <p:cNvSpPr/>
          <p:nvPr/>
        </p:nvSpPr>
        <p:spPr>
          <a:xfrm>
            <a:off x="3886200" y="3035808"/>
            <a:ext cx="1440180" cy="-281635"/>
          </a:xfrm>
          <a:prstGeom prst="line">
            <a:avLst/>
          </a:prstGeom>
          <a:noFill/>
          <a:ln w="27940">
            <a:solidFill>
              <a:srgbClr val="15803D"/>
            </a:solidFill>
            <a:prstDash val="solid"/>
            <a:headEnd type="none"/>
            <a:tailEnd type="triangle"/>
          </a:ln>
        </p:spPr>
      </p:sp>
      <p:sp>
        <p:nvSpPr>
          <p:cNvPr id="17" name="Shape 15"/>
          <p:cNvSpPr/>
          <p:nvPr/>
        </p:nvSpPr>
        <p:spPr>
          <a:xfrm>
            <a:off x="5326380" y="2754173"/>
            <a:ext cx="1440180" cy="-76810"/>
          </a:xfrm>
          <a:prstGeom prst="line">
            <a:avLst/>
          </a:prstGeom>
          <a:noFill/>
          <a:ln w="27940">
            <a:solidFill>
              <a:srgbClr val="15803D"/>
            </a:solidFill>
            <a:prstDash val="solid"/>
            <a:headEnd type="none"/>
            <a:tailEnd type="triangle"/>
          </a:ln>
        </p:spPr>
      </p:sp>
      <p:sp>
        <p:nvSpPr>
          <p:cNvPr id="18" name="Text 16"/>
          <p:cNvSpPr/>
          <p:nvPr/>
        </p:nvSpPr>
        <p:spPr>
          <a:xfrm>
            <a:off x="2697480" y="5513832"/>
            <a:ext cx="2286000" cy="274320"/>
          </a:xfrm>
          <a:prstGeom prst="rect">
            <a:avLst/>
          </a:prstGeom>
          <a:noFill/>
          <a:ln/>
        </p:spPr>
        <p:txBody>
          <a:bodyPr wrap="square" lIns="635" tIns="635" rIns="635" bIns="635" rtlCol="0" anchor="ctr">
            <a:normAutofit/>
          </a:bodyPr>
          <a:lstStyle/>
          <a:p>
            <a:pPr algn="ctr" indent="0" marL="0">
              <a:buNone/>
            </a:pPr>
            <a:r>
              <a:rPr lang="en-US" sz="1200" dirty="0">
                <a:solidFill>
                  <a:srgbClr val="52606D"/>
                </a:solidFill>
                <a:latin typeface="Aptos" pitchFamily="34" charset="0"/>
                <a:ea typeface="Aptos" pitchFamily="34" charset="-122"/>
                <a:cs typeface="Aptos" pitchFamily="34" charset="-120"/>
              </a:rPr>
              <a:t>training progress</a:t>
            </a:r>
            <a:endParaRPr lang="en-US" sz="1200" dirty="0"/>
          </a:p>
        </p:txBody>
      </p:sp>
      <p:sp>
        <p:nvSpPr>
          <p:cNvPr id="19" name="Shape 17"/>
          <p:cNvSpPr/>
          <p:nvPr/>
        </p:nvSpPr>
        <p:spPr>
          <a:xfrm>
            <a:off x="7543800" y="1554480"/>
            <a:ext cx="1371600" cy="347472"/>
          </a:xfrm>
          <a:prstGeom prst="roundRect">
            <a:avLst>
              <a:gd name="adj" fmla="val 31579"/>
            </a:avLst>
          </a:prstGeom>
          <a:solidFill>
            <a:srgbClr val="2563EB"/>
          </a:solidFill>
          <a:ln w="12700">
            <a:solidFill>
              <a:srgbClr val="2563EB">
                <a:alpha val="0"/>
              </a:srgbClr>
            </a:solidFill>
            <a:prstDash val="solid"/>
          </a:ln>
        </p:spPr>
      </p:sp>
      <p:sp>
        <p:nvSpPr>
          <p:cNvPr id="20" name="Text 18"/>
          <p:cNvSpPr/>
          <p:nvPr/>
        </p:nvSpPr>
        <p:spPr>
          <a:xfrm>
            <a:off x="7543800" y="1563624"/>
            <a:ext cx="13716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train / in-dist</a:t>
            </a:r>
            <a:endParaRPr lang="en-US" sz="1000" dirty="0"/>
          </a:p>
        </p:txBody>
      </p:sp>
      <p:sp>
        <p:nvSpPr>
          <p:cNvPr id="21" name="Shape 19"/>
          <p:cNvSpPr/>
          <p:nvPr/>
        </p:nvSpPr>
        <p:spPr>
          <a:xfrm>
            <a:off x="7543800" y="2057400"/>
            <a:ext cx="1371600" cy="347472"/>
          </a:xfrm>
          <a:prstGeom prst="roundRect">
            <a:avLst>
              <a:gd name="adj" fmla="val 31579"/>
            </a:avLst>
          </a:prstGeom>
          <a:solidFill>
            <a:srgbClr val="DC2626"/>
          </a:solidFill>
          <a:ln w="12700">
            <a:solidFill>
              <a:srgbClr val="DC2626">
                <a:alpha val="0"/>
              </a:srgbClr>
            </a:solidFill>
            <a:prstDash val="solid"/>
          </a:ln>
        </p:spPr>
      </p:sp>
      <p:sp>
        <p:nvSpPr>
          <p:cNvPr id="22" name="Text 20"/>
          <p:cNvSpPr/>
          <p:nvPr/>
        </p:nvSpPr>
        <p:spPr>
          <a:xfrm>
            <a:off x="7543800" y="2066544"/>
            <a:ext cx="13716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educated OOD</a:t>
            </a:r>
            <a:endParaRPr lang="en-US" sz="1000" dirty="0"/>
          </a:p>
        </p:txBody>
      </p:sp>
      <p:sp>
        <p:nvSpPr>
          <p:cNvPr id="23" name="Shape 21"/>
          <p:cNvSpPr/>
          <p:nvPr/>
        </p:nvSpPr>
        <p:spPr>
          <a:xfrm>
            <a:off x="7543800" y="2560320"/>
            <a:ext cx="1371600" cy="347472"/>
          </a:xfrm>
          <a:prstGeom prst="roundRect">
            <a:avLst>
              <a:gd name="adj" fmla="val 31579"/>
            </a:avLst>
          </a:prstGeom>
          <a:solidFill>
            <a:srgbClr val="15803D"/>
          </a:solidFill>
          <a:ln w="12700">
            <a:solidFill>
              <a:srgbClr val="15803D">
                <a:alpha val="0"/>
              </a:srgbClr>
            </a:solidFill>
            <a:prstDash val="solid"/>
          </a:ln>
        </p:spPr>
      </p:sp>
      <p:sp>
        <p:nvSpPr>
          <p:cNvPr id="24" name="Text 22"/>
          <p:cNvSpPr/>
          <p:nvPr/>
        </p:nvSpPr>
        <p:spPr>
          <a:xfrm>
            <a:off x="7543800" y="2569464"/>
            <a:ext cx="13716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inductive OOD</a:t>
            </a:r>
            <a:endParaRPr lang="en-US" sz="1000" dirty="0"/>
          </a:p>
        </p:txBody>
      </p:sp>
      <p:sp>
        <p:nvSpPr>
          <p:cNvPr id="25" name="Text 23"/>
          <p:cNvSpPr/>
          <p:nvPr/>
        </p:nvSpPr>
        <p:spPr>
          <a:xfrm>
            <a:off x="7315200" y="3246120"/>
            <a:ext cx="3749040" cy="384048"/>
          </a:xfrm>
          <a:prstGeom prst="rect">
            <a:avLst/>
          </a:prstGeom>
          <a:noFill/>
          <a:ln/>
        </p:spPr>
        <p:txBody>
          <a:bodyPr wrap="square" lIns="635" tIns="635" rIns="635" bIns="635" rtlCol="0" anchor="ctr">
            <a:normAutofit/>
          </a:bodyPr>
          <a:lstStyle/>
          <a:p>
            <a:pPr algn="ctr" indent="0" marL="0">
              <a:buNone/>
            </a:pPr>
            <a:r>
              <a:rPr lang="en-US" sz="1500" b="1" dirty="0">
                <a:solidFill>
                  <a:srgbClr val="102A43"/>
                </a:solidFill>
                <a:latin typeface="Aptos" pitchFamily="34" charset="0"/>
                <a:ea typeface="Aptos" pitchFamily="34" charset="-122"/>
                <a:cs typeface="Aptos" pitchFamily="34" charset="-120"/>
              </a:rPr>
              <a:t>The visual lesson is more important than the exact curve:</a:t>
            </a:r>
            <a:endParaRPr lang="en-US" sz="1500" dirty="0"/>
          </a:p>
        </p:txBody>
      </p:sp>
      <p:sp>
        <p:nvSpPr>
          <p:cNvPr id="26" name="Text 24"/>
          <p:cNvSpPr/>
          <p:nvPr/>
        </p:nvSpPr>
        <p:spPr>
          <a:xfrm>
            <a:off x="7223760" y="3730752"/>
            <a:ext cx="3931920" cy="914400"/>
          </a:xfrm>
          <a:prstGeom prst="rect">
            <a:avLst/>
          </a:prstGeom>
          <a:noFill/>
          <a:ln/>
        </p:spPr>
        <p:txBody>
          <a:bodyPr wrap="square" lIns="635" tIns="635" rIns="635" bIns="635" rtlCol="0" anchor="ctr">
            <a:normAutofit/>
          </a:bodyPr>
          <a:lstStyle/>
          <a:p>
            <a:pPr algn="ctr" indent="0" marL="0">
              <a:buNone/>
            </a:pPr>
            <a:r>
              <a:rPr lang="en-US" sz="2100" b="1" dirty="0">
                <a:solidFill>
                  <a:srgbClr val="102A43"/>
                </a:solidFill>
                <a:latin typeface="Aptos" pitchFamily="34" charset="0"/>
                <a:ea typeface="Aptos" pitchFamily="34" charset="-122"/>
                <a:cs typeface="Aptos" pitchFamily="34" charset="-120"/>
              </a:rPr>
              <a:t>A scratchpad can solve the training distribution and still fail to encode the reusable rule.</a:t>
            </a:r>
            <a:endParaRPr lang="en-US" sz="21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How close is this to a modern Transformer?</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Closer than a toy MLP—but still far from a production LLM.</a:t>
            </a:r>
            <a:endParaRPr lang="en-US" sz="1200" dirty="0"/>
          </a:p>
        </p:txBody>
      </p:sp>
      <p:sp>
        <p:nvSpPr>
          <p:cNvPr id="4" name="Text 2"/>
          <p:cNvSpPr/>
          <p:nvPr/>
        </p:nvSpPr>
        <p:spPr>
          <a:xfrm>
            <a:off x="868680" y="1188720"/>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Transformer backbone</a:t>
            </a:r>
            <a:endParaRPr lang="en-US" sz="1400" dirty="0"/>
          </a:p>
        </p:txBody>
      </p:sp>
      <p:sp>
        <p:nvSpPr>
          <p:cNvPr id="5" name="Shape 3"/>
          <p:cNvSpPr/>
          <p:nvPr/>
        </p:nvSpPr>
        <p:spPr>
          <a:xfrm>
            <a:off x="3520440" y="1170432"/>
            <a:ext cx="2057400" cy="347472"/>
          </a:xfrm>
          <a:prstGeom prst="roundRect">
            <a:avLst>
              <a:gd name="adj" fmla="val 31579"/>
            </a:avLst>
          </a:prstGeom>
          <a:solidFill>
            <a:srgbClr val="15803D"/>
          </a:solidFill>
          <a:ln w="12700">
            <a:solidFill>
              <a:srgbClr val="15803D">
                <a:alpha val="0"/>
              </a:srgbClr>
            </a:solidFill>
            <a:prstDash val="solid"/>
          </a:ln>
        </p:spPr>
      </p:sp>
      <p:sp>
        <p:nvSpPr>
          <p:cNvPr id="6" name="Text 4"/>
          <p:cNvSpPr/>
          <p:nvPr/>
        </p:nvSpPr>
        <p:spPr>
          <a:xfrm>
            <a:off x="3520440" y="1179576"/>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YES</a:t>
            </a:r>
            <a:endParaRPr lang="en-US" sz="1000" dirty="0"/>
          </a:p>
        </p:txBody>
      </p:sp>
      <p:sp>
        <p:nvSpPr>
          <p:cNvPr id="7" name="Text 5"/>
          <p:cNvSpPr/>
          <p:nvPr/>
        </p:nvSpPr>
        <p:spPr>
          <a:xfrm>
            <a:off x="5897880" y="1188720"/>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T-regular Transformer family</a:t>
            </a:r>
            <a:endParaRPr lang="en-US" sz="1400" dirty="0"/>
          </a:p>
        </p:txBody>
      </p:sp>
      <p:sp>
        <p:nvSpPr>
          <p:cNvPr id="8" name="Text 6"/>
          <p:cNvSpPr/>
          <p:nvPr/>
        </p:nvSpPr>
        <p:spPr>
          <a:xfrm>
            <a:off x="868680" y="1938528"/>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Self-attention</a:t>
            </a:r>
            <a:endParaRPr lang="en-US" sz="1400" dirty="0"/>
          </a:p>
        </p:txBody>
      </p:sp>
      <p:sp>
        <p:nvSpPr>
          <p:cNvPr id="9" name="Shape 7"/>
          <p:cNvSpPr/>
          <p:nvPr/>
        </p:nvSpPr>
        <p:spPr>
          <a:xfrm>
            <a:off x="3520440" y="1920240"/>
            <a:ext cx="2057400" cy="347472"/>
          </a:xfrm>
          <a:prstGeom prst="roundRect">
            <a:avLst>
              <a:gd name="adj" fmla="val 31579"/>
            </a:avLst>
          </a:prstGeom>
          <a:solidFill>
            <a:srgbClr val="15803D"/>
          </a:solidFill>
          <a:ln w="12700">
            <a:solidFill>
              <a:srgbClr val="15803D">
                <a:alpha val="0"/>
              </a:srgbClr>
            </a:solidFill>
            <a:prstDash val="solid"/>
          </a:ln>
        </p:spPr>
      </p:sp>
      <p:sp>
        <p:nvSpPr>
          <p:cNvPr id="10" name="Text 8"/>
          <p:cNvSpPr/>
          <p:nvPr/>
        </p:nvSpPr>
        <p:spPr>
          <a:xfrm>
            <a:off x="3520440" y="1929384"/>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YES</a:t>
            </a:r>
            <a:endParaRPr lang="en-US" sz="1000" dirty="0"/>
          </a:p>
        </p:txBody>
      </p:sp>
      <p:sp>
        <p:nvSpPr>
          <p:cNvPr id="11" name="Text 9"/>
          <p:cNvSpPr/>
          <p:nvPr/>
        </p:nvSpPr>
        <p:spPr>
          <a:xfrm>
            <a:off x="5897880" y="1938528"/>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bidirectional in the core theorem</a:t>
            </a:r>
            <a:endParaRPr lang="en-US" sz="1400" dirty="0"/>
          </a:p>
        </p:txBody>
      </p:sp>
      <p:sp>
        <p:nvSpPr>
          <p:cNvPr id="12" name="Text 10"/>
          <p:cNvSpPr/>
          <p:nvPr/>
        </p:nvSpPr>
        <p:spPr>
          <a:xfrm>
            <a:off x="868680" y="2688336"/>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Residual / LN / causal mask</a:t>
            </a:r>
            <a:endParaRPr lang="en-US" sz="1400" dirty="0"/>
          </a:p>
        </p:txBody>
      </p:sp>
      <p:sp>
        <p:nvSpPr>
          <p:cNvPr id="13" name="Shape 11"/>
          <p:cNvSpPr/>
          <p:nvPr/>
        </p:nvSpPr>
        <p:spPr>
          <a:xfrm>
            <a:off x="3520440" y="2670048"/>
            <a:ext cx="2057400" cy="347472"/>
          </a:xfrm>
          <a:prstGeom prst="roundRect">
            <a:avLst>
              <a:gd name="adj" fmla="val 31579"/>
            </a:avLst>
          </a:prstGeom>
          <a:solidFill>
            <a:srgbClr val="DC2626"/>
          </a:solidFill>
          <a:ln w="12700">
            <a:solidFill>
              <a:srgbClr val="DC2626">
                <a:alpha val="0"/>
              </a:srgbClr>
            </a:solidFill>
            <a:prstDash val="solid"/>
          </a:ln>
        </p:spPr>
      </p:sp>
      <p:sp>
        <p:nvSpPr>
          <p:cNvPr id="14" name="Text 12"/>
          <p:cNvSpPr/>
          <p:nvPr/>
        </p:nvSpPr>
        <p:spPr>
          <a:xfrm>
            <a:off x="3520440" y="2679192"/>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NOT faithful</a:t>
            </a:r>
            <a:endParaRPr lang="en-US" sz="1000" dirty="0"/>
          </a:p>
        </p:txBody>
      </p:sp>
      <p:sp>
        <p:nvSpPr>
          <p:cNvPr id="15" name="Text 13"/>
          <p:cNvSpPr/>
          <p:nvPr/>
        </p:nvSpPr>
        <p:spPr>
          <a:xfrm>
            <a:off x="5897880" y="2688336"/>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simplifications / different assumptions</a:t>
            </a:r>
            <a:endParaRPr lang="en-US" sz="1400" dirty="0"/>
          </a:p>
        </p:txBody>
      </p:sp>
      <p:sp>
        <p:nvSpPr>
          <p:cNvPr id="16" name="Text 14"/>
          <p:cNvSpPr/>
          <p:nvPr/>
        </p:nvSpPr>
        <p:spPr>
          <a:xfrm>
            <a:off x="868680" y="3438144"/>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Token embeddings</a:t>
            </a:r>
            <a:endParaRPr lang="en-US" sz="1400" dirty="0"/>
          </a:p>
        </p:txBody>
      </p:sp>
      <p:sp>
        <p:nvSpPr>
          <p:cNvPr id="17" name="Shape 15"/>
          <p:cNvSpPr/>
          <p:nvPr/>
        </p:nvSpPr>
        <p:spPr>
          <a:xfrm>
            <a:off x="3520440" y="3419856"/>
            <a:ext cx="2057400" cy="347472"/>
          </a:xfrm>
          <a:prstGeom prst="roundRect">
            <a:avLst>
              <a:gd name="adj" fmla="val 31579"/>
            </a:avLst>
          </a:prstGeom>
          <a:solidFill>
            <a:srgbClr val="F97316"/>
          </a:solidFill>
          <a:ln w="12700">
            <a:solidFill>
              <a:srgbClr val="F97316">
                <a:alpha val="0"/>
              </a:srgbClr>
            </a:solidFill>
            <a:prstDash val="solid"/>
          </a:ln>
        </p:spPr>
      </p:sp>
      <p:sp>
        <p:nvSpPr>
          <p:cNvPr id="18" name="Text 16"/>
          <p:cNvSpPr/>
          <p:nvPr/>
        </p:nvSpPr>
        <p:spPr>
          <a:xfrm>
            <a:off x="3520440" y="3429000"/>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Gaussian iid positional embeddings</a:t>
            </a:r>
            <a:endParaRPr lang="en-US" sz="1000" dirty="0"/>
          </a:p>
        </p:txBody>
      </p:sp>
      <p:sp>
        <p:nvSpPr>
          <p:cNvPr id="19" name="Text 17"/>
          <p:cNvSpPr/>
          <p:nvPr/>
        </p:nvSpPr>
        <p:spPr>
          <a:xfrm>
            <a:off x="5897880" y="3438144"/>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stylized</a:t>
            </a:r>
            <a:endParaRPr lang="en-US" sz="1400" dirty="0"/>
          </a:p>
        </p:txBody>
      </p:sp>
      <p:sp>
        <p:nvSpPr>
          <p:cNvPr id="20" name="Text 18"/>
          <p:cNvSpPr/>
          <p:nvPr/>
        </p:nvSpPr>
        <p:spPr>
          <a:xfrm>
            <a:off x="868680" y="4187952"/>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Scale</a:t>
            </a:r>
            <a:endParaRPr lang="en-US" sz="1400" dirty="0"/>
          </a:p>
        </p:txBody>
      </p:sp>
      <p:sp>
        <p:nvSpPr>
          <p:cNvPr id="21" name="Shape 19"/>
          <p:cNvSpPr/>
          <p:nvPr/>
        </p:nvSpPr>
        <p:spPr>
          <a:xfrm>
            <a:off x="3520440" y="4169664"/>
            <a:ext cx="2057400" cy="347472"/>
          </a:xfrm>
          <a:prstGeom prst="roundRect">
            <a:avLst>
              <a:gd name="adj" fmla="val 31579"/>
            </a:avLst>
          </a:prstGeom>
          <a:solidFill>
            <a:srgbClr val="F97316"/>
          </a:solidFill>
          <a:ln w="12700">
            <a:solidFill>
              <a:srgbClr val="F97316">
                <a:alpha val="0"/>
              </a:srgbClr>
            </a:solidFill>
            <a:prstDash val="solid"/>
          </a:ln>
        </p:spPr>
      </p:sp>
      <p:sp>
        <p:nvSpPr>
          <p:cNvPr id="22" name="Text 20"/>
          <p:cNvSpPr/>
          <p:nvPr/>
        </p:nvSpPr>
        <p:spPr>
          <a:xfrm>
            <a:off x="3520440" y="4178808"/>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poly(n)</a:t>
            </a:r>
            <a:endParaRPr lang="en-US" sz="1000" dirty="0"/>
          </a:p>
        </p:txBody>
      </p:sp>
      <p:sp>
        <p:nvSpPr>
          <p:cNvPr id="23" name="Text 21"/>
          <p:cNvSpPr/>
          <p:nvPr/>
        </p:nvSpPr>
        <p:spPr>
          <a:xfrm>
            <a:off x="5897880" y="4187952"/>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asymptotic, not GPT-scale empirical</a:t>
            </a:r>
            <a:endParaRPr lang="en-US" sz="1400" dirty="0"/>
          </a:p>
        </p:txBody>
      </p:sp>
      <p:sp>
        <p:nvSpPr>
          <p:cNvPr id="24" name="Text 22"/>
          <p:cNvSpPr/>
          <p:nvPr/>
        </p:nvSpPr>
        <p:spPr>
          <a:xfrm>
            <a:off x="868680" y="4937760"/>
            <a:ext cx="2468880" cy="320040"/>
          </a:xfrm>
          <a:prstGeom prst="rect">
            <a:avLst/>
          </a:prstGeom>
          <a:noFill/>
          <a:ln/>
        </p:spPr>
        <p:txBody>
          <a:bodyPr wrap="square" lIns="635" tIns="635" rIns="635" bIns="635" rtlCol="0" anchor="ctr">
            <a:normAutofit/>
          </a:bodyPr>
          <a:lstStyle/>
          <a:p>
            <a:pPr algn="l" indent="0" marL="0">
              <a:buNone/>
            </a:pPr>
            <a:r>
              <a:rPr lang="en-US" sz="1400" b="1" dirty="0">
                <a:solidFill>
                  <a:srgbClr val="102A43"/>
                </a:solidFill>
                <a:latin typeface="Aptos" pitchFamily="34" charset="0"/>
                <a:ea typeface="Aptos" pitchFamily="34" charset="-122"/>
                <a:cs typeface="Aptos" pitchFamily="34" charset="-120"/>
              </a:rPr>
              <a:t>Training</a:t>
            </a:r>
            <a:endParaRPr lang="en-US" sz="1400" dirty="0"/>
          </a:p>
        </p:txBody>
      </p:sp>
      <p:sp>
        <p:nvSpPr>
          <p:cNvPr id="25" name="Shape 23"/>
          <p:cNvSpPr/>
          <p:nvPr/>
        </p:nvSpPr>
        <p:spPr>
          <a:xfrm>
            <a:off x="3520440" y="4919472"/>
            <a:ext cx="2057400" cy="347472"/>
          </a:xfrm>
          <a:prstGeom prst="roundRect">
            <a:avLst>
              <a:gd name="adj" fmla="val 31579"/>
            </a:avLst>
          </a:prstGeom>
          <a:solidFill>
            <a:srgbClr val="F97316"/>
          </a:solidFill>
          <a:ln w="12700">
            <a:solidFill>
              <a:srgbClr val="F97316">
                <a:alpha val="0"/>
              </a:srgbClr>
            </a:solidFill>
            <a:prstDash val="solid"/>
          </a:ln>
        </p:spPr>
      </p:sp>
      <p:sp>
        <p:nvSpPr>
          <p:cNvPr id="26" name="Text 24"/>
          <p:cNvSpPr/>
          <p:nvPr/>
        </p:nvSpPr>
        <p:spPr>
          <a:xfrm>
            <a:off x="3520440" y="4928616"/>
            <a:ext cx="205740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GD / SGD on fixed D</a:t>
            </a:r>
            <a:endParaRPr lang="en-US" sz="1000" dirty="0"/>
          </a:p>
        </p:txBody>
      </p:sp>
      <p:sp>
        <p:nvSpPr>
          <p:cNvPr id="27" name="Text 25"/>
          <p:cNvSpPr/>
          <p:nvPr/>
        </p:nvSpPr>
        <p:spPr>
          <a:xfrm>
            <a:off x="5897880" y="4937760"/>
            <a:ext cx="5303520" cy="320040"/>
          </a:xfrm>
          <a:prstGeom prst="rect">
            <a:avLst/>
          </a:prstGeom>
          <a:noFill/>
          <a:ln/>
        </p:spPr>
        <p:txBody>
          <a:bodyPr wrap="square" lIns="635" tIns="635" rIns="635" bIns="635" rtlCol="0" anchor="ctr">
            <a:normAutofit/>
          </a:bodyPr>
          <a:lstStyle/>
          <a:p>
            <a:pPr algn="l" indent="0" marL="0">
              <a:buNone/>
            </a:pPr>
            <a:r>
              <a:rPr lang="en-US" sz="1400" dirty="0">
                <a:solidFill>
                  <a:srgbClr val="52606D"/>
                </a:solidFill>
                <a:latin typeface="Aptos" pitchFamily="34" charset="0"/>
                <a:ea typeface="Aptos" pitchFamily="34" charset="-122"/>
                <a:cs typeface="Aptos" pitchFamily="34" charset="-120"/>
              </a:rPr>
              <a:t>not RLHF / pretraining / adaptive data</a:t>
            </a:r>
            <a:endParaRPr lang="en-US" sz="1400" dirty="0"/>
          </a:p>
        </p:txBody>
      </p:sp>
      <p:sp>
        <p:nvSpPr>
          <p:cNvPr id="28" name="Shape 26"/>
          <p:cNvSpPr/>
          <p:nvPr/>
        </p:nvSpPr>
        <p:spPr>
          <a:xfrm>
            <a:off x="868680" y="5715000"/>
            <a:ext cx="10241280" cy="457200"/>
          </a:xfrm>
          <a:prstGeom prst="roundRect">
            <a:avLst>
              <a:gd name="adj" fmla="val 12000"/>
            </a:avLst>
          </a:prstGeom>
          <a:solidFill>
            <a:srgbClr val="FFF7ED"/>
          </a:solidFill>
          <a:ln w="12700">
            <a:solidFill>
              <a:srgbClr val="FED7AA"/>
            </a:solidFill>
            <a:prstDash val="solid"/>
          </a:ln>
        </p:spPr>
      </p:sp>
      <p:sp>
        <p:nvSpPr>
          <p:cNvPr id="29" name="Text 27"/>
          <p:cNvSpPr/>
          <p:nvPr/>
        </p:nvSpPr>
        <p:spPr>
          <a:xfrm>
            <a:off x="1097280" y="5788152"/>
            <a:ext cx="9692640" cy="256032"/>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Interpretation: theory for a Transformer-like symmetry class, not a literal theory of current LLM training.</a:t>
            </a:r>
            <a:endParaRPr lang="en-US" sz="13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What assumption really carries the barrier?</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Permutation symmetry of the input positions is the key structural lever.</a:t>
            </a:r>
            <a:endParaRPr lang="en-US" sz="1200" dirty="0"/>
          </a:p>
        </p:txBody>
      </p:sp>
      <p:sp>
        <p:nvSpPr>
          <p:cNvPr id="4" name="Shape 2"/>
          <p:cNvSpPr/>
          <p:nvPr/>
        </p:nvSpPr>
        <p:spPr>
          <a:xfrm>
            <a:off x="1097280" y="1554480"/>
            <a:ext cx="457200" cy="457200"/>
          </a:xfrm>
          <a:prstGeom prst="ellipse">
            <a:avLst/>
          </a:prstGeom>
          <a:solidFill>
            <a:srgbClr val="2563EB"/>
          </a:solidFill>
          <a:ln w="12700">
            <a:solidFill>
              <a:srgbClr val="2563EB"/>
            </a:solidFill>
            <a:prstDash val="solid"/>
          </a:ln>
        </p:spPr>
      </p:sp>
      <p:sp>
        <p:nvSpPr>
          <p:cNvPr id="5" name="Text 3"/>
          <p:cNvSpPr/>
          <p:nvPr/>
        </p:nvSpPr>
        <p:spPr>
          <a:xfrm>
            <a:off x="1097280" y="157276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6" name="Shape 4"/>
          <p:cNvSpPr/>
          <p:nvPr/>
        </p:nvSpPr>
        <p:spPr>
          <a:xfrm>
            <a:off x="2286000" y="1554480"/>
            <a:ext cx="457200" cy="457200"/>
          </a:xfrm>
          <a:prstGeom prst="ellipse">
            <a:avLst/>
          </a:prstGeom>
          <a:solidFill>
            <a:srgbClr val="2563EB"/>
          </a:solidFill>
          <a:ln w="12700">
            <a:solidFill>
              <a:srgbClr val="2563EB"/>
            </a:solidFill>
            <a:prstDash val="solid"/>
          </a:ln>
        </p:spPr>
      </p:sp>
      <p:sp>
        <p:nvSpPr>
          <p:cNvPr id="7" name="Text 5"/>
          <p:cNvSpPr/>
          <p:nvPr/>
        </p:nvSpPr>
        <p:spPr>
          <a:xfrm>
            <a:off x="2286000" y="157276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8" name="Shape 6"/>
          <p:cNvSpPr/>
          <p:nvPr/>
        </p:nvSpPr>
        <p:spPr>
          <a:xfrm>
            <a:off x="3474720" y="1554480"/>
            <a:ext cx="457200" cy="457200"/>
          </a:xfrm>
          <a:prstGeom prst="ellipse">
            <a:avLst/>
          </a:prstGeom>
          <a:solidFill>
            <a:srgbClr val="2563EB"/>
          </a:solidFill>
          <a:ln w="12700">
            <a:solidFill>
              <a:srgbClr val="2563EB"/>
            </a:solidFill>
            <a:prstDash val="solid"/>
          </a:ln>
        </p:spPr>
      </p:sp>
      <p:sp>
        <p:nvSpPr>
          <p:cNvPr id="9" name="Text 7"/>
          <p:cNvSpPr/>
          <p:nvPr/>
        </p:nvSpPr>
        <p:spPr>
          <a:xfrm>
            <a:off x="3474720" y="157276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0" name="Shape 8"/>
          <p:cNvSpPr/>
          <p:nvPr/>
        </p:nvSpPr>
        <p:spPr>
          <a:xfrm>
            <a:off x="4663440" y="1554480"/>
            <a:ext cx="457200" cy="457200"/>
          </a:xfrm>
          <a:prstGeom prst="ellipse">
            <a:avLst/>
          </a:prstGeom>
          <a:solidFill>
            <a:srgbClr val="2563EB"/>
          </a:solidFill>
          <a:ln w="12700">
            <a:solidFill>
              <a:srgbClr val="2563EB"/>
            </a:solidFill>
            <a:prstDash val="solid"/>
          </a:ln>
        </p:spPr>
      </p:sp>
      <p:sp>
        <p:nvSpPr>
          <p:cNvPr id="11" name="Text 9"/>
          <p:cNvSpPr/>
          <p:nvPr/>
        </p:nvSpPr>
        <p:spPr>
          <a:xfrm>
            <a:off x="4663440" y="1572768"/>
            <a:ext cx="457200" cy="420624"/>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2" name="Text 10"/>
          <p:cNvSpPr/>
          <p:nvPr/>
        </p:nvSpPr>
        <p:spPr>
          <a:xfrm>
            <a:off x="2560320" y="1664208"/>
            <a:ext cx="2011680" cy="274320"/>
          </a:xfrm>
          <a:prstGeom prst="rect">
            <a:avLst/>
          </a:prstGeom>
          <a:noFill/>
          <a:ln/>
        </p:spPr>
        <p:txBody>
          <a:bodyPr wrap="square" lIns="635" tIns="635" rIns="635" bIns="635" rtlCol="0" anchor="ctr">
            <a:normAutofit/>
          </a:bodyPr>
          <a:lstStyle/>
          <a:p>
            <a:pPr algn="ctr" indent="0" marL="0">
              <a:buNone/>
            </a:pPr>
            <a:r>
              <a:rPr lang="en-US" sz="1400" b="1" dirty="0">
                <a:solidFill>
                  <a:srgbClr val="2563EB"/>
                </a:solidFill>
                <a:latin typeface="Aptos" pitchFamily="34" charset="0"/>
                <a:ea typeface="Aptos" pitchFamily="34" charset="-122"/>
                <a:cs typeface="Aptos" pitchFamily="34" charset="-120"/>
              </a:rPr>
              <a:t>permute input blocks</a:t>
            </a:r>
            <a:endParaRPr lang="en-US" sz="1400" dirty="0"/>
          </a:p>
        </p:txBody>
      </p:sp>
      <p:sp>
        <p:nvSpPr>
          <p:cNvPr id="13" name="Shape 11"/>
          <p:cNvSpPr/>
          <p:nvPr/>
        </p:nvSpPr>
        <p:spPr>
          <a:xfrm>
            <a:off x="4846320" y="1783080"/>
            <a:ext cx="1051560" cy="0"/>
          </a:xfrm>
          <a:prstGeom prst="line">
            <a:avLst/>
          </a:prstGeom>
          <a:noFill/>
          <a:ln w="38100">
            <a:solidFill>
              <a:srgbClr val="2563EB"/>
            </a:solidFill>
            <a:prstDash val="solid"/>
            <a:headEnd type="none"/>
            <a:tailEnd type="triangle"/>
          </a:ln>
        </p:spPr>
      </p:sp>
      <p:sp>
        <p:nvSpPr>
          <p:cNvPr id="14" name="Shape 12"/>
          <p:cNvSpPr/>
          <p:nvPr/>
        </p:nvSpPr>
        <p:spPr>
          <a:xfrm>
            <a:off x="6035040" y="1325880"/>
            <a:ext cx="2194560" cy="1051560"/>
          </a:xfrm>
          <a:prstGeom prst="roundRect">
            <a:avLst>
              <a:gd name="adj" fmla="val 5217"/>
            </a:avLst>
          </a:prstGeom>
          <a:solidFill>
            <a:srgbClr val="EEF2FF"/>
          </a:solidFill>
          <a:ln w="12700">
            <a:solidFill>
              <a:srgbClr val="BFDBFE"/>
            </a:solidFill>
            <a:prstDash val="solid"/>
          </a:ln>
        </p:spPr>
      </p:sp>
      <p:sp>
        <p:nvSpPr>
          <p:cNvPr id="15" name="Text 13"/>
          <p:cNvSpPr/>
          <p:nvPr/>
        </p:nvSpPr>
        <p:spPr>
          <a:xfrm>
            <a:off x="6263640" y="1554480"/>
            <a:ext cx="1737360" cy="457200"/>
          </a:xfrm>
          <a:prstGeom prst="rect">
            <a:avLst/>
          </a:prstGeom>
          <a:noFill/>
          <a:ln/>
        </p:spPr>
        <p:txBody>
          <a:bodyPr wrap="square" lIns="635" tIns="635" rIns="635" bIns="635" rtlCol="0" anchor="ctr">
            <a:normAutofit/>
          </a:bodyPr>
          <a:lstStyle/>
          <a:p>
            <a:pPr algn="ctr" indent="0" marL="0">
              <a:buNone/>
            </a:pPr>
            <a:r>
              <a:rPr lang="en-US" sz="1800" b="1" dirty="0">
                <a:solidFill>
                  <a:srgbClr val="2563EB"/>
                </a:solidFill>
                <a:latin typeface="Aptos" pitchFamily="34" charset="0"/>
                <a:ea typeface="Aptos" pitchFamily="34" charset="-122"/>
                <a:cs typeface="Aptos" pitchFamily="34" charset="-120"/>
              </a:rPr>
              <a:t>same model</a:t>
            </a:r>
            <a:endParaRPr lang="en-US" sz="1800" dirty="0"/>
          </a:p>
          <a:p>
            <a:pPr algn="ctr" indent="0" marL="0">
              <a:buNone/>
            </a:pPr>
            <a:r>
              <a:rPr lang="en-US" sz="1800" b="1" dirty="0">
                <a:solidFill>
                  <a:srgbClr val="2563EB"/>
                </a:solidFill>
                <a:latin typeface="Aptos" pitchFamily="34" charset="0"/>
                <a:ea typeface="Aptos" pitchFamily="34" charset="-122"/>
                <a:cs typeface="Aptos" pitchFamily="34" charset="-120"/>
              </a:rPr>
              <a:t>statistics</a:t>
            </a:r>
            <a:endParaRPr lang="en-US" sz="1800" dirty="0"/>
          </a:p>
        </p:txBody>
      </p:sp>
      <p:sp>
        <p:nvSpPr>
          <p:cNvPr id="16" name="Shape 14"/>
          <p:cNvSpPr/>
          <p:nvPr/>
        </p:nvSpPr>
        <p:spPr>
          <a:xfrm>
            <a:off x="8412480" y="1783080"/>
            <a:ext cx="960120" cy="0"/>
          </a:xfrm>
          <a:prstGeom prst="line">
            <a:avLst/>
          </a:prstGeom>
          <a:noFill/>
          <a:ln w="38100">
            <a:solidFill>
              <a:srgbClr val="DC2626"/>
            </a:solidFill>
            <a:prstDash val="solid"/>
            <a:headEnd type="none"/>
            <a:tailEnd type="triangle"/>
          </a:ln>
        </p:spPr>
      </p:sp>
      <p:sp>
        <p:nvSpPr>
          <p:cNvPr id="17" name="Shape 15"/>
          <p:cNvSpPr/>
          <p:nvPr/>
        </p:nvSpPr>
        <p:spPr>
          <a:xfrm>
            <a:off x="9509760" y="1325880"/>
            <a:ext cx="1463040" cy="1051560"/>
          </a:xfrm>
          <a:prstGeom prst="roundRect">
            <a:avLst>
              <a:gd name="adj" fmla="val 5217"/>
            </a:avLst>
          </a:prstGeom>
          <a:solidFill>
            <a:srgbClr val="FEF2F2"/>
          </a:solidFill>
          <a:ln w="12700">
            <a:solidFill>
              <a:srgbClr val="FECACA"/>
            </a:solidFill>
            <a:prstDash val="solid"/>
          </a:ln>
        </p:spPr>
      </p:sp>
      <p:sp>
        <p:nvSpPr>
          <p:cNvPr id="18" name="Text 16"/>
          <p:cNvSpPr/>
          <p:nvPr/>
        </p:nvSpPr>
        <p:spPr>
          <a:xfrm>
            <a:off x="9674352" y="1554480"/>
            <a:ext cx="1143000" cy="457200"/>
          </a:xfrm>
          <a:prstGeom prst="rect">
            <a:avLst/>
          </a:prstGeom>
          <a:noFill/>
          <a:ln/>
        </p:spPr>
        <p:txBody>
          <a:bodyPr wrap="square" lIns="635" tIns="635" rIns="635" bIns="635" rtlCol="0" anchor="ctr">
            <a:normAutofit/>
          </a:bodyPr>
          <a:lstStyle/>
          <a:p>
            <a:pPr algn="ctr" indent="0" marL="0">
              <a:buNone/>
            </a:pPr>
            <a:r>
              <a:rPr lang="en-US" sz="1500" b="1" dirty="0">
                <a:solidFill>
                  <a:srgbClr val="DC2626"/>
                </a:solidFill>
                <a:latin typeface="Aptos" pitchFamily="34" charset="0"/>
                <a:ea typeface="Aptos" pitchFamily="34" charset="-122"/>
                <a:cs typeface="Aptos" pitchFamily="34" charset="-120"/>
              </a:rPr>
              <a:t>no unique</a:t>
            </a:r>
            <a:endParaRPr lang="en-US" sz="1500" dirty="0"/>
          </a:p>
          <a:p>
            <a:pPr algn="ctr" indent="0" marL="0">
              <a:buNone/>
            </a:pPr>
            <a:r>
              <a:rPr lang="en-US" sz="1500" b="1" dirty="0">
                <a:solidFill>
                  <a:srgbClr val="DC2626"/>
                </a:solidFill>
                <a:latin typeface="Aptos" pitchFamily="34" charset="0"/>
                <a:ea typeface="Aptos" pitchFamily="34" charset="-122"/>
                <a:cs typeface="Aptos" pitchFamily="34" charset="-120"/>
              </a:rPr>
              <a:t>role found</a:t>
            </a:r>
            <a:endParaRPr lang="en-US" sz="1500" dirty="0"/>
          </a:p>
        </p:txBody>
      </p:sp>
      <p:sp>
        <p:nvSpPr>
          <p:cNvPr id="19" name="Text 17"/>
          <p:cNvSpPr/>
          <p:nvPr/>
        </p:nvSpPr>
        <p:spPr>
          <a:xfrm>
            <a:off x="1051560" y="3154680"/>
            <a:ext cx="10058400" cy="777240"/>
          </a:xfrm>
          <a:prstGeom prst="rect">
            <a:avLst/>
          </a:prstGeom>
          <a:noFill/>
          <a:ln/>
        </p:spPr>
        <p:txBody>
          <a:bodyPr wrap="square" lIns="635" tIns="635" rIns="635" bIns="635" rtlCol="0" anchor="ctr">
            <a:normAutofit/>
          </a:bodyPr>
          <a:lstStyle/>
          <a:p>
            <a:pPr algn="ctr" indent="0" marL="0">
              <a:buNone/>
            </a:pPr>
            <a:r>
              <a:rPr lang="en-US" sz="2000" b="1" dirty="0">
                <a:solidFill>
                  <a:srgbClr val="102A43"/>
                </a:solidFill>
                <a:latin typeface="Aptos" pitchFamily="34" charset="0"/>
                <a:ea typeface="Aptos" pitchFamily="34" charset="-122"/>
                <a:cs typeface="Aptos" pitchFamily="34" charset="-120"/>
              </a:rPr>
              <a:t>The authors explicitly note that causal masking or special positional encodings could make certain higher-globality functions easier.</a:t>
            </a:r>
            <a:endParaRPr lang="en-US" sz="2000" dirty="0"/>
          </a:p>
        </p:txBody>
      </p:sp>
      <p:sp>
        <p:nvSpPr>
          <p:cNvPr id="20" name="Text 18"/>
          <p:cNvSpPr/>
          <p:nvPr/>
        </p:nvSpPr>
        <p:spPr>
          <a:xfrm>
            <a:off x="1280160" y="4160520"/>
            <a:ext cx="9601200" cy="594360"/>
          </a:xfrm>
          <a:prstGeom prst="rect">
            <a:avLst/>
          </a:prstGeom>
          <a:noFill/>
          <a:ln/>
        </p:spPr>
        <p:txBody>
          <a:bodyPr wrap="square" lIns="635" tIns="635" rIns="635" bIns="635" rtlCol="0" anchor="ctr">
            <a:normAutofit/>
          </a:bodyPr>
          <a:lstStyle/>
          <a:p>
            <a:pPr algn="ctr" indent="0" marL="0">
              <a:buNone/>
            </a:pPr>
            <a:r>
              <a:rPr lang="en-US" sz="1600" dirty="0">
                <a:solidFill>
                  <a:srgbClr val="52606D"/>
                </a:solidFill>
                <a:latin typeface="Aptos" pitchFamily="34" charset="0"/>
                <a:ea typeface="Aptos" pitchFamily="34" charset="-122"/>
                <a:cs typeface="Aptos" pitchFamily="34" charset="-120"/>
              </a:rPr>
              <a:t>So the theorem is strongest as a statement about what standard permutation-symmetric training does not discover automatically.</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Why the scratchpad works</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It changes the target from one global predicate into a sequence of locally predictive transitions.</a:t>
            </a:r>
            <a:endParaRPr lang="en-US" sz="1200" dirty="0"/>
          </a:p>
        </p:txBody>
      </p:sp>
      <p:sp>
        <p:nvSpPr>
          <p:cNvPr id="4" name="Text 2"/>
          <p:cNvSpPr/>
          <p:nvPr/>
        </p:nvSpPr>
        <p:spPr>
          <a:xfrm>
            <a:off x="914400" y="1325880"/>
            <a:ext cx="2011680" cy="320040"/>
          </a:xfrm>
          <a:prstGeom prst="rect">
            <a:avLst/>
          </a:prstGeom>
          <a:noFill/>
          <a:ln/>
        </p:spPr>
        <p:txBody>
          <a:bodyPr wrap="square" lIns="635" tIns="635" rIns="635" bIns="635" rtlCol="0" anchor="ctr">
            <a:normAutofit/>
          </a:bodyPr>
          <a:lstStyle/>
          <a:p>
            <a:pPr algn="ctr" indent="0" marL="0">
              <a:buNone/>
            </a:pPr>
            <a:r>
              <a:rPr lang="en-US" sz="1300" b="1" dirty="0">
                <a:solidFill>
                  <a:srgbClr val="DC2626"/>
                </a:solidFill>
                <a:latin typeface="Aptos" pitchFamily="34" charset="0"/>
                <a:ea typeface="Aptos" pitchFamily="34" charset="-122"/>
                <a:cs typeface="Aptos" pitchFamily="34" charset="-120"/>
              </a:rPr>
              <a:t>GLOBAL TARGET</a:t>
            </a:r>
            <a:endParaRPr lang="en-US" sz="1300" dirty="0"/>
          </a:p>
        </p:txBody>
      </p:sp>
      <p:sp>
        <p:nvSpPr>
          <p:cNvPr id="5" name="Text 3"/>
          <p:cNvSpPr/>
          <p:nvPr/>
        </p:nvSpPr>
        <p:spPr>
          <a:xfrm>
            <a:off x="822960" y="1874520"/>
            <a:ext cx="2286000" cy="502920"/>
          </a:xfrm>
          <a:prstGeom prst="rect">
            <a:avLst/>
          </a:prstGeom>
          <a:noFill/>
          <a:ln/>
        </p:spPr>
        <p:txBody>
          <a:bodyPr wrap="square" lIns="635" tIns="635" rIns="635" bIns="635" rtlCol="0" anchor="ctr">
            <a:normAutofit/>
          </a:bodyPr>
          <a:lstStyle/>
          <a:p>
            <a:pPr algn="ctr" indent="0" marL="0">
              <a:buNone/>
            </a:pPr>
            <a:r>
              <a:rPr lang="en-US" sz="2300" b="1" dirty="0">
                <a:solidFill>
                  <a:srgbClr val="DC2626"/>
                </a:solidFill>
                <a:latin typeface="Aptos" pitchFamily="34" charset="0"/>
                <a:ea typeface="Aptos" pitchFamily="34" charset="-122"/>
                <a:cs typeface="Aptos" pitchFamily="34" charset="-120"/>
              </a:rPr>
              <a:t>Y = f(X₁,…,Xₙ)</a:t>
            </a:r>
            <a:endParaRPr lang="en-US" sz="2300" dirty="0"/>
          </a:p>
        </p:txBody>
      </p:sp>
      <p:sp>
        <p:nvSpPr>
          <p:cNvPr id="6" name="Shape 4"/>
          <p:cNvSpPr/>
          <p:nvPr/>
        </p:nvSpPr>
        <p:spPr>
          <a:xfrm>
            <a:off x="3291840" y="2103120"/>
            <a:ext cx="822960" cy="0"/>
          </a:xfrm>
          <a:prstGeom prst="line">
            <a:avLst/>
          </a:prstGeom>
          <a:noFill/>
          <a:ln w="38100">
            <a:solidFill>
              <a:srgbClr val="F97316"/>
            </a:solidFill>
            <a:prstDash val="solid"/>
            <a:headEnd type="none"/>
            <a:tailEnd type="triangle"/>
          </a:ln>
        </p:spPr>
      </p:sp>
      <p:sp>
        <p:nvSpPr>
          <p:cNvPr id="7" name="Text 5"/>
          <p:cNvSpPr/>
          <p:nvPr/>
        </p:nvSpPr>
        <p:spPr>
          <a:xfrm>
            <a:off x="4343400" y="1325880"/>
            <a:ext cx="3108960" cy="32004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AUTOREGRESSIVE DECOMPOSITION</a:t>
            </a:r>
            <a:endParaRPr lang="en-US" sz="1300" dirty="0"/>
          </a:p>
        </p:txBody>
      </p:sp>
      <p:sp>
        <p:nvSpPr>
          <p:cNvPr id="8" name="Shape 6"/>
          <p:cNvSpPr/>
          <p:nvPr/>
        </p:nvSpPr>
        <p:spPr>
          <a:xfrm>
            <a:off x="4343400" y="1874520"/>
            <a:ext cx="594360" cy="384048"/>
          </a:xfrm>
          <a:prstGeom prst="roundRect">
            <a:avLst>
              <a:gd name="adj" fmla="val 19048"/>
            </a:avLst>
          </a:prstGeom>
          <a:solidFill>
            <a:srgbClr val="FFF7ED"/>
          </a:solidFill>
          <a:ln w="12700">
            <a:solidFill>
              <a:srgbClr val="FDBA74"/>
            </a:solidFill>
            <a:prstDash val="solid"/>
          </a:ln>
        </p:spPr>
      </p:sp>
      <p:sp>
        <p:nvSpPr>
          <p:cNvPr id="9" name="Text 7"/>
          <p:cNvSpPr/>
          <p:nvPr/>
        </p:nvSpPr>
        <p:spPr>
          <a:xfrm>
            <a:off x="4343400" y="189280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s1</a:t>
            </a:r>
            <a:endParaRPr lang="en-US" sz="1300" dirty="0"/>
          </a:p>
        </p:txBody>
      </p:sp>
      <p:sp>
        <p:nvSpPr>
          <p:cNvPr id="10" name="Shape 8"/>
          <p:cNvSpPr/>
          <p:nvPr/>
        </p:nvSpPr>
        <p:spPr>
          <a:xfrm>
            <a:off x="4965192" y="2075688"/>
            <a:ext cx="365760" cy="0"/>
          </a:xfrm>
          <a:prstGeom prst="line">
            <a:avLst/>
          </a:prstGeom>
          <a:noFill/>
          <a:ln w="22860">
            <a:solidFill>
              <a:srgbClr val="F97316"/>
            </a:solidFill>
            <a:prstDash val="solid"/>
            <a:headEnd type="none"/>
            <a:tailEnd type="triangle"/>
          </a:ln>
        </p:spPr>
      </p:sp>
      <p:sp>
        <p:nvSpPr>
          <p:cNvPr id="11" name="Shape 9"/>
          <p:cNvSpPr/>
          <p:nvPr/>
        </p:nvSpPr>
        <p:spPr>
          <a:xfrm>
            <a:off x="5349240" y="1874520"/>
            <a:ext cx="594360" cy="384048"/>
          </a:xfrm>
          <a:prstGeom prst="roundRect">
            <a:avLst>
              <a:gd name="adj" fmla="val 19048"/>
            </a:avLst>
          </a:prstGeom>
          <a:solidFill>
            <a:srgbClr val="FFF7ED"/>
          </a:solidFill>
          <a:ln w="12700">
            <a:solidFill>
              <a:srgbClr val="FDBA74"/>
            </a:solidFill>
            <a:prstDash val="solid"/>
          </a:ln>
        </p:spPr>
      </p:sp>
      <p:sp>
        <p:nvSpPr>
          <p:cNvPr id="12" name="Text 10"/>
          <p:cNvSpPr/>
          <p:nvPr/>
        </p:nvSpPr>
        <p:spPr>
          <a:xfrm>
            <a:off x="5349240" y="189280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s2</a:t>
            </a:r>
            <a:endParaRPr lang="en-US" sz="1300" dirty="0"/>
          </a:p>
        </p:txBody>
      </p:sp>
      <p:sp>
        <p:nvSpPr>
          <p:cNvPr id="13" name="Shape 11"/>
          <p:cNvSpPr/>
          <p:nvPr/>
        </p:nvSpPr>
        <p:spPr>
          <a:xfrm>
            <a:off x="5971032" y="2075688"/>
            <a:ext cx="365760" cy="0"/>
          </a:xfrm>
          <a:prstGeom prst="line">
            <a:avLst/>
          </a:prstGeom>
          <a:noFill/>
          <a:ln w="22860">
            <a:solidFill>
              <a:srgbClr val="F97316"/>
            </a:solidFill>
            <a:prstDash val="solid"/>
            <a:headEnd type="none"/>
            <a:tailEnd type="triangle"/>
          </a:ln>
        </p:spPr>
      </p:sp>
      <p:sp>
        <p:nvSpPr>
          <p:cNvPr id="14" name="Shape 12"/>
          <p:cNvSpPr/>
          <p:nvPr/>
        </p:nvSpPr>
        <p:spPr>
          <a:xfrm>
            <a:off x="6355080" y="1874520"/>
            <a:ext cx="594360" cy="384048"/>
          </a:xfrm>
          <a:prstGeom prst="roundRect">
            <a:avLst>
              <a:gd name="adj" fmla="val 19048"/>
            </a:avLst>
          </a:prstGeom>
          <a:solidFill>
            <a:srgbClr val="FFF7ED"/>
          </a:solidFill>
          <a:ln w="12700">
            <a:solidFill>
              <a:srgbClr val="FDBA74"/>
            </a:solidFill>
            <a:prstDash val="solid"/>
          </a:ln>
        </p:spPr>
      </p:sp>
      <p:sp>
        <p:nvSpPr>
          <p:cNvPr id="15" name="Text 13"/>
          <p:cNvSpPr/>
          <p:nvPr/>
        </p:nvSpPr>
        <p:spPr>
          <a:xfrm>
            <a:off x="6355080" y="189280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s3</a:t>
            </a:r>
            <a:endParaRPr lang="en-US" sz="1300" dirty="0"/>
          </a:p>
        </p:txBody>
      </p:sp>
      <p:sp>
        <p:nvSpPr>
          <p:cNvPr id="16" name="Shape 14"/>
          <p:cNvSpPr/>
          <p:nvPr/>
        </p:nvSpPr>
        <p:spPr>
          <a:xfrm>
            <a:off x="6976872" y="2075688"/>
            <a:ext cx="365760" cy="0"/>
          </a:xfrm>
          <a:prstGeom prst="line">
            <a:avLst/>
          </a:prstGeom>
          <a:noFill/>
          <a:ln w="22860">
            <a:solidFill>
              <a:srgbClr val="F97316"/>
            </a:solidFill>
            <a:prstDash val="solid"/>
            <a:headEnd type="none"/>
            <a:tailEnd type="triangle"/>
          </a:ln>
        </p:spPr>
      </p:sp>
      <p:sp>
        <p:nvSpPr>
          <p:cNvPr id="17" name="Shape 15"/>
          <p:cNvSpPr/>
          <p:nvPr/>
        </p:nvSpPr>
        <p:spPr>
          <a:xfrm>
            <a:off x="7360920" y="1874520"/>
            <a:ext cx="594360" cy="384048"/>
          </a:xfrm>
          <a:prstGeom prst="roundRect">
            <a:avLst>
              <a:gd name="adj" fmla="val 19048"/>
            </a:avLst>
          </a:prstGeom>
          <a:solidFill>
            <a:srgbClr val="FFF7ED"/>
          </a:solidFill>
          <a:ln w="12700">
            <a:solidFill>
              <a:srgbClr val="FDBA74"/>
            </a:solidFill>
            <a:prstDash val="solid"/>
          </a:ln>
        </p:spPr>
      </p:sp>
      <p:sp>
        <p:nvSpPr>
          <p:cNvPr id="18" name="Text 16"/>
          <p:cNvSpPr/>
          <p:nvPr/>
        </p:nvSpPr>
        <p:spPr>
          <a:xfrm>
            <a:off x="7360920" y="1892808"/>
            <a:ext cx="594360" cy="329184"/>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s4</a:t>
            </a:r>
            <a:endParaRPr lang="en-US" sz="1300" dirty="0"/>
          </a:p>
        </p:txBody>
      </p:sp>
      <p:sp>
        <p:nvSpPr>
          <p:cNvPr id="19" name="Shape 17"/>
          <p:cNvSpPr/>
          <p:nvPr/>
        </p:nvSpPr>
        <p:spPr>
          <a:xfrm>
            <a:off x="8595360" y="2103120"/>
            <a:ext cx="731520" cy="0"/>
          </a:xfrm>
          <a:prstGeom prst="line">
            <a:avLst/>
          </a:prstGeom>
          <a:noFill/>
          <a:ln w="38100">
            <a:solidFill>
              <a:srgbClr val="15803D"/>
            </a:solidFill>
            <a:prstDash val="solid"/>
            <a:headEnd type="none"/>
            <a:tailEnd type="triangle"/>
          </a:ln>
        </p:spPr>
      </p:sp>
      <p:sp>
        <p:nvSpPr>
          <p:cNvPr id="20" name="Text 18"/>
          <p:cNvSpPr/>
          <p:nvPr/>
        </p:nvSpPr>
        <p:spPr>
          <a:xfrm>
            <a:off x="9555480" y="1325880"/>
            <a:ext cx="1554480" cy="320040"/>
          </a:xfrm>
          <a:prstGeom prst="rect">
            <a:avLst/>
          </a:prstGeom>
          <a:noFill/>
          <a:ln/>
        </p:spPr>
        <p:txBody>
          <a:bodyPr wrap="square" lIns="635" tIns="635" rIns="635" bIns="635" rtlCol="0" anchor="ctr">
            <a:normAutofit/>
          </a:bodyPr>
          <a:lstStyle/>
          <a:p>
            <a:pPr algn="ctr" indent="0" marL="0">
              <a:buNone/>
            </a:pPr>
            <a:r>
              <a:rPr lang="en-US" sz="1300" b="1" dirty="0">
                <a:solidFill>
                  <a:srgbClr val="15803D"/>
                </a:solidFill>
                <a:latin typeface="Aptos" pitchFamily="34" charset="0"/>
                <a:ea typeface="Aptos" pitchFamily="34" charset="-122"/>
                <a:cs typeface="Aptos" pitchFamily="34" charset="-120"/>
              </a:rPr>
              <a:t>LOCAL RULE</a:t>
            </a:r>
            <a:endParaRPr lang="en-US" sz="1300" dirty="0"/>
          </a:p>
        </p:txBody>
      </p:sp>
      <p:sp>
        <p:nvSpPr>
          <p:cNvPr id="21" name="Text 19"/>
          <p:cNvSpPr/>
          <p:nvPr/>
        </p:nvSpPr>
        <p:spPr>
          <a:xfrm>
            <a:off x="9281160" y="1847088"/>
            <a:ext cx="2011680" cy="502920"/>
          </a:xfrm>
          <a:prstGeom prst="rect">
            <a:avLst/>
          </a:prstGeom>
          <a:noFill/>
          <a:ln/>
        </p:spPr>
        <p:txBody>
          <a:bodyPr wrap="square" lIns="635" tIns="635" rIns="635" bIns="635" rtlCol="0" anchor="ctr">
            <a:normAutofit/>
          </a:bodyPr>
          <a:lstStyle/>
          <a:p>
            <a:pPr algn="ctr" indent="0" marL="0">
              <a:buNone/>
            </a:pPr>
            <a:r>
              <a:rPr lang="en-US" sz="2100" b="1" dirty="0">
                <a:solidFill>
                  <a:srgbClr val="15803D"/>
                </a:solidFill>
                <a:latin typeface="Aptos" pitchFamily="34" charset="0"/>
                <a:ea typeface="Aptos" pitchFamily="34" charset="-122"/>
                <a:cs typeface="Aptos" pitchFamily="34" charset="-120"/>
              </a:rPr>
              <a:t>sᵢ₊₁ = g(Q,sᵢ)</a:t>
            </a:r>
            <a:endParaRPr lang="en-US" sz="2100" dirty="0"/>
          </a:p>
        </p:txBody>
      </p:sp>
      <p:sp>
        <p:nvSpPr>
          <p:cNvPr id="22" name="Shape 20"/>
          <p:cNvSpPr/>
          <p:nvPr/>
        </p:nvSpPr>
        <p:spPr>
          <a:xfrm>
            <a:off x="914400" y="3429000"/>
            <a:ext cx="10058400" cy="1325880"/>
          </a:xfrm>
          <a:prstGeom prst="roundRect">
            <a:avLst>
              <a:gd name="adj" fmla="val 4138"/>
            </a:avLst>
          </a:prstGeom>
          <a:solidFill>
            <a:srgbClr val="F0FDF4"/>
          </a:solidFill>
          <a:ln w="12700">
            <a:solidFill>
              <a:srgbClr val="BBF7D0"/>
            </a:solidFill>
            <a:prstDash val="solid"/>
          </a:ln>
        </p:spPr>
      </p:sp>
      <p:sp>
        <p:nvSpPr>
          <p:cNvPr id="23" name="Text 21"/>
          <p:cNvSpPr/>
          <p:nvPr/>
        </p:nvSpPr>
        <p:spPr>
          <a:xfrm>
            <a:off x="1234440" y="3749040"/>
            <a:ext cx="9418320" cy="658368"/>
          </a:xfrm>
          <a:prstGeom prst="rect">
            <a:avLst/>
          </a:prstGeom>
          <a:noFill/>
          <a:ln/>
        </p:spPr>
        <p:txBody>
          <a:bodyPr wrap="square" lIns="635" tIns="635" rIns="635" bIns="635" rtlCol="0" anchor="ctr">
            <a:normAutofit/>
          </a:bodyPr>
          <a:lstStyle/>
          <a:p>
            <a:pPr algn="ctr" indent="0" marL="0">
              <a:buNone/>
            </a:pPr>
            <a:r>
              <a:rPr lang="en-US" sz="2300" b="1" dirty="0">
                <a:solidFill>
                  <a:srgbClr val="15803D"/>
                </a:solidFill>
                <a:latin typeface="Aptos" pitchFamily="34" charset="0"/>
                <a:ea typeface="Aptos" pitchFamily="34" charset="-122"/>
                <a:cs typeface="Aptos" pitchFamily="34" charset="-120"/>
              </a:rPr>
              <a:t>The scratchpad is useful when it exposes the inductive state transition—not merely because it adds more tokens.</a:t>
            </a:r>
            <a:endParaRPr lang="en-US" sz="23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Adjacent work: where this paper changes the conversation</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It connects three previously separate lines of thinking.</a:t>
            </a:r>
            <a:endParaRPr lang="en-US" sz="1200" dirty="0"/>
          </a:p>
        </p:txBody>
      </p:sp>
      <p:sp>
        <p:nvSpPr>
          <p:cNvPr id="4" name="Shape 2"/>
          <p:cNvSpPr/>
          <p:nvPr/>
        </p:nvSpPr>
        <p:spPr>
          <a:xfrm>
            <a:off x="777240" y="1417320"/>
            <a:ext cx="3246120" cy="3291840"/>
          </a:xfrm>
          <a:prstGeom prst="roundRect">
            <a:avLst>
              <a:gd name="adj" fmla="val 1690"/>
            </a:avLst>
          </a:prstGeom>
          <a:solidFill>
            <a:srgbClr val="FFFFFF"/>
          </a:solidFill>
          <a:ln w="12700">
            <a:solidFill>
              <a:srgbClr val="D7E0EA"/>
            </a:solidFill>
            <a:prstDash val="solid"/>
          </a:ln>
        </p:spPr>
      </p:sp>
      <p:sp>
        <p:nvSpPr>
          <p:cNvPr id="5" name="Text 3"/>
          <p:cNvSpPr/>
          <p:nvPr/>
        </p:nvSpPr>
        <p:spPr>
          <a:xfrm>
            <a:off x="960120" y="1700784"/>
            <a:ext cx="2880360" cy="274320"/>
          </a:xfrm>
          <a:prstGeom prst="rect">
            <a:avLst/>
          </a:prstGeom>
          <a:noFill/>
          <a:ln/>
        </p:spPr>
        <p:txBody>
          <a:bodyPr wrap="square" lIns="635" tIns="635" rIns="635" bIns="635" rtlCol="0" anchor="ctr">
            <a:normAutofit/>
          </a:bodyPr>
          <a:lstStyle/>
          <a:p>
            <a:pPr algn="ctr" indent="0" marL="0">
              <a:buNone/>
            </a:pPr>
            <a:r>
              <a:rPr lang="en-US" sz="1300" b="1" dirty="0">
                <a:solidFill>
                  <a:srgbClr val="7C3AED"/>
                </a:solidFill>
                <a:latin typeface="Aptos" pitchFamily="34" charset="0"/>
                <a:ea typeface="Aptos" pitchFamily="34" charset="-122"/>
                <a:cs typeface="Aptos" pitchFamily="34" charset="-120"/>
              </a:rPr>
              <a:t>EXPRESSIVITY</a:t>
            </a:r>
            <a:endParaRPr lang="en-US" sz="1300" dirty="0"/>
          </a:p>
        </p:txBody>
      </p:sp>
      <p:sp>
        <p:nvSpPr>
          <p:cNvPr id="6" name="Text 4"/>
          <p:cNvSpPr/>
          <p:nvPr/>
        </p:nvSpPr>
        <p:spPr>
          <a:xfrm>
            <a:off x="960120" y="2148840"/>
            <a:ext cx="2880360" cy="347472"/>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Merrill &amp; Sabharwal</a:t>
            </a:r>
            <a:endParaRPr lang="en-US" sz="1800" dirty="0"/>
          </a:p>
        </p:txBody>
      </p:sp>
      <p:sp>
        <p:nvSpPr>
          <p:cNvPr id="7" name="Text 5"/>
          <p:cNvSpPr/>
          <p:nvPr/>
        </p:nvSpPr>
        <p:spPr>
          <a:xfrm>
            <a:off x="1051560" y="2743200"/>
            <a:ext cx="2697480" cy="68580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What functions can Transformers represent?</a:t>
            </a:r>
            <a:endParaRPr lang="en-US" sz="1500" dirty="0"/>
          </a:p>
        </p:txBody>
      </p:sp>
      <p:sp>
        <p:nvSpPr>
          <p:cNvPr id="8" name="Shape 6"/>
          <p:cNvSpPr/>
          <p:nvPr/>
        </p:nvSpPr>
        <p:spPr>
          <a:xfrm>
            <a:off x="1600200" y="3794760"/>
            <a:ext cx="1645920" cy="347472"/>
          </a:xfrm>
          <a:prstGeom prst="roundRect">
            <a:avLst>
              <a:gd name="adj" fmla="val 31579"/>
            </a:avLst>
          </a:prstGeom>
          <a:solidFill>
            <a:srgbClr val="7C3AED"/>
          </a:solidFill>
          <a:ln w="12700">
            <a:solidFill>
              <a:srgbClr val="7C3AED">
                <a:alpha val="0"/>
              </a:srgbClr>
            </a:solidFill>
            <a:prstDash val="solid"/>
          </a:ln>
        </p:spPr>
      </p:sp>
      <p:sp>
        <p:nvSpPr>
          <p:cNvPr id="9" name="Text 7"/>
          <p:cNvSpPr/>
          <p:nvPr/>
        </p:nvSpPr>
        <p:spPr>
          <a:xfrm>
            <a:off x="1600200" y="3803904"/>
            <a:ext cx="164592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TC⁰ / TC¹</a:t>
            </a:r>
            <a:endParaRPr lang="en-US" sz="1000" dirty="0"/>
          </a:p>
        </p:txBody>
      </p:sp>
      <p:sp>
        <p:nvSpPr>
          <p:cNvPr id="10" name="Shape 8"/>
          <p:cNvSpPr/>
          <p:nvPr/>
        </p:nvSpPr>
        <p:spPr>
          <a:xfrm>
            <a:off x="4526280" y="1417320"/>
            <a:ext cx="3246120" cy="3291840"/>
          </a:xfrm>
          <a:prstGeom prst="roundRect">
            <a:avLst>
              <a:gd name="adj" fmla="val 1690"/>
            </a:avLst>
          </a:prstGeom>
          <a:solidFill>
            <a:srgbClr val="EFF6FF"/>
          </a:solidFill>
          <a:ln w="12700">
            <a:solidFill>
              <a:srgbClr val="BFDBFE"/>
            </a:solidFill>
            <a:prstDash val="solid"/>
          </a:ln>
        </p:spPr>
      </p:sp>
      <p:sp>
        <p:nvSpPr>
          <p:cNvPr id="11" name="Text 9"/>
          <p:cNvSpPr/>
          <p:nvPr/>
        </p:nvSpPr>
        <p:spPr>
          <a:xfrm>
            <a:off x="4709160" y="1700784"/>
            <a:ext cx="2880360" cy="274320"/>
          </a:xfrm>
          <a:prstGeom prst="rect">
            <a:avLst/>
          </a:prstGeom>
          <a:noFill/>
          <a:ln/>
        </p:spPr>
        <p:txBody>
          <a:bodyPr wrap="square" lIns="635" tIns="635" rIns="635" bIns="635" rtlCol="0" anchor="ctr">
            <a:normAutofit/>
          </a:bodyPr>
          <a:lstStyle/>
          <a:p>
            <a:pPr algn="ctr" indent="0" marL="0">
              <a:buNone/>
            </a:pPr>
            <a:r>
              <a:rPr lang="en-US" sz="1300" b="1" dirty="0">
                <a:solidFill>
                  <a:srgbClr val="2563EB"/>
                </a:solidFill>
                <a:latin typeface="Aptos" pitchFamily="34" charset="0"/>
                <a:ea typeface="Aptos" pitchFamily="34" charset="-122"/>
                <a:cs typeface="Aptos" pitchFamily="34" charset="-120"/>
              </a:rPr>
              <a:t>LEARNABILITY</a:t>
            </a:r>
            <a:endParaRPr lang="en-US" sz="1300" dirty="0"/>
          </a:p>
        </p:txBody>
      </p:sp>
      <p:sp>
        <p:nvSpPr>
          <p:cNvPr id="12" name="Text 10"/>
          <p:cNvSpPr/>
          <p:nvPr/>
        </p:nvSpPr>
        <p:spPr>
          <a:xfrm>
            <a:off x="4709160" y="2148840"/>
            <a:ext cx="2880360" cy="347472"/>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Abbe et al.</a:t>
            </a:r>
            <a:endParaRPr lang="en-US" sz="1800" dirty="0"/>
          </a:p>
        </p:txBody>
      </p:sp>
      <p:sp>
        <p:nvSpPr>
          <p:cNvPr id="13" name="Text 11"/>
          <p:cNvSpPr/>
          <p:nvPr/>
        </p:nvSpPr>
        <p:spPr>
          <a:xfrm>
            <a:off x="4800600" y="2743200"/>
            <a:ext cx="2697480" cy="68580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What distributions can GD discover?</a:t>
            </a:r>
            <a:endParaRPr lang="en-US" sz="1500" dirty="0"/>
          </a:p>
        </p:txBody>
      </p:sp>
      <p:sp>
        <p:nvSpPr>
          <p:cNvPr id="14" name="Shape 12"/>
          <p:cNvSpPr/>
          <p:nvPr/>
        </p:nvSpPr>
        <p:spPr>
          <a:xfrm>
            <a:off x="5349240" y="3794760"/>
            <a:ext cx="1645920" cy="347472"/>
          </a:xfrm>
          <a:prstGeom prst="roundRect">
            <a:avLst>
              <a:gd name="adj" fmla="val 31579"/>
            </a:avLst>
          </a:prstGeom>
          <a:solidFill>
            <a:srgbClr val="2563EB"/>
          </a:solidFill>
          <a:ln w="12700">
            <a:solidFill>
              <a:srgbClr val="2563EB">
                <a:alpha val="0"/>
              </a:srgbClr>
            </a:solidFill>
            <a:prstDash val="solid"/>
          </a:ln>
        </p:spPr>
      </p:sp>
      <p:sp>
        <p:nvSpPr>
          <p:cNvPr id="15" name="Text 13"/>
          <p:cNvSpPr/>
          <p:nvPr/>
        </p:nvSpPr>
        <p:spPr>
          <a:xfrm>
            <a:off x="5349240" y="3803904"/>
            <a:ext cx="164592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globality</a:t>
            </a:r>
            <a:endParaRPr lang="en-US" sz="1000" dirty="0"/>
          </a:p>
        </p:txBody>
      </p:sp>
      <p:sp>
        <p:nvSpPr>
          <p:cNvPr id="16" name="Shape 14"/>
          <p:cNvSpPr/>
          <p:nvPr/>
        </p:nvSpPr>
        <p:spPr>
          <a:xfrm>
            <a:off x="8275320" y="1417320"/>
            <a:ext cx="3246120" cy="3291840"/>
          </a:xfrm>
          <a:prstGeom prst="roundRect">
            <a:avLst>
              <a:gd name="adj" fmla="val 1690"/>
            </a:avLst>
          </a:prstGeom>
          <a:solidFill>
            <a:srgbClr val="FFFFFF"/>
          </a:solidFill>
          <a:ln w="12700">
            <a:solidFill>
              <a:srgbClr val="D7E0EA"/>
            </a:solidFill>
            <a:prstDash val="solid"/>
          </a:ln>
        </p:spPr>
      </p:sp>
      <p:sp>
        <p:nvSpPr>
          <p:cNvPr id="17" name="Text 15"/>
          <p:cNvSpPr/>
          <p:nvPr/>
        </p:nvSpPr>
        <p:spPr>
          <a:xfrm>
            <a:off x="8458200" y="1700784"/>
            <a:ext cx="2880360" cy="274320"/>
          </a:xfrm>
          <a:prstGeom prst="rect">
            <a:avLst/>
          </a:prstGeom>
          <a:noFill/>
          <a:ln/>
        </p:spPr>
        <p:txBody>
          <a:bodyPr wrap="square" lIns="635" tIns="635" rIns="635" bIns="635" rtlCol="0" anchor="ctr">
            <a:normAutofit/>
          </a:bodyPr>
          <a:lstStyle/>
          <a:p>
            <a:pPr algn="ctr" indent="0" marL="0">
              <a:buNone/>
            </a:pPr>
            <a:r>
              <a:rPr lang="en-US" sz="1300" b="1" dirty="0">
                <a:solidFill>
                  <a:srgbClr val="F97316"/>
                </a:solidFill>
                <a:latin typeface="Aptos" pitchFamily="34" charset="0"/>
                <a:ea typeface="Aptos" pitchFamily="34" charset="-122"/>
                <a:cs typeface="Aptos" pitchFamily="34" charset="-120"/>
              </a:rPr>
              <a:t>SCRATCHPADS</a:t>
            </a:r>
            <a:endParaRPr lang="en-US" sz="1300" dirty="0"/>
          </a:p>
        </p:txBody>
      </p:sp>
      <p:sp>
        <p:nvSpPr>
          <p:cNvPr id="18" name="Text 16"/>
          <p:cNvSpPr/>
          <p:nvPr/>
        </p:nvSpPr>
        <p:spPr>
          <a:xfrm>
            <a:off x="8458200" y="2148840"/>
            <a:ext cx="2880360" cy="347472"/>
          </a:xfrm>
          <a:prstGeom prst="rect">
            <a:avLst/>
          </a:prstGeom>
          <a:noFill/>
          <a:ln/>
        </p:spPr>
        <p:txBody>
          <a:bodyPr wrap="square" lIns="635" tIns="635" rIns="635" bIns="635" rtlCol="0" anchor="ctr">
            <a:normAutofit/>
          </a:bodyPr>
          <a:lstStyle/>
          <a:p>
            <a:pPr algn="ctr" indent="0" marL="0">
              <a:buNone/>
            </a:pPr>
            <a:r>
              <a:rPr lang="en-US" sz="1800" b="1" dirty="0">
                <a:solidFill>
                  <a:srgbClr val="102A43"/>
                </a:solidFill>
                <a:latin typeface="Aptos" pitchFamily="34" charset="0"/>
                <a:ea typeface="Aptos" pitchFamily="34" charset="-122"/>
                <a:cs typeface="Aptos" pitchFamily="34" charset="-120"/>
              </a:rPr>
              <a:t>Nye et al. / later work</a:t>
            </a:r>
            <a:endParaRPr lang="en-US" sz="1800" dirty="0"/>
          </a:p>
        </p:txBody>
      </p:sp>
      <p:sp>
        <p:nvSpPr>
          <p:cNvPr id="19" name="Text 17"/>
          <p:cNvSpPr/>
          <p:nvPr/>
        </p:nvSpPr>
        <p:spPr>
          <a:xfrm>
            <a:off x="8549640" y="2743200"/>
            <a:ext cx="2697480" cy="685800"/>
          </a:xfrm>
          <a:prstGeom prst="rect">
            <a:avLst/>
          </a:prstGeom>
          <a:noFill/>
          <a:ln/>
        </p:spPr>
        <p:txBody>
          <a:bodyPr wrap="square" lIns="635" tIns="635" rIns="635" bIns="635" rtlCol="0" anchor="ctr">
            <a:normAutofit/>
          </a:bodyPr>
          <a:lstStyle/>
          <a:p>
            <a:pPr algn="ctr" indent="0" marL="0">
              <a:buNone/>
            </a:pPr>
            <a:r>
              <a:rPr lang="en-US" sz="1500" dirty="0">
                <a:solidFill>
                  <a:srgbClr val="52606D"/>
                </a:solidFill>
                <a:latin typeface="Aptos" pitchFamily="34" charset="0"/>
                <a:ea typeface="Aptos" pitchFamily="34" charset="-122"/>
                <a:cs typeface="Aptos" pitchFamily="34" charset="-120"/>
              </a:rPr>
              <a:t>Can intermediate states help?</a:t>
            </a:r>
            <a:endParaRPr lang="en-US" sz="1500" dirty="0"/>
          </a:p>
        </p:txBody>
      </p:sp>
      <p:sp>
        <p:nvSpPr>
          <p:cNvPr id="20" name="Shape 18"/>
          <p:cNvSpPr/>
          <p:nvPr/>
        </p:nvSpPr>
        <p:spPr>
          <a:xfrm>
            <a:off x="9098280" y="3794760"/>
            <a:ext cx="1645920" cy="347472"/>
          </a:xfrm>
          <a:prstGeom prst="roundRect">
            <a:avLst>
              <a:gd name="adj" fmla="val 31579"/>
            </a:avLst>
          </a:prstGeom>
          <a:solidFill>
            <a:srgbClr val="F97316"/>
          </a:solidFill>
          <a:ln w="12700">
            <a:solidFill>
              <a:srgbClr val="F97316">
                <a:alpha val="0"/>
              </a:srgbClr>
            </a:solidFill>
            <a:prstDash val="solid"/>
          </a:ln>
        </p:spPr>
      </p:sp>
      <p:sp>
        <p:nvSpPr>
          <p:cNvPr id="21" name="Text 19"/>
          <p:cNvSpPr/>
          <p:nvPr/>
        </p:nvSpPr>
        <p:spPr>
          <a:xfrm>
            <a:off x="9098280" y="3803904"/>
            <a:ext cx="164592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autoregressive globality</a:t>
            </a:r>
            <a:endParaRPr lang="en-US" sz="1000" dirty="0"/>
          </a:p>
        </p:txBody>
      </p:sp>
      <p:sp>
        <p:nvSpPr>
          <p:cNvPr id="22" name="Text 20"/>
          <p:cNvSpPr/>
          <p:nvPr/>
        </p:nvSpPr>
        <p:spPr>
          <a:xfrm>
            <a:off x="1005840" y="5166360"/>
            <a:ext cx="10058400" cy="457200"/>
          </a:xfrm>
          <a:prstGeom prst="rect">
            <a:avLst/>
          </a:prstGeom>
          <a:noFill/>
          <a:ln/>
        </p:spPr>
        <p:txBody>
          <a:bodyPr wrap="square" lIns="635" tIns="635" rIns="635" bIns="635" rtlCol="0" anchor="ctr">
            <a:normAutofit/>
          </a:bodyPr>
          <a:lstStyle/>
          <a:p>
            <a:pPr algn="ctr" indent="0" marL="0">
              <a:buNone/>
            </a:pPr>
            <a:r>
              <a:rPr lang="en-US" sz="1900" b="1" dirty="0">
                <a:solidFill>
                  <a:srgbClr val="102A43"/>
                </a:solidFill>
                <a:latin typeface="Aptos" pitchFamily="34" charset="0"/>
                <a:ea typeface="Aptos" pitchFamily="34" charset="-122"/>
                <a:cs typeface="Aptos" pitchFamily="34" charset="-120"/>
              </a:rPr>
              <a:t>The novelty is the bridge: a distribution-level complexity measure tied specifically to Transformer training.</a:t>
            </a:r>
            <a:endParaRPr lang="en-US" sz="1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 sharper way to read the empirical claims</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Three different evidentiary levels.</a:t>
            </a:r>
            <a:endParaRPr lang="en-US" sz="1200" dirty="0"/>
          </a:p>
        </p:txBody>
      </p:sp>
      <p:sp>
        <p:nvSpPr>
          <p:cNvPr id="4" name="Shape 2"/>
          <p:cNvSpPr/>
          <p:nvPr/>
        </p:nvSpPr>
        <p:spPr>
          <a:xfrm>
            <a:off x="914400" y="1325880"/>
            <a:ext cx="10058400" cy="1005840"/>
          </a:xfrm>
          <a:prstGeom prst="roundRect">
            <a:avLst>
              <a:gd name="adj" fmla="val 5455"/>
            </a:avLst>
          </a:prstGeom>
          <a:solidFill>
            <a:srgbClr val="F0FDF4"/>
          </a:solidFill>
          <a:ln w="12700">
            <a:solidFill>
              <a:srgbClr val="CBD5E1"/>
            </a:solidFill>
            <a:prstDash val="solid"/>
          </a:ln>
        </p:spPr>
      </p:sp>
      <p:sp>
        <p:nvSpPr>
          <p:cNvPr id="5" name="Shape 3"/>
          <p:cNvSpPr/>
          <p:nvPr/>
        </p:nvSpPr>
        <p:spPr>
          <a:xfrm>
            <a:off x="1143000" y="1627632"/>
            <a:ext cx="1325880" cy="347472"/>
          </a:xfrm>
          <a:prstGeom prst="roundRect">
            <a:avLst>
              <a:gd name="adj" fmla="val 31579"/>
            </a:avLst>
          </a:prstGeom>
          <a:solidFill>
            <a:srgbClr val="15803D"/>
          </a:solidFill>
          <a:ln w="12700">
            <a:solidFill>
              <a:srgbClr val="15803D">
                <a:alpha val="0"/>
              </a:srgbClr>
            </a:solidFill>
            <a:prstDash val="solid"/>
          </a:ln>
        </p:spPr>
      </p:sp>
      <p:sp>
        <p:nvSpPr>
          <p:cNvPr id="6" name="Text 4"/>
          <p:cNvSpPr/>
          <p:nvPr/>
        </p:nvSpPr>
        <p:spPr>
          <a:xfrm>
            <a:off x="1143000" y="1636776"/>
            <a:ext cx="132588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THEOREM</a:t>
            </a:r>
            <a:endParaRPr lang="en-US" sz="1000" dirty="0"/>
          </a:p>
        </p:txBody>
      </p:sp>
      <p:sp>
        <p:nvSpPr>
          <p:cNvPr id="7" name="Text 5"/>
          <p:cNvSpPr/>
          <p:nvPr/>
        </p:nvSpPr>
        <p:spPr>
          <a:xfrm>
            <a:off x="2743200" y="1527048"/>
            <a:ext cx="6035040" cy="475488"/>
          </a:xfrm>
          <a:prstGeom prst="rect">
            <a:avLst/>
          </a:prstGeom>
          <a:noFill/>
          <a:ln/>
        </p:spPr>
        <p:txBody>
          <a:bodyPr wrap="square" lIns="635" tIns="635" rIns="635" bIns="635" rtlCol="0" anchor="ctr">
            <a:normAutofit/>
          </a:bodyPr>
          <a:lstStyle/>
          <a:p>
            <a:pPr algn="l" indent="0" marL="0">
              <a:buNone/>
            </a:pPr>
            <a:r>
              <a:rPr lang="en-US" sz="1900" b="1" dirty="0">
                <a:solidFill>
                  <a:srgbClr val="102A43"/>
                </a:solidFill>
                <a:latin typeface="Aptos" pitchFamily="34" charset="0"/>
                <a:ea typeface="Aptos" pitchFamily="34" charset="-122"/>
                <a:cs typeface="Aptos" pitchFamily="34" charset="-120"/>
              </a:rPr>
              <a:t>Globality barrier for the stated cycle construction</a:t>
            </a:r>
            <a:endParaRPr lang="en-US" sz="1900" dirty="0"/>
          </a:p>
        </p:txBody>
      </p:sp>
      <p:sp>
        <p:nvSpPr>
          <p:cNvPr id="8" name="Text 6"/>
          <p:cNvSpPr/>
          <p:nvPr/>
        </p:nvSpPr>
        <p:spPr>
          <a:xfrm>
            <a:off x="9189720" y="1618488"/>
            <a:ext cx="1280160" cy="274320"/>
          </a:xfrm>
          <a:prstGeom prst="rect">
            <a:avLst/>
          </a:prstGeom>
          <a:noFill/>
          <a:ln/>
        </p:spPr>
        <p:txBody>
          <a:bodyPr wrap="square" lIns="635" tIns="635" rIns="635" bIns="635" rtlCol="0" anchor="ctr">
            <a:normAutofit/>
          </a:bodyPr>
          <a:lstStyle/>
          <a:p>
            <a:pPr algn="r" indent="0" marL="0">
              <a:buNone/>
            </a:pPr>
            <a:r>
              <a:rPr lang="en-US" sz="1200" b="1" dirty="0">
                <a:solidFill>
                  <a:srgbClr val="52606D"/>
                </a:solidFill>
                <a:latin typeface="Aptos" pitchFamily="34" charset="0"/>
                <a:ea typeface="Aptos" pitchFamily="34" charset="-122"/>
                <a:cs typeface="Aptos" pitchFamily="34" charset="-120"/>
              </a:rPr>
              <a:t>formal</a:t>
            </a:r>
            <a:endParaRPr lang="en-US" sz="1200" dirty="0"/>
          </a:p>
        </p:txBody>
      </p:sp>
      <p:sp>
        <p:nvSpPr>
          <p:cNvPr id="9" name="Shape 7"/>
          <p:cNvSpPr/>
          <p:nvPr/>
        </p:nvSpPr>
        <p:spPr>
          <a:xfrm>
            <a:off x="914400" y="2651760"/>
            <a:ext cx="10058400" cy="1005840"/>
          </a:xfrm>
          <a:prstGeom prst="roundRect">
            <a:avLst>
              <a:gd name="adj" fmla="val 5455"/>
            </a:avLst>
          </a:prstGeom>
          <a:solidFill>
            <a:srgbClr val="EFF6FF"/>
          </a:solidFill>
          <a:ln w="12700">
            <a:solidFill>
              <a:srgbClr val="CBD5E1"/>
            </a:solidFill>
            <a:prstDash val="solid"/>
          </a:ln>
        </p:spPr>
      </p:sp>
      <p:sp>
        <p:nvSpPr>
          <p:cNvPr id="10" name="Shape 8"/>
          <p:cNvSpPr/>
          <p:nvPr/>
        </p:nvSpPr>
        <p:spPr>
          <a:xfrm>
            <a:off x="1143000" y="2953512"/>
            <a:ext cx="1325880" cy="347472"/>
          </a:xfrm>
          <a:prstGeom prst="roundRect">
            <a:avLst>
              <a:gd name="adj" fmla="val 31579"/>
            </a:avLst>
          </a:prstGeom>
          <a:solidFill>
            <a:srgbClr val="2563EB"/>
          </a:solidFill>
          <a:ln w="12700">
            <a:solidFill>
              <a:srgbClr val="2563EB">
                <a:alpha val="0"/>
              </a:srgbClr>
            </a:solidFill>
            <a:prstDash val="solid"/>
          </a:ln>
        </p:spPr>
      </p:sp>
      <p:sp>
        <p:nvSpPr>
          <p:cNvPr id="11" name="Text 9"/>
          <p:cNvSpPr/>
          <p:nvPr/>
        </p:nvSpPr>
        <p:spPr>
          <a:xfrm>
            <a:off x="1143000" y="2962656"/>
            <a:ext cx="132588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EXPERIMENT</a:t>
            </a:r>
            <a:endParaRPr lang="en-US" sz="1000" dirty="0"/>
          </a:p>
        </p:txBody>
      </p:sp>
      <p:sp>
        <p:nvSpPr>
          <p:cNvPr id="12" name="Text 10"/>
          <p:cNvSpPr/>
          <p:nvPr/>
        </p:nvSpPr>
        <p:spPr>
          <a:xfrm>
            <a:off x="2743200" y="2852928"/>
            <a:ext cx="6035040" cy="475488"/>
          </a:xfrm>
          <a:prstGeom prst="rect">
            <a:avLst/>
          </a:prstGeom>
          <a:noFill/>
          <a:ln/>
        </p:spPr>
        <p:txBody>
          <a:bodyPr wrap="square" lIns="635" tIns="635" rIns="635" bIns="635" rtlCol="0" anchor="ctr">
            <a:normAutofit/>
          </a:bodyPr>
          <a:lstStyle/>
          <a:p>
            <a:pPr algn="l" indent="0" marL="0">
              <a:buNone/>
            </a:pPr>
            <a:r>
              <a:rPr lang="en-US" sz="1900" b="1" dirty="0">
                <a:solidFill>
                  <a:srgbClr val="102A43"/>
                </a:solidFill>
                <a:latin typeface="Aptos" pitchFamily="34" charset="0"/>
                <a:ea typeface="Aptos" pitchFamily="34" charset="-122"/>
                <a:cs typeface="Aptos" pitchFamily="34" charset="-120"/>
              </a:rPr>
              <a:t>Cycle learning curve + scratchpad/OOD results</a:t>
            </a:r>
            <a:endParaRPr lang="en-US" sz="1900" dirty="0"/>
          </a:p>
        </p:txBody>
      </p:sp>
      <p:sp>
        <p:nvSpPr>
          <p:cNvPr id="13" name="Text 11"/>
          <p:cNvSpPr/>
          <p:nvPr/>
        </p:nvSpPr>
        <p:spPr>
          <a:xfrm>
            <a:off x="9189720" y="2944368"/>
            <a:ext cx="1280160" cy="274320"/>
          </a:xfrm>
          <a:prstGeom prst="rect">
            <a:avLst/>
          </a:prstGeom>
          <a:noFill/>
          <a:ln/>
        </p:spPr>
        <p:txBody>
          <a:bodyPr wrap="square" lIns="635" tIns="635" rIns="635" bIns="635" rtlCol="0" anchor="ctr">
            <a:normAutofit/>
          </a:bodyPr>
          <a:lstStyle/>
          <a:p>
            <a:pPr algn="r" indent="0" marL="0">
              <a:buNone/>
            </a:pPr>
            <a:r>
              <a:rPr lang="en-US" sz="1200" b="1" dirty="0">
                <a:solidFill>
                  <a:srgbClr val="52606D"/>
                </a:solidFill>
                <a:latin typeface="Aptos" pitchFamily="34" charset="0"/>
                <a:ea typeface="Aptos" pitchFamily="34" charset="-122"/>
                <a:cs typeface="Aptos" pitchFamily="34" charset="-120"/>
              </a:rPr>
              <a:t>supports mechanism</a:t>
            </a:r>
            <a:endParaRPr lang="en-US" sz="1200" dirty="0"/>
          </a:p>
        </p:txBody>
      </p:sp>
      <p:sp>
        <p:nvSpPr>
          <p:cNvPr id="14" name="Shape 12"/>
          <p:cNvSpPr/>
          <p:nvPr/>
        </p:nvSpPr>
        <p:spPr>
          <a:xfrm>
            <a:off x="914400" y="3977640"/>
            <a:ext cx="10058400" cy="1005840"/>
          </a:xfrm>
          <a:prstGeom prst="roundRect">
            <a:avLst>
              <a:gd name="adj" fmla="val 5455"/>
            </a:avLst>
          </a:prstGeom>
          <a:solidFill>
            <a:srgbClr val="FFF7ED"/>
          </a:solidFill>
          <a:ln w="12700">
            <a:solidFill>
              <a:srgbClr val="CBD5E1"/>
            </a:solidFill>
            <a:prstDash val="solid"/>
          </a:ln>
        </p:spPr>
      </p:sp>
      <p:sp>
        <p:nvSpPr>
          <p:cNvPr id="15" name="Shape 13"/>
          <p:cNvSpPr/>
          <p:nvPr/>
        </p:nvSpPr>
        <p:spPr>
          <a:xfrm>
            <a:off x="1143000" y="4279392"/>
            <a:ext cx="1325880" cy="347472"/>
          </a:xfrm>
          <a:prstGeom prst="roundRect">
            <a:avLst>
              <a:gd name="adj" fmla="val 31579"/>
            </a:avLst>
          </a:prstGeom>
          <a:solidFill>
            <a:srgbClr val="F97316"/>
          </a:solidFill>
          <a:ln w="12700">
            <a:solidFill>
              <a:srgbClr val="F97316">
                <a:alpha val="0"/>
              </a:srgbClr>
            </a:solidFill>
            <a:prstDash val="solid"/>
          </a:ln>
        </p:spPr>
      </p:sp>
      <p:sp>
        <p:nvSpPr>
          <p:cNvPr id="16" name="Text 14"/>
          <p:cNvSpPr/>
          <p:nvPr/>
        </p:nvSpPr>
        <p:spPr>
          <a:xfrm>
            <a:off x="1143000" y="4288536"/>
            <a:ext cx="1325880" cy="30175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CONJECTURE</a:t>
            </a:r>
            <a:endParaRPr lang="en-US" sz="1000" dirty="0"/>
          </a:p>
        </p:txBody>
      </p:sp>
      <p:sp>
        <p:nvSpPr>
          <p:cNvPr id="17" name="Text 15"/>
          <p:cNvSpPr/>
          <p:nvPr/>
        </p:nvSpPr>
        <p:spPr>
          <a:xfrm>
            <a:off x="2743200" y="4178808"/>
            <a:ext cx="6035040" cy="475488"/>
          </a:xfrm>
          <a:prstGeom prst="rect">
            <a:avLst/>
          </a:prstGeom>
          <a:noFill/>
          <a:ln/>
        </p:spPr>
        <p:txBody>
          <a:bodyPr wrap="square" lIns="635" tIns="635" rIns="635" bIns="635" rtlCol="0" anchor="ctr">
            <a:normAutofit/>
          </a:bodyPr>
          <a:lstStyle/>
          <a:p>
            <a:pPr algn="l" indent="0" marL="0">
              <a:buNone/>
            </a:pPr>
            <a:r>
              <a:rPr lang="en-US" sz="1900" b="1" dirty="0">
                <a:solidFill>
                  <a:srgbClr val="102A43"/>
                </a:solidFill>
                <a:latin typeface="Aptos" pitchFamily="34" charset="0"/>
                <a:ea typeface="Aptos" pitchFamily="34" charset="-122"/>
                <a:cs typeface="Aptos" pitchFamily="34" charset="-120"/>
              </a:rPr>
              <a:t>Constant globality iff efficient weak learnability</a:t>
            </a:r>
            <a:endParaRPr lang="en-US" sz="1900" dirty="0"/>
          </a:p>
        </p:txBody>
      </p:sp>
      <p:sp>
        <p:nvSpPr>
          <p:cNvPr id="18" name="Text 16"/>
          <p:cNvSpPr/>
          <p:nvPr/>
        </p:nvSpPr>
        <p:spPr>
          <a:xfrm>
            <a:off x="9189720" y="4270248"/>
            <a:ext cx="1280160" cy="274320"/>
          </a:xfrm>
          <a:prstGeom prst="rect">
            <a:avLst/>
          </a:prstGeom>
          <a:noFill/>
          <a:ln/>
        </p:spPr>
        <p:txBody>
          <a:bodyPr wrap="square" lIns="635" tIns="635" rIns="635" bIns="635" rtlCol="0" anchor="ctr">
            <a:normAutofit/>
          </a:bodyPr>
          <a:lstStyle/>
          <a:p>
            <a:pPr algn="r" indent="0" marL="0">
              <a:buNone/>
            </a:pPr>
            <a:r>
              <a:rPr lang="en-US" sz="1200" b="1" dirty="0">
                <a:solidFill>
                  <a:srgbClr val="52606D"/>
                </a:solidFill>
                <a:latin typeface="Aptos" pitchFamily="34" charset="0"/>
                <a:ea typeface="Aptos" pitchFamily="34" charset="-122"/>
                <a:cs typeface="Aptos" pitchFamily="34" charset="-120"/>
              </a:rPr>
              <a:t>open</a:t>
            </a:r>
            <a:endParaRPr lang="en-US" sz="1200" dirty="0"/>
          </a:p>
        </p:txBody>
      </p:sp>
      <p:sp>
        <p:nvSpPr>
          <p:cNvPr id="19" name="Text 17"/>
          <p:cNvSpPr/>
          <p:nvPr/>
        </p:nvSpPr>
        <p:spPr>
          <a:xfrm>
            <a:off x="1828800" y="5577840"/>
            <a:ext cx="8412480" cy="320040"/>
          </a:xfrm>
          <a:prstGeom prst="rect">
            <a:avLst/>
          </a:prstGeom>
          <a:noFill/>
          <a:ln/>
        </p:spPr>
        <p:txBody>
          <a:bodyPr wrap="square" lIns="635" tIns="635" rIns="635" bIns="635" rtlCol="0" anchor="ctr">
            <a:normAutofit/>
          </a:bodyPr>
          <a:lstStyle/>
          <a:p>
            <a:pPr algn="ctr" indent="0" marL="0">
              <a:buNone/>
            </a:pPr>
            <a:r>
              <a:rPr lang="en-US" sz="1500" b="1" dirty="0">
                <a:solidFill>
                  <a:srgbClr val="DC2626"/>
                </a:solidFill>
                <a:latin typeface="Aptos" pitchFamily="34" charset="0"/>
                <a:ea typeface="Aptos" pitchFamily="34" charset="-122"/>
                <a:cs typeface="Aptos" pitchFamily="34" charset="-120"/>
              </a:rPr>
              <a:t>A good presentation should never make the third row sound like the first.</a:t>
            </a:r>
            <a:endParaRPr lang="en-US" sz="15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What the paper really buys you</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A reusable design heuristic for reasoning benchmarks.</a:t>
            </a:r>
            <a:endParaRPr lang="en-US" sz="1200" dirty="0"/>
          </a:p>
        </p:txBody>
      </p:sp>
      <p:sp>
        <p:nvSpPr>
          <p:cNvPr id="4" name="Shape 2"/>
          <p:cNvSpPr/>
          <p:nvPr/>
        </p:nvSpPr>
        <p:spPr>
          <a:xfrm>
            <a:off x="868680" y="1234440"/>
            <a:ext cx="384048" cy="384048"/>
          </a:xfrm>
          <a:prstGeom prst="ellipse">
            <a:avLst/>
          </a:prstGeom>
          <a:solidFill>
            <a:srgbClr val="2563EB"/>
          </a:solidFill>
          <a:ln w="12700">
            <a:solidFill>
              <a:srgbClr val="2563EB"/>
            </a:solidFill>
            <a:prstDash val="solid"/>
          </a:ln>
        </p:spPr>
      </p:sp>
      <p:sp>
        <p:nvSpPr>
          <p:cNvPr id="5" name="Text 3"/>
          <p:cNvSpPr/>
          <p:nvPr/>
        </p:nvSpPr>
        <p:spPr>
          <a:xfrm>
            <a:off x="868680" y="1252728"/>
            <a:ext cx="384048" cy="347472"/>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6" name="Text 4"/>
          <p:cNvSpPr/>
          <p:nvPr/>
        </p:nvSpPr>
        <p:spPr>
          <a:xfrm>
            <a:off x="1417320" y="1234440"/>
            <a:ext cx="2286000" cy="365760"/>
          </a:xfrm>
          <a:prstGeom prst="rect">
            <a:avLst/>
          </a:prstGeom>
          <a:noFill/>
          <a:ln/>
        </p:spPr>
        <p:txBody>
          <a:bodyPr wrap="square" lIns="635" tIns="635" rIns="635" bIns="635"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Measure globality</a:t>
            </a:r>
            <a:endParaRPr lang="en-US" sz="1700" dirty="0"/>
          </a:p>
        </p:txBody>
      </p:sp>
      <p:sp>
        <p:nvSpPr>
          <p:cNvPr id="7" name="Text 5"/>
          <p:cNvSpPr/>
          <p:nvPr/>
        </p:nvSpPr>
        <p:spPr>
          <a:xfrm>
            <a:off x="3657600" y="1234440"/>
            <a:ext cx="7315200" cy="502920"/>
          </a:xfrm>
          <a:prstGeom prst="rect">
            <a:avLst/>
          </a:prstGeom>
          <a:noFill/>
          <a:ln/>
        </p:spPr>
        <p:txBody>
          <a:bodyPr wrap="square" lIns="635" tIns="635" rIns="635" bIns="635" rtlCol="0" anchor="ctr">
            <a:normAutofit/>
          </a:bodyPr>
          <a:lstStyle/>
          <a:p>
            <a:pPr algn="l" indent="0" marL="0">
              <a:buNone/>
            </a:pPr>
            <a:r>
              <a:rPr lang="en-US" sz="1500" dirty="0">
                <a:solidFill>
                  <a:srgbClr val="52606D"/>
                </a:solidFill>
                <a:latin typeface="Aptos" pitchFamily="34" charset="0"/>
                <a:ea typeface="Aptos" pitchFamily="34" charset="-122"/>
                <a:cs typeface="Aptos" pitchFamily="34" charset="-120"/>
              </a:rPr>
              <a:t>Ask how many input tokens must matter before any weak signal appears.</a:t>
            </a:r>
            <a:endParaRPr lang="en-US" sz="1500" dirty="0"/>
          </a:p>
        </p:txBody>
      </p:sp>
      <p:sp>
        <p:nvSpPr>
          <p:cNvPr id="8" name="Shape 6"/>
          <p:cNvSpPr/>
          <p:nvPr/>
        </p:nvSpPr>
        <p:spPr>
          <a:xfrm>
            <a:off x="868680" y="2286000"/>
            <a:ext cx="384048" cy="384048"/>
          </a:xfrm>
          <a:prstGeom prst="ellipse">
            <a:avLst/>
          </a:prstGeom>
          <a:solidFill>
            <a:srgbClr val="F97316"/>
          </a:solidFill>
          <a:ln w="12700">
            <a:solidFill>
              <a:srgbClr val="F97316"/>
            </a:solidFill>
            <a:prstDash val="solid"/>
          </a:ln>
        </p:spPr>
      </p:sp>
      <p:sp>
        <p:nvSpPr>
          <p:cNvPr id="9" name="Text 7"/>
          <p:cNvSpPr/>
          <p:nvPr/>
        </p:nvSpPr>
        <p:spPr>
          <a:xfrm>
            <a:off x="868680" y="2304288"/>
            <a:ext cx="384048" cy="347472"/>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0" name="Text 8"/>
          <p:cNvSpPr/>
          <p:nvPr/>
        </p:nvSpPr>
        <p:spPr>
          <a:xfrm>
            <a:off x="1417320" y="2286000"/>
            <a:ext cx="2286000" cy="365760"/>
          </a:xfrm>
          <a:prstGeom prst="rect">
            <a:avLst/>
          </a:prstGeom>
          <a:noFill/>
          <a:ln/>
        </p:spPr>
        <p:txBody>
          <a:bodyPr wrap="square" lIns="635" tIns="635" rIns="635" bIns="635"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Design state</a:t>
            </a:r>
            <a:endParaRPr lang="en-US" sz="1700" dirty="0"/>
          </a:p>
        </p:txBody>
      </p:sp>
      <p:sp>
        <p:nvSpPr>
          <p:cNvPr id="11" name="Text 9"/>
          <p:cNvSpPr/>
          <p:nvPr/>
        </p:nvSpPr>
        <p:spPr>
          <a:xfrm>
            <a:off x="3657600" y="2286000"/>
            <a:ext cx="7315200" cy="502920"/>
          </a:xfrm>
          <a:prstGeom prst="rect">
            <a:avLst/>
          </a:prstGeom>
          <a:noFill/>
          <a:ln/>
        </p:spPr>
        <p:txBody>
          <a:bodyPr wrap="square" lIns="635" tIns="635" rIns="635" bIns="635" rtlCol="0" anchor="ctr">
            <a:normAutofit/>
          </a:bodyPr>
          <a:lstStyle/>
          <a:p>
            <a:pPr algn="l" indent="0" marL="0">
              <a:buNone/>
            </a:pPr>
            <a:r>
              <a:rPr lang="en-US" sz="1500" dirty="0">
                <a:solidFill>
                  <a:srgbClr val="52606D"/>
                </a:solidFill>
                <a:latin typeface="Aptos" pitchFamily="34" charset="0"/>
                <a:ea typeface="Aptos" pitchFamily="34" charset="-122"/>
                <a:cs typeface="Aptos" pitchFamily="34" charset="-120"/>
              </a:rPr>
              <a:t>Choose intermediate states with low autoregressive globality.</a:t>
            </a:r>
            <a:endParaRPr lang="en-US" sz="1500" dirty="0"/>
          </a:p>
        </p:txBody>
      </p:sp>
      <p:sp>
        <p:nvSpPr>
          <p:cNvPr id="12" name="Shape 10"/>
          <p:cNvSpPr/>
          <p:nvPr/>
        </p:nvSpPr>
        <p:spPr>
          <a:xfrm>
            <a:off x="868680" y="3337560"/>
            <a:ext cx="384048" cy="384048"/>
          </a:xfrm>
          <a:prstGeom prst="ellipse">
            <a:avLst/>
          </a:prstGeom>
          <a:solidFill>
            <a:srgbClr val="15803D"/>
          </a:solidFill>
          <a:ln w="12700">
            <a:solidFill>
              <a:srgbClr val="15803D"/>
            </a:solidFill>
            <a:prstDash val="solid"/>
          </a:ln>
        </p:spPr>
      </p:sp>
      <p:sp>
        <p:nvSpPr>
          <p:cNvPr id="13" name="Text 11"/>
          <p:cNvSpPr/>
          <p:nvPr/>
        </p:nvSpPr>
        <p:spPr>
          <a:xfrm>
            <a:off x="868680" y="3355848"/>
            <a:ext cx="384048" cy="347472"/>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4" name="Text 12"/>
          <p:cNvSpPr/>
          <p:nvPr/>
        </p:nvSpPr>
        <p:spPr>
          <a:xfrm>
            <a:off x="1417320" y="3337560"/>
            <a:ext cx="2286000" cy="365760"/>
          </a:xfrm>
          <a:prstGeom prst="rect">
            <a:avLst/>
          </a:prstGeom>
          <a:noFill/>
          <a:ln/>
        </p:spPr>
        <p:txBody>
          <a:bodyPr wrap="square" lIns="635" tIns="635" rIns="635" bIns="635"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Prefer induction</a:t>
            </a:r>
            <a:endParaRPr lang="en-US" sz="1700" dirty="0"/>
          </a:p>
        </p:txBody>
      </p:sp>
      <p:sp>
        <p:nvSpPr>
          <p:cNvPr id="15" name="Text 13"/>
          <p:cNvSpPr/>
          <p:nvPr/>
        </p:nvSpPr>
        <p:spPr>
          <a:xfrm>
            <a:off x="3657600" y="3337560"/>
            <a:ext cx="7315200" cy="502920"/>
          </a:xfrm>
          <a:prstGeom prst="rect">
            <a:avLst/>
          </a:prstGeom>
          <a:noFill/>
          <a:ln/>
        </p:spPr>
        <p:txBody>
          <a:bodyPr wrap="square" lIns="635" tIns="635" rIns="635" bIns="635" rtlCol="0" anchor="ctr">
            <a:normAutofit/>
          </a:bodyPr>
          <a:lstStyle/>
          <a:p>
            <a:pPr algn="l" indent="0" marL="0">
              <a:buNone/>
            </a:pPr>
            <a:r>
              <a:rPr lang="en-US" sz="1500" dirty="0">
                <a:solidFill>
                  <a:srgbClr val="52606D"/>
                </a:solidFill>
                <a:latin typeface="Aptos" pitchFamily="34" charset="0"/>
                <a:ea typeface="Aptos" pitchFamily="34" charset="-122"/>
                <a:cs typeface="Aptos" pitchFamily="34" charset="-120"/>
              </a:rPr>
              <a:t>Reuse the same state-transition rule across reasoning steps.</a:t>
            </a:r>
            <a:endParaRPr lang="en-US" sz="1500" dirty="0"/>
          </a:p>
        </p:txBody>
      </p:sp>
      <p:sp>
        <p:nvSpPr>
          <p:cNvPr id="16" name="Shape 14"/>
          <p:cNvSpPr/>
          <p:nvPr/>
        </p:nvSpPr>
        <p:spPr>
          <a:xfrm>
            <a:off x="868680" y="4389120"/>
            <a:ext cx="384048" cy="384048"/>
          </a:xfrm>
          <a:prstGeom prst="ellipse">
            <a:avLst/>
          </a:prstGeom>
          <a:solidFill>
            <a:srgbClr val="7C3AED"/>
          </a:solidFill>
          <a:ln w="12700">
            <a:solidFill>
              <a:srgbClr val="7C3AED"/>
            </a:solidFill>
            <a:prstDash val="solid"/>
          </a:ln>
        </p:spPr>
      </p:sp>
      <p:sp>
        <p:nvSpPr>
          <p:cNvPr id="17" name="Text 15"/>
          <p:cNvSpPr/>
          <p:nvPr/>
        </p:nvSpPr>
        <p:spPr>
          <a:xfrm>
            <a:off x="868680" y="4407408"/>
            <a:ext cx="384048" cy="347472"/>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8" name="Text 16"/>
          <p:cNvSpPr/>
          <p:nvPr/>
        </p:nvSpPr>
        <p:spPr>
          <a:xfrm>
            <a:off x="1417320" y="4389120"/>
            <a:ext cx="2286000" cy="365760"/>
          </a:xfrm>
          <a:prstGeom prst="rect">
            <a:avLst/>
          </a:prstGeom>
          <a:noFill/>
          <a:ln/>
        </p:spPr>
        <p:txBody>
          <a:bodyPr wrap="square" lIns="635" tIns="635" rIns="635" bIns="635" rtlCol="0" anchor="ctr">
            <a:normAutofit/>
          </a:bodyPr>
          <a:lstStyle/>
          <a:p>
            <a:pPr algn="l" indent="0" marL="0">
              <a:buNone/>
            </a:pPr>
            <a:r>
              <a:rPr lang="en-US" sz="1700" b="1" dirty="0">
                <a:solidFill>
                  <a:srgbClr val="102A43"/>
                </a:solidFill>
                <a:latin typeface="Aptos" pitchFamily="34" charset="0"/>
                <a:ea typeface="Aptos" pitchFamily="34" charset="-122"/>
                <a:cs typeface="Aptos" pitchFamily="34" charset="-120"/>
              </a:rPr>
              <a:t>Test OOD length</a:t>
            </a:r>
            <a:endParaRPr lang="en-US" sz="1700" dirty="0"/>
          </a:p>
        </p:txBody>
      </p:sp>
      <p:sp>
        <p:nvSpPr>
          <p:cNvPr id="19" name="Text 17"/>
          <p:cNvSpPr/>
          <p:nvPr/>
        </p:nvSpPr>
        <p:spPr>
          <a:xfrm>
            <a:off x="3657600" y="4389120"/>
            <a:ext cx="7315200" cy="502920"/>
          </a:xfrm>
          <a:prstGeom prst="rect">
            <a:avLst/>
          </a:prstGeom>
          <a:noFill/>
          <a:ln/>
        </p:spPr>
        <p:txBody>
          <a:bodyPr wrap="square" lIns="635" tIns="635" rIns="635" bIns="635" rtlCol="0" anchor="ctr">
            <a:normAutofit/>
          </a:bodyPr>
          <a:lstStyle/>
          <a:p>
            <a:pPr algn="l" indent="0" marL="0">
              <a:buNone/>
            </a:pPr>
            <a:r>
              <a:rPr lang="en-US" sz="1500" dirty="0">
                <a:solidFill>
                  <a:srgbClr val="52606D"/>
                </a:solidFill>
                <a:latin typeface="Aptos" pitchFamily="34" charset="0"/>
                <a:ea typeface="Aptos" pitchFamily="34" charset="-122"/>
                <a:cs typeface="Aptos" pitchFamily="34" charset="-120"/>
              </a:rPr>
              <a:t>A reasoning method is stronger when it extrapolates the number of steps.</a:t>
            </a:r>
            <a:endParaRPr lang="en-US" sz="15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One important limit: the theorem is not “LLMs cannot reason globally”</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The model class and optimization assumptions are much narrower.</a:t>
            </a:r>
            <a:endParaRPr lang="en-US" sz="1200" dirty="0"/>
          </a:p>
        </p:txBody>
      </p:sp>
      <p:sp>
        <p:nvSpPr>
          <p:cNvPr id="4" name="Shape 2"/>
          <p:cNvSpPr/>
          <p:nvPr/>
        </p:nvSpPr>
        <p:spPr>
          <a:xfrm>
            <a:off x="914400" y="1280160"/>
            <a:ext cx="10149840" cy="1600200"/>
          </a:xfrm>
          <a:prstGeom prst="roundRect">
            <a:avLst>
              <a:gd name="adj" fmla="val 3429"/>
            </a:avLst>
          </a:prstGeom>
          <a:solidFill>
            <a:srgbClr val="FEF2F2"/>
          </a:solidFill>
          <a:ln w="12700">
            <a:solidFill>
              <a:srgbClr val="FECACA"/>
            </a:solidFill>
            <a:prstDash val="solid"/>
          </a:ln>
        </p:spPr>
      </p:sp>
      <p:sp>
        <p:nvSpPr>
          <p:cNvPr id="5" name="Text 3"/>
          <p:cNvSpPr/>
          <p:nvPr/>
        </p:nvSpPr>
        <p:spPr>
          <a:xfrm>
            <a:off x="1234440" y="1600200"/>
            <a:ext cx="1371600" cy="274320"/>
          </a:xfrm>
          <a:prstGeom prst="rect">
            <a:avLst/>
          </a:prstGeom>
          <a:noFill/>
          <a:ln/>
        </p:spPr>
        <p:txBody>
          <a:bodyPr wrap="square" lIns="635" tIns="635" rIns="635" bIns="635" rtlCol="0" anchor="ctr">
            <a:normAutofit/>
          </a:bodyPr>
          <a:lstStyle/>
          <a:p>
            <a:pPr algn="l" indent="0" marL="0">
              <a:buNone/>
            </a:pPr>
            <a:r>
              <a:rPr lang="en-US" sz="1400" b="1" dirty="0">
                <a:solidFill>
                  <a:srgbClr val="DC2626"/>
                </a:solidFill>
                <a:latin typeface="Aptos" pitchFamily="34" charset="0"/>
                <a:ea typeface="Aptos" pitchFamily="34" charset="-122"/>
                <a:cs typeface="Aptos" pitchFamily="34" charset="-120"/>
              </a:rPr>
              <a:t>Not proven:</a:t>
            </a:r>
            <a:endParaRPr lang="en-US" sz="1400" dirty="0"/>
          </a:p>
        </p:txBody>
      </p:sp>
      <p:sp>
        <p:nvSpPr>
          <p:cNvPr id="6" name="Text 4"/>
          <p:cNvSpPr/>
          <p:nvPr/>
        </p:nvSpPr>
        <p:spPr>
          <a:xfrm>
            <a:off x="2240280" y="1508760"/>
            <a:ext cx="8366760" cy="658368"/>
          </a:xfrm>
          <a:prstGeom prst="rect">
            <a:avLst/>
          </a:prstGeom>
          <a:noFill/>
          <a:ln/>
        </p:spPr>
        <p:txBody>
          <a:bodyPr wrap="square" lIns="635" tIns="635" rIns="635" bIns="635" rtlCol="0" anchor="ctr">
            <a:normAutofit/>
          </a:bodyPr>
          <a:lstStyle/>
          <a:p>
            <a:pPr algn="ctr" indent="0" marL="0">
              <a:buNone/>
            </a:pPr>
            <a:r>
              <a:rPr lang="en-US" sz="2200" b="1" dirty="0">
                <a:solidFill>
                  <a:srgbClr val="DC2626"/>
                </a:solidFill>
                <a:latin typeface="Aptos" pitchFamily="34" charset="0"/>
                <a:ea typeface="Aptos" pitchFamily="34" charset="-122"/>
                <a:cs typeface="Aptos" pitchFamily="34" charset="-120"/>
              </a:rPr>
              <a:t>“A modern decoder-only LLM cannot learn connectivity, parity, or long arithmetic no matter how it is trained.”</a:t>
            </a:r>
            <a:endParaRPr lang="en-US" sz="2200" dirty="0"/>
          </a:p>
        </p:txBody>
      </p:sp>
      <p:sp>
        <p:nvSpPr>
          <p:cNvPr id="7" name="Text 5"/>
          <p:cNvSpPr/>
          <p:nvPr/>
        </p:nvSpPr>
        <p:spPr>
          <a:xfrm>
            <a:off x="1188720" y="3429000"/>
            <a:ext cx="2103120" cy="274320"/>
          </a:xfrm>
          <a:prstGeom prst="rect">
            <a:avLst/>
          </a:prstGeom>
          <a:noFill/>
          <a:ln/>
        </p:spPr>
        <p:txBody>
          <a:bodyPr wrap="square" lIns="635" tIns="635" rIns="635" bIns="635" rtlCol="0" anchor="ctr">
            <a:normAutofit/>
          </a:bodyPr>
          <a:lstStyle/>
          <a:p>
            <a:pPr algn="l" indent="0" marL="0">
              <a:buNone/>
            </a:pPr>
            <a:r>
              <a:rPr lang="en-US" sz="1400" b="1" dirty="0">
                <a:solidFill>
                  <a:srgbClr val="15803D"/>
                </a:solidFill>
                <a:latin typeface="Aptos" pitchFamily="34" charset="0"/>
                <a:ea typeface="Aptos" pitchFamily="34" charset="-122"/>
                <a:cs typeface="Aptos" pitchFamily="34" charset="-120"/>
              </a:rPr>
              <a:t>The actual result is closer to:</a:t>
            </a:r>
            <a:endParaRPr lang="en-US" sz="1400" dirty="0"/>
          </a:p>
        </p:txBody>
      </p:sp>
      <p:sp>
        <p:nvSpPr>
          <p:cNvPr id="8" name="Text 6"/>
          <p:cNvSpPr/>
          <p:nvPr/>
        </p:nvSpPr>
        <p:spPr>
          <a:xfrm>
            <a:off x="2926080" y="3246120"/>
            <a:ext cx="7452360" cy="731520"/>
          </a:xfrm>
          <a:prstGeom prst="rect">
            <a:avLst/>
          </a:prstGeom>
          <a:noFill/>
          <a:ln/>
        </p:spPr>
        <p:txBody>
          <a:bodyPr wrap="square" lIns="635" tIns="635" rIns="635" bIns="635" rtlCol="0" anchor="ctr">
            <a:normAutofit/>
          </a:bodyPr>
          <a:lstStyle/>
          <a:p>
            <a:pPr algn="ctr" indent="0" marL="0">
              <a:buNone/>
            </a:pPr>
            <a:r>
              <a:rPr lang="en-US" sz="2200" b="1" dirty="0">
                <a:solidFill>
                  <a:srgbClr val="102A43"/>
                </a:solidFill>
                <a:latin typeface="Aptos" pitchFamily="34" charset="0"/>
                <a:ea typeface="Aptos" pitchFamily="34" charset="-122"/>
                <a:cs typeface="Aptos" pitchFamily="34" charset="-120"/>
              </a:rPr>
              <a:t>“Under a standard symmetric Transformer training regime, high-globality distributions can defeat polynomial-time gradient descent.”</a:t>
            </a:r>
            <a:endParaRPr lang="en-US" sz="2200" dirty="0"/>
          </a:p>
        </p:txBody>
      </p:sp>
      <p:sp>
        <p:nvSpPr>
          <p:cNvPr id="9" name="Text 7"/>
          <p:cNvSpPr/>
          <p:nvPr/>
        </p:nvSpPr>
        <p:spPr>
          <a:xfrm>
            <a:off x="1828800" y="4663440"/>
            <a:ext cx="8412480" cy="411480"/>
          </a:xfrm>
          <a:prstGeom prst="rect">
            <a:avLst/>
          </a:prstGeom>
          <a:noFill/>
          <a:ln/>
        </p:spPr>
        <p:txBody>
          <a:bodyPr wrap="square" lIns="635" tIns="635" rIns="635" bIns="635" rtlCol="0" anchor="ctr">
            <a:normAutofit/>
          </a:bodyPr>
          <a:lstStyle/>
          <a:p>
            <a:pPr algn="ctr" indent="0" marL="0">
              <a:buNone/>
            </a:pPr>
            <a:r>
              <a:rPr lang="en-US" sz="1700" dirty="0">
                <a:solidFill>
                  <a:srgbClr val="52606D"/>
                </a:solidFill>
                <a:latin typeface="Aptos" pitchFamily="34" charset="0"/>
                <a:ea typeface="Aptos" pitchFamily="34" charset="-122"/>
                <a:cs typeface="Aptos" pitchFamily="34" charset="-120"/>
              </a:rPr>
              <a:t>That distinction is what makes the theorem interesting rather than sensational.</a:t>
            </a:r>
            <a:endParaRPr lang="en-US" sz="17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329184"/>
            <a:ext cx="10698480" cy="502920"/>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The experiment I would demand next</a:t>
            </a:r>
            <a:endParaRPr lang="en-US" sz="2500" dirty="0"/>
          </a:p>
        </p:txBody>
      </p:sp>
      <p:sp>
        <p:nvSpPr>
          <p:cNvPr id="3" name="Text 1"/>
          <p:cNvSpPr/>
          <p:nvPr/>
        </p:nvSpPr>
        <p:spPr>
          <a:xfrm>
            <a:off x="585216" y="850392"/>
            <a:ext cx="10515600" cy="310896"/>
          </a:xfrm>
          <a:prstGeom prst="rect">
            <a:avLst/>
          </a:prstGeom>
          <a:noFill/>
          <a:ln/>
        </p:spPr>
        <p:txBody>
          <a:bodyPr wrap="square" lIns="0" tIns="0" rIns="0" bIns="0" rtlCol="0" anchor="ctr">
            <a:normAutofit/>
          </a:bodyPr>
          <a:lstStyle/>
          <a:p>
            <a:pPr indent="0" marL="0">
              <a:buNone/>
            </a:pPr>
            <a:r>
              <a:rPr lang="en-US" sz="1200" dirty="0">
                <a:solidFill>
                  <a:srgbClr val="52606D"/>
                </a:solidFill>
                <a:latin typeface="Aptos" pitchFamily="34" charset="0"/>
                <a:ea typeface="Aptos" pitchFamily="34" charset="-122"/>
                <a:cs typeface="Aptos" pitchFamily="34" charset="-120"/>
              </a:rPr>
              <a:t>Can the barrier survive standard modern Transformer inductive biases?</a:t>
            </a:r>
            <a:endParaRPr lang="en-US" sz="1200" dirty="0"/>
          </a:p>
        </p:txBody>
      </p:sp>
      <p:sp>
        <p:nvSpPr>
          <p:cNvPr id="4" name="Shape 2"/>
          <p:cNvSpPr/>
          <p:nvPr/>
        </p:nvSpPr>
        <p:spPr>
          <a:xfrm>
            <a:off x="822960" y="1234440"/>
            <a:ext cx="301752" cy="301752"/>
          </a:xfrm>
          <a:prstGeom prst="ellipse">
            <a:avLst/>
          </a:prstGeom>
          <a:solidFill>
            <a:srgbClr val="F97316"/>
          </a:solidFill>
          <a:ln w="12700">
            <a:solidFill>
              <a:srgbClr val="F97316"/>
            </a:solidFill>
            <a:prstDash val="solid"/>
          </a:ln>
        </p:spPr>
      </p:sp>
      <p:sp>
        <p:nvSpPr>
          <p:cNvPr id="5" name="Text 3"/>
          <p:cNvSpPr/>
          <p:nvPr/>
        </p:nvSpPr>
        <p:spPr>
          <a:xfrm>
            <a:off x="822960" y="1252728"/>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6" name="Text 4"/>
          <p:cNvSpPr/>
          <p:nvPr/>
        </p:nvSpPr>
        <p:spPr>
          <a:xfrm>
            <a:off x="1325880" y="1252728"/>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standard decoder-only Transformer</a:t>
            </a:r>
            <a:endParaRPr lang="en-US" sz="1600" dirty="0"/>
          </a:p>
        </p:txBody>
      </p:sp>
      <p:sp>
        <p:nvSpPr>
          <p:cNvPr id="7" name="Shape 5"/>
          <p:cNvSpPr/>
          <p:nvPr/>
        </p:nvSpPr>
        <p:spPr>
          <a:xfrm>
            <a:off x="822960" y="1892808"/>
            <a:ext cx="301752" cy="301752"/>
          </a:xfrm>
          <a:prstGeom prst="ellipse">
            <a:avLst/>
          </a:prstGeom>
          <a:solidFill>
            <a:srgbClr val="F97316"/>
          </a:solidFill>
          <a:ln w="12700">
            <a:solidFill>
              <a:srgbClr val="F97316"/>
            </a:solidFill>
            <a:prstDash val="solid"/>
          </a:ln>
        </p:spPr>
      </p:sp>
      <p:sp>
        <p:nvSpPr>
          <p:cNvPr id="8" name="Text 6"/>
          <p:cNvSpPr/>
          <p:nvPr/>
        </p:nvSpPr>
        <p:spPr>
          <a:xfrm>
            <a:off x="822960" y="1911096"/>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9" name="Text 7"/>
          <p:cNvSpPr/>
          <p:nvPr/>
        </p:nvSpPr>
        <p:spPr>
          <a:xfrm>
            <a:off x="1325880" y="1911096"/>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trainable embeddings + layer norm</a:t>
            </a:r>
            <a:endParaRPr lang="en-US" sz="1600" dirty="0"/>
          </a:p>
        </p:txBody>
      </p:sp>
      <p:sp>
        <p:nvSpPr>
          <p:cNvPr id="10" name="Shape 8"/>
          <p:cNvSpPr/>
          <p:nvPr/>
        </p:nvSpPr>
        <p:spPr>
          <a:xfrm>
            <a:off x="822960" y="2551176"/>
            <a:ext cx="301752" cy="301752"/>
          </a:xfrm>
          <a:prstGeom prst="ellipse">
            <a:avLst/>
          </a:prstGeom>
          <a:solidFill>
            <a:srgbClr val="F97316"/>
          </a:solidFill>
          <a:ln w="12700">
            <a:solidFill>
              <a:srgbClr val="F97316"/>
            </a:solidFill>
            <a:prstDash val="solid"/>
          </a:ln>
        </p:spPr>
      </p:sp>
      <p:sp>
        <p:nvSpPr>
          <p:cNvPr id="11" name="Text 9"/>
          <p:cNvSpPr/>
          <p:nvPr/>
        </p:nvSpPr>
        <p:spPr>
          <a:xfrm>
            <a:off x="822960" y="2569464"/>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2" name="Text 10"/>
          <p:cNvSpPr/>
          <p:nvPr/>
        </p:nvSpPr>
        <p:spPr>
          <a:xfrm>
            <a:off x="1325880" y="2569464"/>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causal masking</a:t>
            </a:r>
            <a:endParaRPr lang="en-US" sz="1600" dirty="0"/>
          </a:p>
        </p:txBody>
      </p:sp>
      <p:sp>
        <p:nvSpPr>
          <p:cNvPr id="13" name="Shape 11"/>
          <p:cNvSpPr/>
          <p:nvPr/>
        </p:nvSpPr>
        <p:spPr>
          <a:xfrm>
            <a:off x="822960" y="3209544"/>
            <a:ext cx="301752" cy="301752"/>
          </a:xfrm>
          <a:prstGeom prst="ellipse">
            <a:avLst/>
          </a:prstGeom>
          <a:solidFill>
            <a:srgbClr val="F97316"/>
          </a:solidFill>
          <a:ln w="12700">
            <a:solidFill>
              <a:srgbClr val="F97316"/>
            </a:solidFill>
            <a:prstDash val="solid"/>
          </a:ln>
        </p:spPr>
      </p:sp>
      <p:sp>
        <p:nvSpPr>
          <p:cNvPr id="14" name="Text 12"/>
          <p:cNvSpPr/>
          <p:nvPr/>
        </p:nvSpPr>
        <p:spPr>
          <a:xfrm>
            <a:off x="822960" y="3227832"/>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15" name="Text 13"/>
          <p:cNvSpPr/>
          <p:nvPr/>
        </p:nvSpPr>
        <p:spPr>
          <a:xfrm>
            <a:off x="1325880" y="3227832"/>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generic initialization</a:t>
            </a:r>
            <a:endParaRPr lang="en-US" sz="1600" dirty="0"/>
          </a:p>
        </p:txBody>
      </p:sp>
      <p:sp>
        <p:nvSpPr>
          <p:cNvPr id="16" name="Shape 14"/>
          <p:cNvSpPr/>
          <p:nvPr/>
        </p:nvSpPr>
        <p:spPr>
          <a:xfrm>
            <a:off x="822960" y="3867912"/>
            <a:ext cx="301752" cy="301752"/>
          </a:xfrm>
          <a:prstGeom prst="ellipse">
            <a:avLst/>
          </a:prstGeom>
          <a:solidFill>
            <a:srgbClr val="F97316"/>
          </a:solidFill>
          <a:ln w="12700">
            <a:solidFill>
              <a:srgbClr val="F97316"/>
            </a:solidFill>
            <a:prstDash val="solid"/>
          </a:ln>
        </p:spPr>
      </p:sp>
      <p:sp>
        <p:nvSpPr>
          <p:cNvPr id="17" name="Text 15"/>
          <p:cNvSpPr/>
          <p:nvPr/>
        </p:nvSpPr>
        <p:spPr>
          <a:xfrm>
            <a:off x="822960" y="3886200"/>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18" name="Text 16"/>
          <p:cNvSpPr/>
          <p:nvPr/>
        </p:nvSpPr>
        <p:spPr>
          <a:xfrm>
            <a:off x="1325880" y="3886200"/>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matched compute/token budget</a:t>
            </a:r>
            <a:endParaRPr lang="en-US" sz="1600" dirty="0"/>
          </a:p>
        </p:txBody>
      </p:sp>
      <p:sp>
        <p:nvSpPr>
          <p:cNvPr id="19" name="Shape 17"/>
          <p:cNvSpPr/>
          <p:nvPr/>
        </p:nvSpPr>
        <p:spPr>
          <a:xfrm>
            <a:off x="822960" y="4526280"/>
            <a:ext cx="301752" cy="301752"/>
          </a:xfrm>
          <a:prstGeom prst="ellipse">
            <a:avLst/>
          </a:prstGeom>
          <a:solidFill>
            <a:srgbClr val="F97316"/>
          </a:solidFill>
          <a:ln w="12700">
            <a:solidFill>
              <a:srgbClr val="F97316"/>
            </a:solidFill>
            <a:prstDash val="solid"/>
          </a:ln>
        </p:spPr>
      </p:sp>
      <p:sp>
        <p:nvSpPr>
          <p:cNvPr id="20" name="Text 18"/>
          <p:cNvSpPr/>
          <p:nvPr/>
        </p:nvSpPr>
        <p:spPr>
          <a:xfrm>
            <a:off x="822960" y="4544568"/>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6</a:t>
            </a:r>
            <a:endParaRPr lang="en-US" sz="1200" dirty="0"/>
          </a:p>
        </p:txBody>
      </p:sp>
      <p:sp>
        <p:nvSpPr>
          <p:cNvPr id="21" name="Text 19"/>
          <p:cNvSpPr/>
          <p:nvPr/>
        </p:nvSpPr>
        <p:spPr>
          <a:xfrm>
            <a:off x="1325880" y="4544568"/>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wide range of n, not just small synthetic sizes</a:t>
            </a:r>
            <a:endParaRPr lang="en-US" sz="1600" dirty="0"/>
          </a:p>
        </p:txBody>
      </p:sp>
      <p:sp>
        <p:nvSpPr>
          <p:cNvPr id="22" name="Shape 20"/>
          <p:cNvSpPr/>
          <p:nvPr/>
        </p:nvSpPr>
        <p:spPr>
          <a:xfrm>
            <a:off x="822960" y="5184648"/>
            <a:ext cx="301752" cy="301752"/>
          </a:xfrm>
          <a:prstGeom prst="ellipse">
            <a:avLst/>
          </a:prstGeom>
          <a:solidFill>
            <a:srgbClr val="F97316"/>
          </a:solidFill>
          <a:ln w="12700">
            <a:solidFill>
              <a:srgbClr val="F97316"/>
            </a:solidFill>
            <a:prstDash val="solid"/>
          </a:ln>
        </p:spPr>
      </p:sp>
      <p:sp>
        <p:nvSpPr>
          <p:cNvPr id="23" name="Text 21"/>
          <p:cNvSpPr/>
          <p:nvPr/>
        </p:nvSpPr>
        <p:spPr>
          <a:xfrm>
            <a:off x="822960" y="5202936"/>
            <a:ext cx="301752" cy="265176"/>
          </a:xfrm>
          <a:prstGeom prst="rect">
            <a:avLst/>
          </a:prstGeom>
          <a:noFill/>
          <a:ln/>
        </p:spPr>
        <p:txBody>
          <a:bodyPr wrap="square" lIns="635" tIns="635" rIns="635" bIns="635"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7</a:t>
            </a:r>
            <a:endParaRPr lang="en-US" sz="1200" dirty="0"/>
          </a:p>
        </p:txBody>
      </p:sp>
      <p:sp>
        <p:nvSpPr>
          <p:cNvPr id="24" name="Text 22"/>
          <p:cNvSpPr/>
          <p:nvPr/>
        </p:nvSpPr>
        <p:spPr>
          <a:xfrm>
            <a:off x="1325880" y="5202936"/>
            <a:ext cx="9601200" cy="320040"/>
          </a:xfrm>
          <a:prstGeom prst="rect">
            <a:avLst/>
          </a:prstGeom>
          <a:noFill/>
          <a:ln/>
        </p:spPr>
        <p:txBody>
          <a:bodyPr wrap="square" lIns="635" tIns="635" rIns="635" bIns="635" rtlCol="0" anchor="ctr">
            <a:normAutofit/>
          </a:bodyPr>
          <a:lstStyle/>
          <a:p>
            <a:pPr algn="l" indent="0" marL="0">
              <a:buNone/>
            </a:pPr>
            <a:r>
              <a:rPr lang="en-US" sz="1600" dirty="0">
                <a:solidFill>
                  <a:srgbClr val="102A43"/>
                </a:solidFill>
                <a:latin typeface="Aptos" pitchFamily="34" charset="0"/>
                <a:ea typeface="Aptos" pitchFamily="34" charset="-122"/>
                <a:cs typeface="Aptos" pitchFamily="34" charset="-120"/>
              </a:rPr>
              <a:t>train on short reasoning traces; test on much longer traces</a:t>
            </a:r>
            <a:endParaRPr lang="en-US" sz="1600" dirty="0"/>
          </a:p>
        </p:txBody>
      </p:sp>
      <p:sp>
        <p:nvSpPr>
          <p:cNvPr id="25" name="Shape 23"/>
          <p:cNvSpPr/>
          <p:nvPr/>
        </p:nvSpPr>
        <p:spPr>
          <a:xfrm>
            <a:off x="868680" y="5532120"/>
            <a:ext cx="10241280" cy="594360"/>
          </a:xfrm>
          <a:prstGeom prst="roundRect">
            <a:avLst>
              <a:gd name="adj" fmla="val 9231"/>
            </a:avLst>
          </a:prstGeom>
          <a:solidFill>
            <a:srgbClr val="EFF6FF"/>
          </a:solidFill>
          <a:ln w="12700">
            <a:solidFill>
              <a:srgbClr val="BFDBFE"/>
            </a:solidFill>
            <a:prstDash val="solid"/>
          </a:ln>
        </p:spPr>
      </p:sp>
      <p:sp>
        <p:nvSpPr>
          <p:cNvPr id="26" name="Text 24"/>
          <p:cNvSpPr/>
          <p:nvPr/>
        </p:nvSpPr>
        <p:spPr>
          <a:xfrm>
            <a:off x="1097280" y="5650992"/>
            <a:ext cx="9784080" cy="320040"/>
          </a:xfrm>
          <a:prstGeom prst="rect">
            <a:avLst/>
          </a:prstGeom>
          <a:noFill/>
          <a:ln/>
        </p:spPr>
        <p:txBody>
          <a:bodyPr wrap="square" lIns="635" tIns="635" rIns="635" bIns="635" rtlCol="0" anchor="ctr">
            <a:normAutofit/>
          </a:bodyPr>
          <a:lstStyle/>
          <a:p>
            <a:pPr algn="ctr" indent="0" marL="0">
              <a:buNone/>
            </a:pPr>
            <a:r>
              <a:rPr lang="en-US" sz="1400" b="1" dirty="0">
                <a:solidFill>
                  <a:srgbClr val="2563EB"/>
                </a:solidFill>
                <a:latin typeface="Aptos" pitchFamily="34" charset="0"/>
                <a:ea typeface="Aptos" pitchFamily="34" charset="-122"/>
                <a:cs typeface="Aptos" pitchFamily="34" charset="-120"/>
              </a:rPr>
              <a:t>Challenge: does high globality still predict a sharp training barrier after adding the inductive biases modern LLMs actually use?</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Text 1"/>
          <p:cNvSpPr/>
          <p:nvPr/>
        </p:nvSpPr>
        <p:spPr>
          <a:xfrm>
            <a:off x="731520" y="731520"/>
            <a:ext cx="1828800" cy="320040"/>
          </a:xfrm>
          <a:prstGeom prst="rect">
            <a:avLst/>
          </a:prstGeom>
          <a:noFill/>
          <a:ln/>
        </p:spPr>
        <p:txBody>
          <a:bodyPr wrap="square" lIns="635" tIns="635" rIns="635" bIns="635" rtlCol="0" anchor="ctr">
            <a:normAutofit/>
          </a:bodyPr>
          <a:lstStyle/>
          <a:p>
            <a:pPr algn="l" indent="0" marL="0">
              <a:buNone/>
            </a:pPr>
            <a:r>
              <a:rPr lang="en-US" sz="1400" b="1" dirty="0">
                <a:solidFill>
                  <a:srgbClr val="93C5FD"/>
                </a:solidFill>
                <a:latin typeface="Aptos" pitchFamily="34" charset="0"/>
                <a:ea typeface="Aptos" pitchFamily="34" charset="-122"/>
                <a:cs typeface="Aptos" pitchFamily="34" charset="-120"/>
              </a:rPr>
              <a:t>TAKEAWAY</a:t>
            </a:r>
            <a:endParaRPr lang="en-US" sz="1400" dirty="0"/>
          </a:p>
        </p:txBody>
      </p:sp>
      <p:sp>
        <p:nvSpPr>
          <p:cNvPr id="4" name="Text 2"/>
          <p:cNvSpPr/>
          <p:nvPr/>
        </p:nvSpPr>
        <p:spPr>
          <a:xfrm>
            <a:off x="731520" y="1417320"/>
            <a:ext cx="10241280" cy="566928"/>
          </a:xfrm>
          <a:prstGeom prst="rect">
            <a:avLst/>
          </a:prstGeom>
          <a:noFill/>
          <a:ln/>
        </p:spPr>
        <p:txBody>
          <a:bodyPr wrap="square" lIns="635" tIns="635" rIns="635" bIns="635" rtlCol="0" anchor="ctr">
            <a:normAutofit/>
          </a:bodyPr>
          <a:lstStyle/>
          <a:p>
            <a:pPr algn="ctr" indent="0" marL="0">
              <a:buNone/>
            </a:pPr>
            <a:r>
              <a:rPr lang="en-US" sz="2700" b="1" dirty="0">
                <a:solidFill>
                  <a:srgbClr val="FFFFFF"/>
                </a:solidFill>
                <a:latin typeface="Aptos" pitchFamily="34" charset="0"/>
                <a:ea typeface="Aptos" pitchFamily="34" charset="-122"/>
                <a:cs typeface="Aptos" pitchFamily="34" charset="-120"/>
              </a:rPr>
              <a:t>The barrier is not “Transformers cannot compute it.”</a:t>
            </a:r>
            <a:endParaRPr lang="en-US" sz="2700" dirty="0"/>
          </a:p>
        </p:txBody>
      </p:sp>
      <p:sp>
        <p:nvSpPr>
          <p:cNvPr id="5" name="Text 3"/>
          <p:cNvSpPr/>
          <p:nvPr/>
        </p:nvSpPr>
        <p:spPr>
          <a:xfrm>
            <a:off x="731520" y="2148840"/>
            <a:ext cx="10241280" cy="749808"/>
          </a:xfrm>
          <a:prstGeom prst="rect">
            <a:avLst/>
          </a:prstGeom>
          <a:noFill/>
          <a:ln/>
        </p:spPr>
        <p:txBody>
          <a:bodyPr wrap="square" lIns="635" tIns="635" rIns="635" bIns="635" rtlCol="0" anchor="ctr">
            <a:normAutofit/>
          </a:bodyPr>
          <a:lstStyle/>
          <a:p>
            <a:pPr algn="ctr" indent="0" marL="0">
              <a:buNone/>
            </a:pPr>
            <a:r>
              <a:rPr lang="en-US" sz="3100" b="1" dirty="0">
                <a:solidFill>
                  <a:srgbClr val="FDE68A"/>
                </a:solidFill>
                <a:latin typeface="Aptos" pitchFamily="34" charset="0"/>
                <a:ea typeface="Aptos" pitchFamily="34" charset="-122"/>
                <a:cs typeface="Aptos" pitchFamily="34" charset="-120"/>
              </a:rPr>
              <a:t>It is “the training signal can stay too global for gradient descent to discover.”</a:t>
            </a:r>
            <a:endParaRPr lang="en-US" sz="3100" dirty="0"/>
          </a:p>
        </p:txBody>
      </p:sp>
      <p:sp>
        <p:nvSpPr>
          <p:cNvPr id="6" name="Shape 4"/>
          <p:cNvSpPr/>
          <p:nvPr/>
        </p:nvSpPr>
        <p:spPr>
          <a:xfrm>
            <a:off x="5257800" y="3154680"/>
            <a:ext cx="0" cy="640080"/>
          </a:xfrm>
          <a:prstGeom prst="line">
            <a:avLst/>
          </a:prstGeom>
          <a:noFill/>
          <a:ln w="38100">
            <a:solidFill>
              <a:srgbClr val="F97316"/>
            </a:solidFill>
            <a:prstDash val="solid"/>
            <a:headEnd type="none"/>
            <a:tailEnd type="triangle"/>
          </a:ln>
        </p:spPr>
      </p:sp>
      <p:sp>
        <p:nvSpPr>
          <p:cNvPr id="7" name="Text 5"/>
          <p:cNvSpPr/>
          <p:nvPr/>
        </p:nvSpPr>
        <p:spPr>
          <a:xfrm>
            <a:off x="3749040" y="3977640"/>
            <a:ext cx="3108960" cy="320040"/>
          </a:xfrm>
          <a:prstGeom prst="rect">
            <a:avLst/>
          </a:prstGeom>
          <a:noFill/>
          <a:ln/>
        </p:spPr>
        <p:txBody>
          <a:bodyPr wrap="square" lIns="635" tIns="635" rIns="635" bIns="635" rtlCol="0" anchor="ctr">
            <a:normAutofit/>
          </a:bodyPr>
          <a:lstStyle/>
          <a:p>
            <a:pPr algn="ctr" indent="0" marL="0">
              <a:buNone/>
            </a:pPr>
            <a:r>
              <a:rPr lang="en-US" sz="1300" b="1" dirty="0">
                <a:solidFill>
                  <a:srgbClr val="86EFAC"/>
                </a:solidFill>
                <a:latin typeface="Aptos" pitchFamily="34" charset="0"/>
                <a:ea typeface="Aptos" pitchFamily="34" charset="-122"/>
                <a:cs typeface="Aptos" pitchFamily="34" charset="-120"/>
              </a:rPr>
              <a:t>GOOD SCRATCHPAD</a:t>
            </a:r>
            <a:endParaRPr lang="en-US" sz="1300" dirty="0"/>
          </a:p>
        </p:txBody>
      </p:sp>
      <p:sp>
        <p:nvSpPr>
          <p:cNvPr id="8" name="Text 6"/>
          <p:cNvSpPr/>
          <p:nvPr/>
        </p:nvSpPr>
        <p:spPr>
          <a:xfrm>
            <a:off x="2423160" y="4498848"/>
            <a:ext cx="5669280" cy="594360"/>
          </a:xfrm>
          <a:prstGeom prst="rect">
            <a:avLst/>
          </a:prstGeom>
          <a:noFill/>
          <a:ln/>
        </p:spPr>
        <p:txBody>
          <a:bodyPr wrap="square" lIns="635" tIns="635" rIns="635" bIns="635"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turns one global prediction into a reusable local transition</a:t>
            </a:r>
            <a:endParaRPr lang="en-US" sz="2200" dirty="0"/>
          </a:p>
        </p:txBody>
      </p:sp>
      <p:sp>
        <p:nvSpPr>
          <p:cNvPr id="9" name="Text 7"/>
          <p:cNvSpPr/>
          <p:nvPr/>
        </p:nvSpPr>
        <p:spPr>
          <a:xfrm>
            <a:off x="2788920" y="5440680"/>
            <a:ext cx="5212080" cy="640080"/>
          </a:xfrm>
          <a:prstGeom prst="rect">
            <a:avLst/>
          </a:prstGeom>
          <a:noFill/>
          <a:ln/>
        </p:spPr>
        <p:txBody>
          <a:bodyPr wrap="square" lIns="635" tIns="635" rIns="635" bIns="635" rtlCol="0" anchor="ctr">
            <a:normAutofit/>
          </a:bodyPr>
          <a:lstStyle/>
          <a:p>
            <a:pPr algn="ctr" indent="0" marL="0">
              <a:buNone/>
            </a:pPr>
            <a:r>
              <a:rPr lang="en-US" sz="2000" b="1" dirty="0">
                <a:solidFill>
                  <a:srgbClr val="93C5FD"/>
                </a:solidFill>
                <a:latin typeface="Aptos" pitchFamily="34" charset="0"/>
                <a:ea typeface="Aptos" pitchFamily="34" charset="-122"/>
                <a:cs typeface="Aptos" pitchFamily="34" charset="-120"/>
              </a:rPr>
              <a:t>Globality → learnability</a:t>
            </a:r>
            <a:endParaRPr lang="en-US" sz="2000" dirty="0"/>
          </a:p>
          <a:p>
            <a:pPr algn="ctr" indent="0" marL="0">
              <a:buNone/>
            </a:pPr>
            <a:r>
              <a:rPr lang="en-US" sz="2000" b="1" dirty="0">
                <a:solidFill>
                  <a:srgbClr val="93C5FD"/>
                </a:solidFill>
                <a:latin typeface="Aptos" pitchFamily="34" charset="0"/>
                <a:ea typeface="Aptos" pitchFamily="34" charset="-122"/>
                <a:cs typeface="Aptos" pitchFamily="34" charset="-120"/>
              </a:rPr>
              <a:t>Induction → length generalization</a:t>
            </a:r>
            <a:endParaRPr lang="en-US" sz="2000" dirty="0"/>
          </a:p>
        </p:txBody>
      </p:sp>
      <p:sp>
        <p:nvSpPr>
          <p:cNvPr id="10" name="Text 8"/>
          <p:cNvSpPr/>
          <p:nvPr/>
        </p:nvSpPr>
        <p:spPr>
          <a:xfrm>
            <a:off x="1188720" y="6236208"/>
            <a:ext cx="9692640" cy="274320"/>
          </a:xfrm>
          <a:prstGeom prst="rect">
            <a:avLst/>
          </a:prstGeom>
          <a:noFill/>
          <a:ln/>
        </p:spPr>
        <p:txBody>
          <a:bodyPr wrap="square" lIns="635" tIns="635" rIns="635" bIns="635" rtlCol="0" anchor="ctr">
            <a:normAutofit/>
          </a:bodyPr>
          <a:lstStyle/>
          <a:p>
            <a:pPr algn="ctr" indent="0" marL="0">
              <a:buNone/>
            </a:pPr>
            <a:r>
              <a:rPr lang="en-US" sz="1100" dirty="0">
                <a:solidFill>
                  <a:srgbClr val="94A3B8"/>
                </a:solidFill>
                <a:latin typeface="Aptos" pitchFamily="34" charset="0"/>
                <a:ea typeface="Aptos" pitchFamily="34" charset="-122"/>
                <a:cs typeface="Aptos" pitchFamily="34" charset="-120"/>
              </a:rPr>
              <a:t>One limitation to remember: this is a theory of a stylized training regime, not yet a theory of modern LLM reasoning.</a:t>
            </a:r>
            <a:endParaRPr lang="en-US" sz="11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Far Can Transformers Reason? The Globality Barrier and Inductive Scratchpad</dc:title>
  <dc:subject>40-slide research presentation</dc:subject>
  <dc:creator>OpenAI</dc:creator>
  <cp:lastModifiedBy>OpenAI</cp:lastModifiedBy>
  <cp:revision>1</cp:revision>
  <dcterms:created xsi:type="dcterms:W3CDTF">2026-10-08T14:17:18Z</dcterms:created>
  <dcterms:modified xsi:type="dcterms:W3CDTF">2026-10-08T14:17:18Z</dcterms:modified>
</cp:coreProperties>
</file>