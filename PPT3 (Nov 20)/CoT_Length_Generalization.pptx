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D8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2823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Huang et al. — NeurIPS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515600" y="6428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0350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 × REASONING × LENGTH GENERALIZATION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Transformers Provably Learn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Chain-of-Thought Reasoning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3C5FD"/>
                </a:solidFill>
              </a:rPr>
              <a:t>with Length Generalization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13232" y="3337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</a:rPr>
              <a:t>Yu Huang · Zixin Wen · Aarti Singh · Yuejie Chi · Yuxin Chen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</a:rPr>
              <a:t>NeurIPS 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4160520"/>
            <a:ext cx="292608" cy="292608"/>
          </a:xfrm>
          <a:prstGeom prst="ellipse">
            <a:avLst/>
          </a:prstGeom>
          <a:solidFill>
            <a:srgbClr val="9FB3C8"/>
          </a:solidFill>
          <a:ln w="889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43216" y="4306824"/>
            <a:ext cx="310896" cy="0"/>
          </a:xfrm>
          <a:prstGeom prst="line">
            <a:avLst/>
          </a:prstGeom>
          <a:noFill/>
          <a:ln w="1778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90688" y="4160520"/>
            <a:ext cx="292608" cy="292608"/>
          </a:xfrm>
          <a:prstGeom prst="ellipse">
            <a:avLst/>
          </a:prstGeom>
          <a:solidFill>
            <a:srgbClr val="9FB3C8"/>
          </a:solidFill>
          <a:ln w="889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01584" y="4306824"/>
            <a:ext cx="310896" cy="0"/>
          </a:xfrm>
          <a:prstGeom prst="line">
            <a:avLst/>
          </a:prstGeom>
          <a:noFill/>
          <a:ln w="1778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49056" y="4160520"/>
            <a:ext cx="292608" cy="292608"/>
          </a:xfrm>
          <a:prstGeom prst="ellipse">
            <a:avLst/>
          </a:prstGeom>
          <a:solidFill>
            <a:srgbClr val="9FB3C8"/>
          </a:solidFill>
          <a:ln w="8890">
            <a:solidFill>
              <a:srgbClr val="9FB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9952" y="4306824"/>
            <a:ext cx="310896" cy="0"/>
          </a:xfrm>
          <a:prstGeom prst="line">
            <a:avLst/>
          </a:prstGeom>
          <a:noFill/>
          <a:ln w="1778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07424" y="4160520"/>
            <a:ext cx="292608" cy="292608"/>
          </a:xfrm>
          <a:prstGeom prst="ellipse">
            <a:avLst/>
          </a:prstGeom>
          <a:solidFill>
            <a:srgbClr val="9FB3C8"/>
          </a:solidFill>
          <a:ln w="8890">
            <a:solidFill>
              <a:srgbClr val="9FB3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4306824"/>
            <a:ext cx="310896" cy="0"/>
          </a:xfrm>
          <a:prstGeom prst="line">
            <a:avLst/>
          </a:prstGeom>
          <a:noFill/>
          <a:ln w="1778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65792" y="4160520"/>
            <a:ext cx="292608" cy="292608"/>
          </a:xfrm>
          <a:prstGeom prst="ellipse">
            <a:avLst/>
          </a:prstGeom>
          <a:solidFill>
            <a:srgbClr val="9FB3C8"/>
          </a:solidFill>
          <a:ln w="8890">
            <a:solidFill>
              <a:srgbClr val="9FB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short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23960" y="4910328"/>
            <a:ext cx="1188720" cy="0"/>
          </a:xfrm>
          <a:prstGeom prst="line">
            <a:avLst/>
          </a:prstGeom>
          <a:noFill/>
          <a:ln w="3175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4114800"/>
            <a:ext cx="201168" cy="201168"/>
          </a:xfrm>
          <a:prstGeom prst="ellipse">
            <a:avLst/>
          </a:prstGeom>
          <a:solidFill>
            <a:srgbClr val="93C5FD"/>
          </a:solidFill>
          <a:ln w="8890">
            <a:solidFill>
              <a:srgbClr val="93C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13848" y="4215384"/>
            <a:ext cx="64008" cy="0"/>
          </a:xfrm>
          <a:prstGeom prst="line">
            <a:avLst/>
          </a:prstGeom>
          <a:noFill/>
          <a:ln w="11430">
            <a:solidFill>
              <a:srgbClr val="6B7D9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05288" y="4114800"/>
            <a:ext cx="201168" cy="201168"/>
          </a:xfrm>
          <a:prstGeom prst="ellipse">
            <a:avLst/>
          </a:prstGeom>
          <a:solidFill>
            <a:srgbClr val="93C5FD"/>
          </a:solidFill>
          <a:ln w="8890">
            <a:solidFill>
              <a:srgbClr val="93C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06456" y="4215384"/>
            <a:ext cx="64008" cy="0"/>
          </a:xfrm>
          <a:prstGeom prst="line">
            <a:avLst/>
          </a:prstGeom>
          <a:noFill/>
          <a:ln w="11430">
            <a:solidFill>
              <a:srgbClr val="6B7D9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597896" y="4114800"/>
            <a:ext cx="201168" cy="201168"/>
          </a:xfrm>
          <a:prstGeom prst="ellipse">
            <a:avLst/>
          </a:prstGeom>
          <a:solidFill>
            <a:srgbClr val="6B7D92"/>
          </a:solidFill>
          <a:ln w="8890">
            <a:solidFill>
              <a:srgbClr val="6B7D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99064" y="4215384"/>
            <a:ext cx="64008" cy="0"/>
          </a:xfrm>
          <a:prstGeom prst="line">
            <a:avLst/>
          </a:prstGeom>
          <a:noFill/>
          <a:ln w="11430">
            <a:solidFill>
              <a:srgbClr val="6B7D9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890504" y="4114800"/>
            <a:ext cx="201168" cy="201168"/>
          </a:xfrm>
          <a:prstGeom prst="ellipse">
            <a:avLst/>
          </a:prstGeom>
          <a:solidFill>
            <a:srgbClr val="6B7D92"/>
          </a:solidFill>
          <a:ln w="8890">
            <a:solidFill>
              <a:srgbClr val="6B7D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91672" y="4215384"/>
            <a:ext cx="64008" cy="0"/>
          </a:xfrm>
          <a:prstGeom prst="line">
            <a:avLst/>
          </a:prstGeom>
          <a:noFill/>
          <a:ln w="11430">
            <a:solidFill>
              <a:srgbClr val="6B7D9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183112" y="4114800"/>
            <a:ext cx="201168" cy="201168"/>
          </a:xfrm>
          <a:prstGeom prst="ellipse">
            <a:avLst/>
          </a:prstGeom>
          <a:solidFill>
            <a:srgbClr val="6B7D92"/>
          </a:solidFill>
          <a:ln w="8890">
            <a:solidFill>
              <a:srgbClr val="6B7D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84280" y="4215384"/>
            <a:ext cx="64008" cy="0"/>
          </a:xfrm>
          <a:prstGeom prst="line">
            <a:avLst/>
          </a:prstGeom>
          <a:noFill/>
          <a:ln w="11430">
            <a:solidFill>
              <a:srgbClr val="6B7D9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1475720" y="4114800"/>
            <a:ext cx="201168" cy="201168"/>
          </a:xfrm>
          <a:prstGeom prst="ellipse">
            <a:avLst/>
          </a:prstGeom>
          <a:solidFill>
            <a:srgbClr val="6B7D92"/>
          </a:solidFill>
          <a:ln w="8890">
            <a:solidFill>
              <a:srgbClr val="6B7D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676888" y="4215384"/>
            <a:ext cx="64008" cy="0"/>
          </a:xfrm>
          <a:prstGeom prst="line">
            <a:avLst/>
          </a:prstGeom>
          <a:noFill/>
          <a:ln w="11430">
            <a:solidFill>
              <a:srgbClr val="6B7D9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1768328" y="4114800"/>
            <a:ext cx="201168" cy="201168"/>
          </a:xfrm>
          <a:prstGeom prst="ellipse">
            <a:avLst/>
          </a:prstGeom>
          <a:solidFill>
            <a:srgbClr val="6B7D92"/>
          </a:solidFill>
          <a:ln w="8890">
            <a:solidFill>
              <a:srgbClr val="6B7D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980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 longer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Paper: arXiv:2511.07378 / NeurIPS 2025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result that matters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234440"/>
            <a:ext cx="109728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one-layer, NoPE transformer trained by gradient descent can learn a genuine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reasoning procedure — and, for some task structures, extrapolate it far beyond the training length.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51560" y="34747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34838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“CAN REPRESENT IT”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77640" y="34747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41648" y="348386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ACTUALLY LEARN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3474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6B5CC5"/>
          </a:solidFill>
          <a:ln w="12700">
            <a:solidFill>
              <a:srgbClr val="6B5C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348386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GENERALIZE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closes a specific gap: expressivity says CoT can unlock serial computation; this paper shows gradient-based training can find such a solution under an analyzable setting.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Introduction; Theorems 4.1, 5.1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F766E"/>
                </a:solidFill>
              </a:rPr>
              <a:t>PRACTICAL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Why should anyone care about length generalization?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models are increasingly valuable because they can spend more inference-time compute. But that only helps if the learned procedure still works when the reasoning trace becomes longer.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0632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786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8775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CoT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30632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5786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58775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CoT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611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50–500 steps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2377440"/>
            <a:ext cx="30632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5786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2413C"/>
          </a:solidFill>
          <a:ln w="12700">
            <a:solidFill>
              <a:srgbClr val="C24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258775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rot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611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dilutes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3383280"/>
            <a:ext cx="594360" cy="0"/>
          </a:xfrm>
          <a:prstGeom prst="line">
            <a:avLst/>
          </a:prstGeom>
          <a:noFill/>
          <a:ln w="3175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3383280"/>
            <a:ext cx="594360" cy="0"/>
          </a:xfrm>
          <a:prstGeom prst="line">
            <a:avLst/>
          </a:prstGeom>
          <a:noFill/>
          <a:ln w="3175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97280" y="4983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theorem turns “maybe it extrapolates” into a structural statement about when attention remains robust.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Introduction §§1–1.2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same architecture can behave in two radically different ways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280160" y="5074920"/>
            <a:ext cx="452628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554480"/>
            <a:ext cx="0" cy="352044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5074920"/>
            <a:ext cx="452628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5001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0160" y="4194810"/>
            <a:ext cx="452628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12165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3314700"/>
            <a:ext cx="452628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2415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0160" y="2434590"/>
            <a:ext cx="452628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36143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0160" y="1554480"/>
            <a:ext cx="452628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4813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80160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5148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45945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11730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7138" y="5148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7515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3300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8708" y="5148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09085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4870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0278" y="5148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40655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507492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5148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80160" y="1554480"/>
            <a:ext cx="565785" cy="35204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45945" y="1589684"/>
            <a:ext cx="56578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11730" y="1589684"/>
            <a:ext cx="56578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7515" y="1589684"/>
            <a:ext cx="56578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43300" y="1589684"/>
            <a:ext cx="56578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09085" y="1589684"/>
            <a:ext cx="56578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4870" y="1589684"/>
            <a:ext cx="565785" cy="35204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40655" y="1624889"/>
            <a:ext cx="565785" cy="35204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29868" y="1504188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95653" y="1539392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1438" y="1539392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7223" y="1539392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93008" y="1539392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58793" y="1539392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24578" y="1539392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90363" y="1574597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56148" y="1609801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80160" y="1554480"/>
            <a:ext cx="565785" cy="35204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45945" y="1589684"/>
            <a:ext cx="565785" cy="598475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11730" y="2188159"/>
            <a:ext cx="565785" cy="950519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77515" y="3138678"/>
            <a:ext cx="565785" cy="668884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43300" y="3807562"/>
            <a:ext cx="565785" cy="563270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09085" y="4370832"/>
            <a:ext cx="565785" cy="246431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74870" y="4617263"/>
            <a:ext cx="565785" cy="140818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40655" y="4758080"/>
            <a:ext cx="565785" cy="70409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29868" y="1504188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95653" y="1539392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61438" y="2137867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27223" y="3088386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93008" y="3757270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58793" y="4320540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24578" y="4566971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90363" y="4707788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56148" y="4778197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11780" y="5303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6384" y="1508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794760" y="1572768"/>
            <a:ext cx="91440" cy="91440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59352" y="15453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C6: simply transitive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94760" y="1828800"/>
            <a:ext cx="91440" cy="91440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59352" y="18013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S5: symmetry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00800" y="1417320"/>
            <a:ext cx="498348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20840" y="1691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84848" y="170078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THEOREM-LEVEL DIFFERENCE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720840" y="2240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</a:t>
            </a:r>
            <a:endParaRPr lang="en-US" sz="2800" dirty="0"/>
          </a:p>
        </p:txBody>
      </p:sp>
      <p:sp>
        <p:nvSpPr>
          <p:cNvPr id="73" name="Text 71"/>
          <p:cNvSpPr/>
          <p:nvPr/>
        </p:nvSpPr>
        <p:spPr>
          <a:xfrm>
            <a:off x="7635240" y="2194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short → long extrapolation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O(d^{c*})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6720840" y="3246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</a:t>
            </a:r>
            <a:endParaRPr lang="en-US" sz="2800" dirty="0"/>
          </a:p>
        </p:txBody>
      </p:sp>
      <p:sp>
        <p:nvSpPr>
          <p:cNvPr id="75" name="Text 73"/>
          <p:cNvSpPr/>
          <p:nvPr/>
        </p:nvSpPr>
        <p:spPr>
          <a:xfrm>
            <a:off x="763524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constant-factor extrapolation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one training length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672084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did not change. The task geometry did.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Fig. 1a; Theorem 4.1 vs. Theorem 5.1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Three claims — and they are not the same claim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08760"/>
            <a:ext cx="475488" cy="475488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361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 finds a CoT solution, not merely an expressive one.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08760"/>
            <a:ext cx="475488" cy="475488"/>
          </a:xfrm>
          <a:prstGeom prst="ellipse">
            <a:avLst/>
          </a:prstGeom>
          <a:solidFill>
            <a:srgbClr val="6B5CC5"/>
          </a:solidFill>
          <a:ln w="8890">
            <a:solidFill>
              <a:srgbClr val="6B5C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361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6B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algebraic action structure controls how far the learned policy extrapolates.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508760"/>
            <a:ext cx="475488" cy="475488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3619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SELF-IMPROVEMENT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651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direct extrapolation is weak, recursive self-training doubles the solvable length.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narrative is therefore: learn a procedure → understand its retrieval mechanism → extend it when the mechanism is too weak.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Main contributions, §1.1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Where this result sits conceptually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8356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544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5636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/ expressivity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1880" y="15087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transformer compute the task?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15087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TC^0 → NC^1 with CoT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108356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146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5237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/ trainability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468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GD actually find that computation?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4688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paper: yes, in LEGO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108356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47472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6B5CC5"/>
          </a:solidFill>
          <a:ln w="12700">
            <a:solidFill>
              <a:srgbClr val="6B5C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48386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3429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learned computation survive longer traces?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34290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Depends on group action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108356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4348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4439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/ theory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1880" y="4389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theorem vs evidence?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4389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guarantees + synthetic experiments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5394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classification: optimization + generalization, with a computational-complexity payoff.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Interpretation of the paper’s contribution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3C5FD"/>
                </a:solidFill>
              </a:rPr>
              <a:t>07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58368" y="1965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gap in prior theory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</a:rPr>
              <a:t>A clean way to frame the adjacent literature: “can compute” ≠ “can learn.”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Prior expressivity work already knew what CoT buys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Constant-depth transformers without a scratchpad are tied to shallow circuit classes; adding intermediate steps enables inherently serial computation.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29260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42316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24323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TC^0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shallow, highly parallel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3246120"/>
            <a:ext cx="73152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24231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43230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O(L)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148840"/>
            <a:ext cx="29260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4231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B5CC5"/>
          </a:solidFill>
          <a:ln w="12700">
            <a:solidFill>
              <a:srgbClr val="6B5C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24323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3063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NC^1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computation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23960" y="2148840"/>
            <a:ext cx="2377440" cy="2194560"/>
          </a:xfrm>
          <a:prstGeom prst="roundRect">
            <a:avLst>
              <a:gd name="adj" fmla="val 5833"/>
            </a:avLst>
          </a:prstGeom>
          <a:solidFill>
            <a:srgbClr val="EEF7F5"/>
          </a:solidFill>
          <a:ln w="10160">
            <a:solidFill>
              <a:srgbClr val="C9E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9992" y="24231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4323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5256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 learns it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5256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generalize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Li et al. ICLR 2024; Merrill &amp; Sabharwal 2023; Huang et al.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Three adjacent results — three different bottlenecks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07899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3560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4447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3807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 expands computation depth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95160" y="1380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 et al.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0" y="13807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be represented?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7899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8529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2413C"/>
          </a:solidFill>
          <a:ln w="12700">
            <a:solidFill>
              <a:srgbClr val="C24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8620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Globality barrier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79806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targets are hard to learn from scratch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Abbe et al.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27980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weak learning find the rule?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107899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2702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27939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Self-improvement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42153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Iterative self-training can extend OOD skill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95160" y="42153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et al. 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42153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training bootstrap harder cases?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Huang et al. combine the questions: a trainable mechanism, a theorem about extrapolation, and a recursive route around failure.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Related work §§1–2; Abbe et al. NeurIPS 2024; Lee et al. ICML 2025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paper’s key simplification: every reasoning step is “retrieve, then apply”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457200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554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56362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— RETRIEVE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2240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action g_(ℓ+1)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the current state y_ℓ.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3246120"/>
            <a:ext cx="3566160" cy="640080"/>
          </a:xfrm>
          <a:prstGeom prst="roundRect">
            <a:avLst>
              <a:gd name="adj" fmla="val 20000"/>
            </a:avLst>
          </a:prstGeom>
          <a:solidFill>
            <a:srgbClr val="F0F5F4"/>
          </a:solidFill>
          <a:ln w="10160">
            <a:solidFill>
              <a:srgbClr val="CAE3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clause:  x_(ℓ+1) = g_(ℓ+1)(x_ℓ)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4069080"/>
            <a:ext cx="3566160" cy="640080"/>
          </a:xfrm>
          <a:prstGeom prst="roundRect">
            <a:avLst>
              <a:gd name="adj" fmla="val 20000"/>
            </a:avLst>
          </a:prstGeom>
          <a:solidFill>
            <a:srgbClr val="F7F3EA"/>
          </a:solidFill>
          <a:ln w="10160">
            <a:solidFill>
              <a:srgbClr val="EAD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4224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clause:    x_ℓ = y_ℓ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32120" y="3063240"/>
            <a:ext cx="1097280" cy="0"/>
          </a:xfrm>
          <a:prstGeom prst="line">
            <a:avLst/>
          </a:prstGeom>
          <a:noFill/>
          <a:ln w="3810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1234440"/>
            <a:ext cx="443484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5544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563624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— APPLY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2240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next state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y_(ℓ+1) = g_(ℓ+1)(y_ℓ).</a:t>
            </a:r>
            <a:endParaRPr lang="en-US" sz="2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0" y="3429000"/>
            <a:ext cx="2834640" cy="594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6948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= routing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FFN = local update rule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Figure 3; §6 proof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LEGO: the synthetic problem that makes the mechanism analyzable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LEGO sentence is a chain of symbolic transformations with explicit intermediate answers.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" y="2057400"/>
            <a:ext cx="585216" cy="585216"/>
          </a:xfrm>
          <a:prstGeom prst="ellipse">
            <a:avLst/>
          </a:prstGeom>
          <a:solidFill>
            <a:srgbClr val="243B53"/>
          </a:solidFill>
          <a:ln w="889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8541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82496" y="2221992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46504" y="22311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36776" y="2350008"/>
            <a:ext cx="126187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2057400"/>
            <a:ext cx="585216" cy="585216"/>
          </a:xfrm>
          <a:prstGeom prst="ellipse">
            <a:avLst/>
          </a:prstGeom>
          <a:solidFill>
            <a:srgbClr val="D8E1EA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18541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85616" y="2221992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22311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9896" y="2350008"/>
            <a:ext cx="126187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2057400"/>
            <a:ext cx="585216" cy="585216"/>
          </a:xfrm>
          <a:prstGeom prst="ellipse">
            <a:avLst/>
          </a:prstGeom>
          <a:solidFill>
            <a:srgbClr val="D8E1EA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18541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888736" y="2221992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2744" y="22311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43016" y="2350008"/>
            <a:ext cx="126187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2057400"/>
            <a:ext cx="585216" cy="585216"/>
          </a:xfrm>
          <a:prstGeom prst="ellipse">
            <a:avLst/>
          </a:prstGeom>
          <a:solidFill>
            <a:srgbClr val="D8E1EA"/>
          </a:solidFill>
          <a:ln w="889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18541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400" y="3063240"/>
            <a:ext cx="98755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310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clauses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23697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 = g1(x0)   ·   x2 = g2(x1)   ·   x3 = g3(x2)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4400" y="4389120"/>
            <a:ext cx="98755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636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clauses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5628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x0 = y0   ·   x1 = y1   ·   x2 = y2   ·   x3 = ?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574243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model’s job is to emit each missing answer clause one step at a time.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Definition 2.2; §3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data-generating process is intentionally controlled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1188720"/>
            <a:ext cx="475488" cy="475488"/>
          </a:xfrm>
          <a:prstGeom prst="ellipse">
            <a:avLst/>
          </a:prstGeom>
          <a:solidFill>
            <a:srgbClr val="243B53"/>
          </a:solidFill>
          <a:ln w="8890">
            <a:solidFill>
              <a:srgbClr val="243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801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0020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29000" y="118872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x0…xL sampled uniformly without replacement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475488" cy="475488"/>
          </a:xfrm>
          <a:prstGeom prst="ellipse">
            <a:avLst/>
          </a:prstGeom>
          <a:solidFill>
            <a:srgbClr val="243B53"/>
          </a:solidFill>
          <a:ln w="8890">
            <a:solidFill>
              <a:srgbClr val="243B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0" y="224028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y0 sampled uniformly from 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475488" cy="475488"/>
          </a:xfrm>
          <a:prstGeom prst="ellipse">
            <a:avLst/>
          </a:prstGeom>
          <a:solidFill>
            <a:srgbClr val="243B53"/>
          </a:solidFill>
          <a:ln w="8890">
            <a:solidFill>
              <a:srgbClr val="243B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8328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2918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g1…gL sampled uniformly from 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75488" cy="475488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348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343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evolution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29000" y="4343400"/>
            <a:ext cx="6995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 = gi(yi-1) recursively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00200" y="5440680"/>
            <a:ext cx="8778240" cy="502920"/>
          </a:xfrm>
          <a:prstGeom prst="roundRect">
            <a:avLst>
              <a:gd name="adj" fmla="val 25455"/>
            </a:avLst>
          </a:prstGeom>
          <a:solidFill>
            <a:srgbClr val="EEF7F5"/>
          </a:solidFill>
          <a:ln w="10160">
            <a:solidFill>
              <a:srgbClr val="CAE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5559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theorem about reasoning structure — not about messy natural-language statistics.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Assumption 3.2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What counts as “solving” the reasoning problem?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325880"/>
            <a:ext cx="10424160" cy="960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2651760"/>
            <a:ext cx="48006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4440" y="29260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98448" y="293522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TEACHER-FORCED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34440" y="3520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answer steps are ground truth.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analyzing optimization.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2651760"/>
            <a:ext cx="48006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0840" y="2926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293522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AUTOREGRESSIVE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20840" y="3520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generates its own CoT.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can accumulate.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distinction matters: the experiments use the harder autoregressive final-answer criterion.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Definitions 3.6–3.7; §7 evaluation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learner: one decoder block, NoPE, softmax attention + FFN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600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2768" y="160934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2331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5-token clauses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 sequence of clauses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positional encoding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2926080"/>
            <a:ext cx="96012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09160" y="1234440"/>
            <a:ext cx="2834640" cy="35661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600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160934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331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over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similarity</a:t>
            </a:r>
            <a:endParaRPr lang="en-US" sz="1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3480" y="3246120"/>
            <a:ext cx="2286000" cy="5669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635240" y="2926080"/>
            <a:ext cx="941832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732520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46920" y="16002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10928" y="1609344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position-wise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0" y="3154680"/>
            <a:ext cx="233172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Definition 3.5; Assumptions 3.3–3.5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Training is ordinary gradient descent on next-clause cross-entropy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143000"/>
            <a:ext cx="10789920" cy="868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2514600"/>
            <a:ext cx="46634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4440" y="2788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98448" y="279806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3444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Q; learn W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one-step reasoning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2514600"/>
            <a:ext cx="46634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788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279806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9224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W; learn Q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9224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two-step retrieval / extension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staged curriculum is part of the theorem — it is not just an implementation detail.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Definition 3.7; Algorithms 1–2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assumptions carrying the proof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12471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13385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NoPE + one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051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content-based retrieval is length-invariant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99339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0253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Orthogonal embeddings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signal geometry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86207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87121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Q(0)=0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initial attention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73075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3989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657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 clipping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6576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rare large deviations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4599432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60857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4526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Block-sparse Q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45262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Q4,3 and Q4,4 are learned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5486400"/>
            <a:ext cx="9966960" cy="566928"/>
          </a:xfrm>
          <a:prstGeom prst="roundRect">
            <a:avLst>
              <a:gd name="adj" fmla="val 22581"/>
            </a:avLst>
          </a:prstGeom>
          <a:solidFill>
            <a:srgbClr val="FFF7ED"/>
          </a:solidFill>
          <a:ln w="10160">
            <a:solidFill>
              <a:srgbClr val="F1D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6052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important: the theorem is a statement about a carefully structured learner, not a generic off-the-shelf LLM.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Assumptions 3.1–3.5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How close is this to a modern transformer?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09728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161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attention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54680" y="121615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18688" y="12252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core attention mechanism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56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Autoregressive decoder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185623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86537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causal next-token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37744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963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FFN after attention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249631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25054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block role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1752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positional encoding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54680" y="313639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314553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deliberate length-generalization choice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76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layer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54680" y="377647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378561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74904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tractability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29768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4165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Block-sparse Q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5468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442569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438912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tractability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93776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E1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0566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symbolic data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154680" y="50566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506577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502920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isolates reasoning mechanism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57150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interpretation: a mechanistic theorem about a transformer “core,” not a fidelity claim about GPT- or R1-scale systems.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Definition 3.5; Discussion §8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3C5FD"/>
                </a:solidFill>
              </a:rPr>
              <a:t>18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58368" y="1965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Two algebraic worlds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</a:rPr>
              <a:t>The paper’s central control knob is not model size. It is the structure of the group action.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Simply transitive action: one state transition has one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any pair (y, y′), exactly one group element g maps y → y′.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43000" y="2057400"/>
            <a:ext cx="548640" cy="548640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548640" cy="548640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57800" y="2057400"/>
            <a:ext cx="548640" cy="548640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0" y="2057400"/>
            <a:ext cx="548640" cy="548640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72600" y="2057400"/>
            <a:ext cx="548640" cy="548640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737360" y="2331720"/>
            <a:ext cx="1051560" cy="0"/>
          </a:xfrm>
          <a:prstGeom prst="line">
            <a:avLst/>
          </a:prstGeom>
          <a:noFill/>
          <a:ln w="304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2331720"/>
            <a:ext cx="1051560" cy="0"/>
          </a:xfrm>
          <a:prstGeom prst="line">
            <a:avLst/>
          </a:prstGeom>
          <a:noFill/>
          <a:ln w="304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11680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65506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65506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g′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383280"/>
            <a:ext cx="9966960" cy="1325880"/>
          </a:xfrm>
          <a:prstGeom prst="roundRect">
            <a:avLst>
              <a:gd name="adj" fmla="val 9655"/>
            </a:avLst>
          </a:prstGeom>
          <a:solidFill>
            <a:srgbClr val="EEF7F5"/>
          </a:solidFill>
          <a:ln w="10160">
            <a:solidFill>
              <a:srgbClr val="C8E1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7033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can key on the shared variable and retrieve a very clean target clause.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distractors → sharper attention → more robustness as the context grows.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Assumption 4.1; §4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Symmetry action: many explanations can map the same state pair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S_n acting on Y, many different permutations send i to j — so the correct clause is not uniquely identifiable by the state pair.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42416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788920"/>
            <a:ext cx="502920" cy="502920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898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7360" y="3044952"/>
            <a:ext cx="118872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788920"/>
            <a:ext cx="502920" cy="502920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898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2578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5877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578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25877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578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5877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2578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25877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95360" y="2578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9368" y="2587752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337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valid actions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8463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are “distractors” for attention: they do not change the answer, but they still consume probability mass.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Assumption 5.1; §5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Mechanism: attention concentration is the bridge from algebra to generalization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1417320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7904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65376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2848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7792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0208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41732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764792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" y="1764792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7904" y="1764792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5376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2848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07792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55264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02736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50208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176479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0432" y="2112264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17904" y="2112264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65376" y="2112264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12848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7792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55264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02736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50208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152" y="211226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0432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17904" y="2459736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5376" y="2459736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12848" y="2459736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7792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55264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02736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50208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97680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45152" y="245973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0432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17904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65376" y="2807208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12848" y="2807208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0" y="2807208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07792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55264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02736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50208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97680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45152" y="280720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960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70432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17904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65376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12848" y="3154680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60320" y="3154680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07792" y="3154680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55264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02736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50208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97680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45152" y="315468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0432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17904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65376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12848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60320" y="3502152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07792" y="3502152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55264" y="3502152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02736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50208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97680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45152" y="350215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2960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70432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517904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865376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212848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60320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07792" y="3849624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55264" y="3849624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02736" y="3849624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50208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97680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645152" y="3849624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70432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517904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865376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12848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60320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07792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255264" y="4197096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02736" y="4197096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950208" y="4197096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97680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645152" y="4197096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2960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70432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17904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65376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212848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560320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907792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255264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602736" y="4544568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50208" y="4544568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97680" y="4544568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45152" y="4544568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22960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70432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517904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865376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212848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560320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907792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255264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602736" y="4892040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950208" y="4892040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297680" y="4892040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45152" y="4892040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2960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70432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517904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865376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12848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60320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07792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255264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02736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950208" y="5239512"/>
            <a:ext cx="338328" cy="338328"/>
          </a:xfrm>
          <a:prstGeom prst="rect">
            <a:avLst/>
          </a:prstGeom>
          <a:solidFill>
            <a:srgbClr val="E9EFF2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97680" y="5239512"/>
            <a:ext cx="338328" cy="338328"/>
          </a:xfrm>
          <a:prstGeom prst="rect">
            <a:avLst/>
          </a:prstGeom>
          <a:solidFill>
            <a:srgbClr val="9AD3C9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45152" y="5239512"/>
            <a:ext cx="338328" cy="338328"/>
          </a:xfrm>
          <a:prstGeom prst="rect">
            <a:avLst/>
          </a:prstGeom>
          <a:solidFill>
            <a:srgbClr val="0F766E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7724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clauses</a:t>
            </a:r>
            <a:endParaRPr lang="en-US" sz="1100" dirty="0"/>
          </a:p>
        </p:txBody>
      </p:sp>
      <p:sp>
        <p:nvSpPr>
          <p:cNvPr id="148" name="Text 146"/>
          <p:cNvSpPr/>
          <p:nvPr/>
        </p:nvSpPr>
        <p:spPr>
          <a:xfrm>
            <a:off x="155448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context clauses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5669280" y="1508760"/>
            <a:ext cx="51663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989320" y="178308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053328" y="179222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6903720" y="1764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 concentration survives dilution</a:t>
            </a:r>
            <a:endParaRPr lang="en-US" sz="1800" dirty="0"/>
          </a:p>
        </p:txBody>
      </p:sp>
      <p:sp>
        <p:nvSpPr>
          <p:cNvPr id="153" name="Shape 151"/>
          <p:cNvSpPr/>
          <p:nvPr/>
        </p:nvSpPr>
        <p:spPr>
          <a:xfrm>
            <a:off x="5669280" y="3246120"/>
            <a:ext cx="51663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989320" y="35204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53328" y="352958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6903720" y="350215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distractors dilute the correct predicate attention</a:t>
            </a:r>
            <a:endParaRPr lang="en-US" sz="1800" dirty="0"/>
          </a:p>
        </p:txBody>
      </p:sp>
      <p:sp>
        <p:nvSpPr>
          <p:cNvPr id="157" name="Text 155"/>
          <p:cNvSpPr/>
          <p:nvPr/>
        </p:nvSpPr>
        <p:spPr>
          <a:xfrm>
            <a:off x="594360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is therefore a retrieval-robustness problem.</a:t>
            </a:r>
            <a:endParaRPr lang="en-US" sz="1800" dirty="0"/>
          </a:p>
        </p:txBody>
      </p:sp>
      <p:sp>
        <p:nvSpPr>
          <p:cNvPr id="158" name="Text 156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Theorem 4.1 / 5.1; Fig.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Theorem 1.1: gradient descent can learn CoT reasoning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899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Informal theorem: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3258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one-layer transformer trained by GD can learn to solve state-tracking for both simply transitive and symmetry actions via CoT.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2461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0175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302666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new?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guarantee, not only representation.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32461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0175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6B5CC5"/>
          </a:solidFill>
          <a:ln w="12700">
            <a:solidFill>
              <a:srgbClr val="6B5C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302666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Symmetry state-tracking is NC^1-complete.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2743200"/>
            <a:ext cx="324612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30175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302666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 NOT say?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6676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theorem about arbitrary LLM training.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theorem is the learnability half of the paper’s contribution; the next theorem controls how far that learned policy travels.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Theorem 1.1; §4–5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Theorem 4.1 — direct length generalization under simple actions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097280"/>
            <a:ext cx="1088136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83080" y="1371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3.1–3.5 + simply transitive action;  n_y &lt; m &lt;&lt; log^2 d;  0 &lt; c* &lt; 1;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83080" y="1828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train Algorithm 1 with η = 1/poly(d),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 = Õ(d /(η σ0^{q-2}))   and   T2 = Õ(poly(d)/(η σ0)).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926080"/>
            <a:ext cx="9875520" cy="82296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3977640"/>
            <a:ext cx="9875520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983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Quantifier punchline: train on constant-length tasks; still solve all lengths up to a polynomial-in-d horizon.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Theorem 4.1, p. 11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What Theorem 4.1 is really saying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28016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57276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58191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HORIZON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/ short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theorem does not require scaling training length with 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7276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58191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SOLVABLE TEST HORIZON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O(d^{c*})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polynomially larger range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128016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7276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6B5CC5"/>
          </a:solidFill>
          <a:ln w="12700">
            <a:solidFill>
              <a:srgbClr val="6B5C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58191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B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1/poly(d)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36676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vanishing in the asymptotic regime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074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theorem does not promise infinite extrapolation. It ties the horizon to the attention concentration the optimizer can create.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Interpretation of Theorem 4.1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Proof strategy: separate “learn the rule” from “learn where to look”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2976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1600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12848" y="160934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W (FFN)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one-step data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update: y1 = g1(y0)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57800" y="2834640"/>
            <a:ext cx="13716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0" y="1280160"/>
            <a:ext cx="42976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600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60934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6948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Q (attention)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two-step data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26948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g_(ℓ+1) and y_ℓ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16636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decomposition makes the gradient dynamics tractable and mirrors the computational division of labor.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§6, Algorithms 1–2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Proof mechanism A: the FFN learns the one-step update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one-step task, there are no irrelevant clauses. Uniform attention is enough.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6576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21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7614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   +   y0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800600" y="2880360"/>
            <a:ext cx="13258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55080" y="1828800"/>
            <a:ext cx="44805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mapping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2761488"/>
            <a:ext cx="356616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45262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idea: the gradient is dominated by “correct” feature correlations while off-diagonal/spurious correlations stay small.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§6.1.2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Proof mechanism B: diagonal gradients create variable retrieval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315468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810512"/>
            <a:ext cx="411480" cy="411480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variable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positive update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1508760"/>
            <a:ext cx="315468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810512"/>
            <a:ext cx="411480" cy="411480"/>
          </a:xfrm>
          <a:prstGeom prst="ellipse">
            <a:avLst/>
          </a:prstGeom>
          <a:solidFill>
            <a:srgbClr val="C2413C"/>
          </a:solidFill>
          <a:ln w="8890">
            <a:solidFill>
              <a:srgbClr val="C24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variable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/ negligible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15468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810512"/>
            <a:ext cx="411480" cy="411480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action/value token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/ negligible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4343400"/>
            <a:ext cx="2743200" cy="5669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86200" y="4416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dominates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040" y="4343400"/>
            <a:ext cx="2926080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09560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50392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x_(ℓ+1)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the answer clause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§6.1.1; Lemmas in Appendix 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Proof mechanism C: Q learns two attention blocks for two clause types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" y="1508760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63624" y="1508760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1508760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87752" y="1508760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99816" y="1508760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20824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3624" y="2020824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2020824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2020824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9816" y="2020824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532888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63624" y="2532888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2532888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87752" y="2532888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9816" y="2532888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044952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63624" y="3044952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5688" y="3044952"/>
            <a:ext cx="475488" cy="475488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7752" y="3044952"/>
            <a:ext cx="475488" cy="475488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99816" y="3044952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3557016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63624" y="3557016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5688" y="3557016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3557016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9816" y="3557016"/>
            <a:ext cx="475488" cy="475488"/>
          </a:xfrm>
          <a:prstGeom prst="rect">
            <a:avLst/>
          </a:prstGeom>
          <a:solidFill>
            <a:srgbClr val="E6EA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5×5 blocks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640080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7373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174650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Q4,3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17190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relevant predicate clause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29200" y="2560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256946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Q4,4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5420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the current answer/state clause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29200" y="3429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technical challenge is not only growing these blocks — it is keeping the right balance between them as the context grows.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Assumption 3.5; §6.2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Proof mechanism D: direct generalization is a concentration-vs-dilution inequality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457200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7373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17465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ON SHORT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3063240"/>
            <a:ext cx="219456" cy="219456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9928" y="3063240"/>
            <a:ext cx="219456" cy="219456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3063240"/>
            <a:ext cx="219456" cy="219456"/>
          </a:xfrm>
          <a:prstGeom prst="ellipse">
            <a:avLst/>
          </a:prstGeom>
          <a:solidFill>
            <a:srgbClr val="DCE5EA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24" y="3063240"/>
            <a:ext cx="219456" cy="219456"/>
          </a:xfrm>
          <a:prstGeom prst="ellipse">
            <a:avLst/>
          </a:prstGeom>
          <a:solidFill>
            <a:srgbClr val="DCE5EA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3063240"/>
            <a:ext cx="219456" cy="219456"/>
          </a:xfrm>
          <a:prstGeom prst="ellipse">
            <a:avLst/>
          </a:prstGeom>
          <a:solidFill>
            <a:srgbClr val="DCE5EA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3063240"/>
            <a:ext cx="219456" cy="219456"/>
          </a:xfrm>
          <a:prstGeom prst="ellipse">
            <a:avLst/>
          </a:prstGeom>
          <a:solidFill>
            <a:srgbClr val="DCE5EA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3063240"/>
            <a:ext cx="219456" cy="219456"/>
          </a:xfrm>
          <a:prstGeom prst="ellipse">
            <a:avLst/>
          </a:prstGeom>
          <a:solidFill>
            <a:srgbClr val="DCE5EA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14216" y="3063240"/>
            <a:ext cx="219456" cy="219456"/>
          </a:xfrm>
          <a:prstGeom prst="ellipse">
            <a:avLst/>
          </a:prstGeom>
          <a:solidFill>
            <a:srgbClr val="DCE5EA"/>
          </a:solidFill>
          <a:ln w="8890">
            <a:solidFill>
              <a:srgbClr val="DC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strong targets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few distractors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32120" y="3063240"/>
            <a:ext cx="10058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0840" y="1417320"/>
            <a:ext cx="457200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73736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174650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ON LONG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6948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strong target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3063240"/>
            <a:ext cx="182880" cy="182880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12680" y="3063240"/>
            <a:ext cx="182880" cy="182880"/>
          </a:xfrm>
          <a:prstGeom prst="ellipse">
            <a:avLst/>
          </a:prstGeom>
          <a:solidFill>
            <a:srgbClr val="D8E0E7"/>
          </a:solidFill>
          <a:ln w="8890">
            <a:solidFill>
              <a:srgbClr val="D8E0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distractors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attention dilution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05840" y="53492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C6, the learned concentration is sharp enough that dilution stays below the theorem’s error budget.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Theorem 4.1; §6.2.1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Theorem 5.1 — symmetry is rescued by recursive self-training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078992"/>
            <a:ext cx="1088136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371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133502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3.1–3.5 + symmetry action; n_y &lt; m &lt;&lt; log^2 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90195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stage k, train on length L_k = 2^k and obtain F^(T_k). Then: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487168"/>
            <a:ext cx="9966960" cy="82296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474720"/>
            <a:ext cx="9966960" cy="768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6817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after K = Θ(log d) rounds, every feasible length L ≤ |X| = Θ(d) is solvable.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Theorem 5.1; Corollary 5.1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Recursive self-training: the model becomes its own teacher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2402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5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51560" y="2788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truth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08960" y="2926080"/>
            <a:ext cx="41148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11880" y="1828800"/>
            <a:ext cx="22402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10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840480" y="2788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self-label from 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97880" y="2926080"/>
            <a:ext cx="41148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1828800"/>
            <a:ext cx="22402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D9C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20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6629400" y="2788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self-label from 10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0" y="2926080"/>
            <a:ext cx="41148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1828800"/>
            <a:ext cx="22402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40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418320" y="2788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self-label from 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8920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stage only needs to bridge one constant factor — then the next stage inherits that longer reasoning trace.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Algorithm 2; §5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Why doubling works even when one-shot extrapolation fails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6276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4168" y="163677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 AT LENGTH 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imperfect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concentrated enough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can still cross L → 2L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0" y="2880360"/>
            <a:ext cx="914400" cy="0"/>
          </a:xfrm>
          <a:prstGeom prst="line">
            <a:avLst/>
          </a:prstGeom>
          <a:noFill/>
          <a:ln w="3810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0" y="1325880"/>
            <a:ext cx="45720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6276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63677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RETRAIN AT 2L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data teaches the model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correct predicate sits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3456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K times → L grows exponentially in 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paper’s theorem-level version of “self-improvement.”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Theorem 5.1 proof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Corollary 5.1: self-training reaches the maximal feasible chain length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143000"/>
            <a:ext cx="10515600" cy="1005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2651760"/>
            <a:ext cx="18288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15768" y="3200400"/>
            <a:ext cx="301752" cy="0"/>
          </a:xfrm>
          <a:prstGeom prst="line">
            <a:avLst/>
          </a:prstGeom>
          <a:noFill/>
          <a:ln w="2540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063240" y="2651760"/>
            <a:ext cx="18288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10328" y="3200400"/>
            <a:ext cx="301752" cy="0"/>
          </a:xfrm>
          <a:prstGeom prst="line">
            <a:avLst/>
          </a:prstGeom>
          <a:noFill/>
          <a:ln w="2540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257800" y="2651760"/>
            <a:ext cx="18288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04888" y="3200400"/>
            <a:ext cx="301752" cy="0"/>
          </a:xfrm>
          <a:prstGeom prst="line">
            <a:avLst/>
          </a:prstGeom>
          <a:noFill/>
          <a:ln w="2540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452360" y="2651760"/>
            <a:ext cx="18288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299448" y="3200400"/>
            <a:ext cx="301752" cy="0"/>
          </a:xfrm>
          <a:prstGeom prst="line">
            <a:avLst/>
          </a:prstGeom>
          <a:noFill/>
          <a:ln w="25400">
            <a:solidFill>
              <a:srgbClr val="243B5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646920" y="2651760"/>
            <a:ext cx="1828800" cy="1097280"/>
          </a:xfrm>
          <a:prstGeom prst="roundRect">
            <a:avLst>
              <a:gd name="adj" fmla="val 11667"/>
            </a:avLst>
          </a:prstGeom>
          <a:solidFill>
            <a:srgbClr val="EEF7F5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Θ(d)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44348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meaningful: the longest possible chain in the synthetic world scales with |X|, so the theorem reaches the natural ceiling of the setting.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828800" y="5303520"/>
            <a:ext cx="8503920" cy="566928"/>
          </a:xfrm>
          <a:prstGeom prst="roundRect">
            <a:avLst>
              <a:gd name="adj" fmla="val 22581"/>
            </a:avLst>
          </a:prstGeom>
          <a:solidFill>
            <a:srgbClr val="FFF7ED"/>
          </a:solidFill>
          <a:ln w="10160">
            <a:solidFill>
              <a:srgbClr val="F1D3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65960" y="5422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still a controlled synthetic theorem — but it is a strong theorem about recursive capability growth.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Corollary 5.1; §5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computational-complexity payoff: beyond TC^0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0632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17830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47088" y="179222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TC^0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constant-depth, parallel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2606040"/>
            <a:ext cx="10972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1508760"/>
            <a:ext cx="30632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7830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79222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NC^1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reasoning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32520" y="1508760"/>
            <a:ext cx="2148840" cy="2194560"/>
          </a:xfrm>
          <a:prstGeom prst="roundRect">
            <a:avLst>
              <a:gd name="adj" fmla="val 5957"/>
            </a:avLst>
          </a:prstGeom>
          <a:solidFill>
            <a:srgbClr val="F7F3EA"/>
          </a:solidFill>
          <a:ln w="10160">
            <a:solidFill>
              <a:srgbClr val="EAD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97696" y="17830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1704" y="17922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24688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0" y="3063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significance is not “transformers are suddenly magical.” It is that the optimization theory now matches a prior expressivity story.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54406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Unless TC^0 = NC^1, this is genuinely beyond what shallow no-CoT computation can do.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§1.1; Li et al. ICLR 2024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Experiments: deliberately close to the theorem setup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1280160"/>
            <a:ext cx="102412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35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774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 vs. S5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simply transitive vs. symmetry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102412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58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1-layer decoder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heads + FFN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926080"/>
            <a:ext cx="102412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81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Adam, lr 1e-4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epochs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3749040"/>
            <a:ext cx="1024128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04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autoregressive CoT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answer steps correct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20240" y="4800600"/>
            <a:ext cx="7772400" cy="777240"/>
          </a:xfrm>
          <a:prstGeom prst="roundRect">
            <a:avLst>
              <a:gd name="adj" fmla="val 16471"/>
            </a:avLst>
          </a:prstGeom>
          <a:solidFill>
            <a:srgbClr val="EEF7F5"/>
          </a:solidFill>
          <a:ln w="10160">
            <a:solidFill>
              <a:srgbClr val="CAE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5010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methodological choice: evaluate after autoregressive rollout, not only teacher-forced accuracy.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§7 Experiments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Experiment 1: the algebraic split appears in accuracy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325880" y="5166360"/>
            <a:ext cx="5806440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463040"/>
            <a:ext cx="0" cy="370332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5166360"/>
            <a:ext cx="580644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5093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25880" y="4240530"/>
            <a:ext cx="580644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16737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25880" y="3314700"/>
            <a:ext cx="580644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32415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5880" y="2388870"/>
            <a:ext cx="580644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31571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25880" y="1463040"/>
            <a:ext cx="5806440" cy="0"/>
          </a:xfrm>
          <a:prstGeom prst="line">
            <a:avLst/>
          </a:prstGeom>
          <a:noFill/>
          <a:ln w="7620">
            <a:solidFill>
              <a:srgbClr val="E6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1389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25880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2395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51685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7490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2898" y="52395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03295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9100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4508" y="52395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54905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80710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6118" y="52395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6515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5166360"/>
            <a:ext cx="0" cy="54864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52395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325880" y="1463040"/>
            <a:ext cx="72580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1685" y="1463040"/>
            <a:ext cx="72580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77490" y="1463040"/>
            <a:ext cx="725805" cy="37033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3295" y="1500073"/>
            <a:ext cx="72580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29100" y="1500073"/>
            <a:ext cx="72580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4905" y="1500073"/>
            <a:ext cx="725805" cy="0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80710" y="1500073"/>
            <a:ext cx="725805" cy="37033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6515" y="1537106"/>
            <a:ext cx="725805" cy="37033"/>
          </a:xfrm>
          <a:prstGeom prst="line">
            <a:avLst/>
          </a:prstGeom>
          <a:noFill/>
          <a:ln w="33020">
            <a:solidFill>
              <a:srgbClr val="0F76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75588" y="1412748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01393" y="1412748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27198" y="1412748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53003" y="1449781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78808" y="1449781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4613" y="1449781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30418" y="1449781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6223" y="1486814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2028" y="1523848"/>
            <a:ext cx="100584" cy="100584"/>
          </a:xfrm>
          <a:prstGeom prst="ellipse">
            <a:avLst/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1463040"/>
            <a:ext cx="725805" cy="37033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51685" y="1500073"/>
            <a:ext cx="725805" cy="629564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77490" y="2129638"/>
            <a:ext cx="725805" cy="999896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03295" y="3129534"/>
            <a:ext cx="725805" cy="703631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29100" y="3833165"/>
            <a:ext cx="725805" cy="592531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54905" y="4425696"/>
            <a:ext cx="725805" cy="259232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80710" y="4684928"/>
            <a:ext cx="725805" cy="148133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6515" y="4833061"/>
            <a:ext cx="725805" cy="74066"/>
          </a:xfrm>
          <a:prstGeom prst="line">
            <a:avLst/>
          </a:prstGeom>
          <a:noFill/>
          <a:ln w="3302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75588" y="1412748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01393" y="1449781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27198" y="2079346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53003" y="3079242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78808" y="3782873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04613" y="4375404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30418" y="4634636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56223" y="4782769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82028" y="4856836"/>
            <a:ext cx="100584" cy="100584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97580" y="53949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2104" y="1417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635240" y="1417320"/>
            <a:ext cx="3429000" cy="347472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73568" y="17373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37576" y="17465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73568" y="24231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8732520" y="2359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near-perfect to L=160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7973568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8732520" y="30906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constant-factor extension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experiment is not the proof. Its value is that it tracks the theorem’s qualitative separation.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Fig. 1a; redraw of paper result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Experiment 2: recursive self-training shifts the whole curve right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437083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437997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L=5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1720" y="4407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88920" y="448056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448056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448056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3075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73989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L=10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767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88920" y="384048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84048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94760" y="384048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84048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84048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84048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384048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84048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84048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384048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090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09981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L=20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3127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788920" y="320040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20040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320040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320040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20040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0" y="320040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320040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20040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320040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320040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" y="24505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245973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L=40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3172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78892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476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9768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0352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0644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2560320"/>
            <a:ext cx="164592" cy="164592"/>
          </a:xfrm>
          <a:prstGeom prst="ellipse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12280" y="256032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2560320"/>
            <a:ext cx="164592" cy="164592"/>
          </a:xfrm>
          <a:prstGeom prst="ellipse">
            <a:avLst/>
          </a:prstGeom>
          <a:solidFill>
            <a:srgbClr val="E0E6EC"/>
          </a:solidFill>
          <a:ln w="8890">
            <a:solidFill>
              <a:srgbClr val="E0E6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→  10  →  20  →  40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537960" y="2331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theorem predicts only one doubling at a time 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the pattern visible in the experiments.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720840" y="3749040"/>
            <a:ext cx="3520440" cy="1234440"/>
          </a:xfrm>
          <a:prstGeom prst="roundRect">
            <a:avLst>
              <a:gd name="adj" fmla="val 10370"/>
            </a:avLst>
          </a:prstGeom>
          <a:solidFill>
            <a:srgbClr val="EEF7F5"/>
          </a:solidFill>
          <a:ln w="10160">
            <a:solidFill>
              <a:srgbClr val="CAE3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405079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several rounds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reaches long lengths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Fig. 1b; §7 self-training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Experiment 3: retrieval is keyed to content, not absolute position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3246120" cy="34747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554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8488" y="15636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order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shuffled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still retrieves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 variable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2971800"/>
            <a:ext cx="100584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40680" y="1234440"/>
            <a:ext cx="507492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554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156362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KEY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variable x_(ℓ+1)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98932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beats absolute location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89320" y="3657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1F3F6"/>
          </a:solidFill>
          <a:ln w="10160">
            <a:solidFill>
              <a:srgbClr val="E0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794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39128" y="3657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1F3F6"/>
          </a:solidFill>
          <a:ln w="10160">
            <a:solidFill>
              <a:srgbClr val="E0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3794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88936" y="3657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1F3F6"/>
          </a:solidFill>
          <a:ln w="10160">
            <a:solidFill>
              <a:srgbClr val="E0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3794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38744" y="3657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AF6F3"/>
          </a:solidFill>
          <a:ln w="10160">
            <a:solidFill>
              <a:srgbClr val="B7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3794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988552" y="3657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1F3F6"/>
          </a:solidFill>
          <a:ln w="10160">
            <a:solidFill>
              <a:srgbClr val="E0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3794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523036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OOL attention plots then expose where S5 loses concentration as position and context length increase.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Fig. 5–6; §7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</a:rPr>
              <a:t>The precise limitation — and the experiment I would use to stress-test the paper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02920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5544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413C"/>
          </a:solidFill>
          <a:ln w="12700">
            <a:solidFill>
              <a:srgbClr val="C24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56362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theorem relies on a highly structured, one-layer, NoPE, block-sparse transformer trained on synthetic LEGO data.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E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it does not establish that a modern LLM’s length generalization follows the same mechanism.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80760" y="123444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6362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CHALLENGE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theorem or experiment that would change the story: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the block-sparsity / NoPE crutches, keep the same task, and ask whether the same concentration threshold still predicts the observed length horizon.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44348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would imply the mechanism is an artifact of the proof model, not a robust transformer principle.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64282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Scope conditions from §§3–8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43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The takeaway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CoT is not only an expressive trick.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 this controlled setting, optimization learns a reusable reasoning primitive —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and the primitive’s retrieval robustness determines how far it generalizes.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3657600"/>
            <a:ext cx="3291840" cy="1417320"/>
          </a:xfrm>
          <a:prstGeom prst="roundRect">
            <a:avLst>
              <a:gd name="adj" fmla="val 9032"/>
            </a:avLst>
          </a:prstGeom>
          <a:solidFill>
            <a:srgbClr val="21364B"/>
          </a:solidFill>
          <a:ln w="10160">
            <a:solidFill>
              <a:srgbClr val="385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886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389534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 discovers retrieve → apply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3657600"/>
            <a:ext cx="3291840" cy="1417320"/>
          </a:xfrm>
          <a:prstGeom prst="roundRect">
            <a:avLst>
              <a:gd name="adj" fmla="val 9032"/>
            </a:avLst>
          </a:prstGeom>
          <a:solidFill>
            <a:srgbClr val="21364B"/>
          </a:solidFill>
          <a:ln w="10160">
            <a:solidFill>
              <a:srgbClr val="385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3886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6B5CC5"/>
          </a:solidFill>
          <a:ln w="12700">
            <a:solidFill>
              <a:srgbClr val="6B5C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389534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4370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algebraic structure sets the horizon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3657600"/>
            <a:ext cx="3291840" cy="1417320"/>
          </a:xfrm>
          <a:prstGeom prst="roundRect">
            <a:avLst>
              <a:gd name="adj" fmla="val 9032"/>
            </a:avLst>
          </a:prstGeom>
          <a:solidFill>
            <a:srgbClr val="21364B"/>
          </a:solidFill>
          <a:ln w="10160">
            <a:solidFill>
              <a:srgbClr val="385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3886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3895344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4370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self-training doubles the horizon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Paper: Huang, Wen, Singh, Chi, Chen — NeurIPS 2025 · arXiv:2511.07378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0624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sentence to remember: the bottleneck is not “reasoning length” by itself — it is whether attention remains concentrated on the right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0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 Provably Learn Chain-of-Thought Reasoning with Length Generalization</dc:title>
  <dc:subject>Transformers Provably Learn Chain-of-Thought Reasoning with Length Generalization</dc:subject>
  <dc:creator>OpenAI</dc:creator>
  <cp:lastModifiedBy>OpenAI</cp:lastModifiedBy>
  <cp:revision>1</cp:revision>
  <dcterms:created xsi:type="dcterms:W3CDTF">2026-10-08T14:23:17Z</dcterms:created>
  <dcterms:modified xsi:type="dcterms:W3CDTF">2026-10-08T14:23:17Z</dcterms:modified>
</cp:coreProperties>
</file>